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7f2d496-fbde-e423-4390-9ed500c7f34a}">
          <p14:sldIdLst>
            <p14:sldId id="256"/>
            <p14:sldId id="257"/>
          </p14:sldIdLst>
        </p14:section>
        <p14:section name="Problem &amp; data" id="{6778a993-20c7-023a-bb13-77cb705f84e3}">
          <p14:sldIdLst>
            <p14:sldId id="258"/>
            <p14:sldId id="259"/>
            <p14:sldId id="260"/>
            <p14:sldId id="261"/>
            <p14:sldId id="262"/>
            <p14:sldId id="263"/>
            <p14:sldId id="264"/>
          </p14:sldIdLst>
        </p14:section>
        <p14:section name="Modelling" id="{57f80505-521c-54f9-28ea-8f7d58073115}">
          <p14:sldIdLst>
            <p14:sldId id="265"/>
            <p14:sldId id="266"/>
          </p14:sldIdLst>
        </p14:section>
        <p14:section name="System &amp; interface" id="{519cc752-c286-ac68-d9b6-92c3e24c06c8}">
          <p14:sldIdLst>
            <p14:sldId id="267"/>
            <p14:sldId id="268"/>
          </p14:sldIdLst>
        </p14:section>
        <p14:section name="Results" id="{c077fa57-677e-140f-bf94-44c45db75298}">
          <p14:sldIdLst>
            <p14:sldId id="269"/>
            <p14:sldId id="270"/>
            <p14:sldId id="271"/>
          </p14:sldIdLst>
        </p14:section>
        <p14:section name="Close" id="{3d4a0e0e-cbe0-c567-0252-4e9efd0df897}">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Road accidents and deaths in 2022, by city</a:t>
            </a:r>
          </a:p>
        </c:rich>
      </c:tx>
      <c:layout/>
      <c:overlay val="0"/>
    </c:title>
    <c:autoTitleDeleted val="0"/>
    <c:plotArea>
      <c:layout/>
      <c:barChart>
        <c:barDir val="col"/>
        <c:grouping val="clustered"/>
        <c:varyColors val="0"/>
        <c:ser>
          <c:idx val="0"/>
          <c:order val="0"/>
          <c:tx>
            <c:strRef>
              <c:f>Sheet1!$B$1</c:f>
              <c:strCache>
                <c:ptCount val="1"/>
                <c:pt idx="0">
                  <c:v>Road accidents</c:v>
                </c:pt>
              </c:strCache>
            </c:strRef>
          </c:tx>
          <c:spPr>
            <a:solidFill>
              <a:srgbClr val="22B8D6"/>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Ahmedabad</c:v>
                  </c:pt>
                  <c:pt idx="1">
                    <c:v>Surat</c:v>
                  </c:pt>
                  <c:pt idx="2">
                    <c:v>Rajkot</c:v>
                  </c:pt>
                  <c:pt idx="3">
                    <c:v>Vadodara</c:v>
                  </c:pt>
                </c:lvl>
              </c:multiLvlStrCache>
            </c:multiLvlStrRef>
          </c:cat>
          <c:val>
            <c:numRef>
              <c:f>Sheet1!$B$2:$B$5</c:f>
              <c:numCache>
                <c:formatCode>General</c:formatCode>
                <c:ptCount val="4"/>
                <c:pt idx="0">
                  <c:v>1711</c:v>
                </c:pt>
                <c:pt idx="1">
                  <c:v>683</c:v>
                </c:pt>
                <c:pt idx="2">
                  <c:v>498</c:v>
                </c:pt>
                <c:pt idx="3">
                  <c:v>478</c:v>
                </c:pt>
              </c:numCache>
            </c:numRef>
          </c:val>
        </c:ser>
        <c:ser>
          <c:idx val="1"/>
          <c:order val="1"/>
          <c:tx>
            <c:strRef>
              <c:f>Sheet1!$C$1</c:f>
              <c:strCache>
                <c:ptCount val="1"/>
                <c:pt idx="0">
                  <c:v>Persons killed</c:v>
                </c:pt>
              </c:strCache>
            </c:strRef>
          </c:tx>
          <c:spPr>
            <a:solidFill>
              <a:srgbClr val="E5484D"/>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Ahmedabad</c:v>
                  </c:pt>
                  <c:pt idx="1">
                    <c:v>Surat</c:v>
                  </c:pt>
                  <c:pt idx="2">
                    <c:v>Rajkot</c:v>
                  </c:pt>
                  <c:pt idx="3">
                    <c:v>Vadodara</c:v>
                  </c:pt>
                </c:lvl>
              </c:multiLvlStrCache>
            </c:multiLvlStrRef>
          </c:cat>
          <c:val>
            <c:numRef>
              <c:f>Sheet1!$C$2:$C$5</c:f>
              <c:numCache>
                <c:formatCode>General</c:formatCode>
                <c:ptCount val="4"/>
                <c:pt idx="0">
                  <c:v>488</c:v>
                </c:pt>
                <c:pt idx="1">
                  <c:v>293</c:v>
                </c:pt>
                <c:pt idx="2">
                  <c:v>150</c:v>
                </c:pt>
                <c:pt idx="3">
                  <c:v>181</c:v>
                </c:pt>
              </c:numCache>
            </c:numRef>
          </c:val>
        </c:ser>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CBD5E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2A365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94A3B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Main travel mode</a:t>
            </a:r>
          </a:p>
        </c:rich>
      </c:tx>
      <c:layout/>
      <c:overlay val="0"/>
    </c:title>
    <c:autoTitleDeleted val="0"/>
    <c:plotArea>
      <c:layout/>
      <c:barChart>
        <c:barDir val="bar"/>
        <c:grouping val="clustered"/>
        <c:varyColors val="0"/>
        <c:ser>
          <c:idx val="0"/>
          <c:order val="0"/>
          <c:tx>
            <c:strRef>
              <c:f>Sheet1!$B$1</c:f>
              <c:strCache>
                <c:ptCount val="1"/>
                <c:pt idx="0">
                  <c:v>Share of respondents (%)</c:v>
                </c:pt>
              </c:strCache>
            </c:strRef>
          </c:tx>
          <c:spPr>
            <a:solidFill>
              <a:srgbClr val="22B8D6"/>
            </a:solidFill>
            <a:effectLst/>
          </c:spPr>
          <c:invertIfNegative val="0"/>
          <c:dLbls>
            <c:numFmt formatCode="0&quot;%&quot;"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BRTS</c:v>
                  </c:pt>
                  <c:pt idx="1">
                    <c:v>Two-wheeler</c:v>
                  </c:pt>
                  <c:pt idx="2">
                    <c:v>Car / taxi</c:v>
                  </c:pt>
                  <c:pt idx="3">
                    <c:v>Auto-rickshaw</c:v>
                  </c:pt>
                </c:lvl>
              </c:multiLvlStrCache>
            </c:multiLvlStrRef>
          </c:cat>
          <c:val>
            <c:numRef>
              <c:f>Sheet1!$B$2:$B$5</c:f>
              <c:numCache>
                <c:formatCode>General</c:formatCode>
                <c:ptCount val="4"/>
                <c:pt idx="0">
                  <c:v>15</c:v>
                </c:pt>
                <c:pt idx="1">
                  <c:v>20</c:v>
                </c:pt>
                <c:pt idx="2">
                  <c:v>25</c:v>
                </c:pt>
                <c:pt idx="3">
                  <c:v>40</c:v>
                </c:pt>
              </c:numCache>
            </c:numRef>
          </c:val>
        </c:ser>
        <c:dLbls>
          <c:numFmt formatCode="0&quot;%&quot;"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CBD5E1"/>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2A365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94A3B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Route usually taken, SVNIT to Surat Railway Station</a:t>
            </a:r>
          </a:p>
        </c:rich>
      </c:tx>
      <c:layout/>
      <c:overlay val="0"/>
    </c:title>
    <c:autoTitleDeleted val="0"/>
    <c:plotArea>
      <c:layout/>
      <c:barChart>
        <c:barDir val="bar"/>
        <c:grouping val="clustered"/>
        <c:varyColors val="0"/>
        <c:ser>
          <c:idx val="0"/>
          <c:order val="0"/>
          <c:tx>
            <c:strRef>
              <c:f>Sheet1!$B$1</c:f>
              <c:strCache>
                <c:ptCount val="1"/>
                <c:pt idx="0">
                  <c:v>Share of respondents (%)</c:v>
                </c:pt>
              </c:strCache>
            </c:strRef>
          </c:tx>
          <c:spPr>
            <a:solidFill>
              <a:srgbClr val="F5B024"/>
            </a:solidFill>
            <a:effectLst/>
          </c:spPr>
          <c:invertIfNegative val="0"/>
          <c:dLbls>
            <c:numFmt formatCode="0&quot;%&quot;"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Route C: VIP Rd / Udhna</c:v>
                  </c:pt>
                  <c:pt idx="1">
                    <c:v>Route B: Athwa / Chowk</c:v>
                  </c:pt>
                  <c:pt idx="2">
                    <c:v>Route A: Dumas / Ring Rd</c:v>
                  </c:pt>
                  <c:pt idx="3">
                    <c:v>Switch using live traffic</c:v>
                  </c:pt>
                </c:lvl>
              </c:multiLvlStrCache>
            </c:multiLvlStrRef>
          </c:cat>
          <c:val>
            <c:numRef>
              <c:f>Sheet1!$B$2:$B$5</c:f>
              <c:numCache>
                <c:formatCode>General</c:formatCode>
                <c:ptCount val="4"/>
                <c:pt idx="0">
                  <c:v>3</c:v>
                </c:pt>
                <c:pt idx="1">
                  <c:v>18</c:v>
                </c:pt>
                <c:pt idx="2">
                  <c:v>34</c:v>
                </c:pt>
                <c:pt idx="3">
                  <c:v>45</c:v>
                </c:pt>
              </c:numCache>
            </c:numRef>
          </c:val>
        </c:ser>
        <c:dLbls>
          <c:numFmt formatCode="0&quot;%&quot;"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CBD5E1"/>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2A365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94A3B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Average risk reduction, safest vs fastest route</a:t>
            </a:r>
          </a:p>
        </c:rich>
      </c:tx>
      <c:layout/>
      <c:overlay val="0"/>
    </c:title>
    <c:autoTitleDeleted val="0"/>
    <c:plotArea>
      <c:layout/>
      <c:barChart>
        <c:barDir val="col"/>
        <c:grouping val="clustered"/>
        <c:varyColors val="0"/>
        <c:ser>
          <c:idx val="0"/>
          <c:order val="0"/>
          <c:tx>
            <c:strRef>
              <c:f>Sheet1!$B$1</c:f>
              <c:strCache>
                <c:ptCount val="1"/>
                <c:pt idx="0">
                  <c:v>9 am</c:v>
                </c:pt>
              </c:strCache>
            </c:strRef>
          </c:tx>
          <c:spPr>
            <a:solidFill>
              <a:srgbClr val="22B8D6"/>
            </a:solidFill>
            <a:effectLst/>
          </c:spPr>
          <c:invertIfNegative val="0"/>
          <c:dLbls>
            <c:numFmt formatCode="0.0&quot;%&quot;"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Ahmedabad</c:v>
                  </c:pt>
                  <c:pt idx="1">
                    <c:v>Surat</c:v>
                  </c:pt>
                  <c:pt idx="2">
                    <c:v>Vadodara</c:v>
                  </c:pt>
                  <c:pt idx="3">
                    <c:v>Rajkot</c:v>
                  </c:pt>
                </c:lvl>
              </c:multiLvlStrCache>
            </c:multiLvlStrRef>
          </c:cat>
          <c:val>
            <c:numRef>
              <c:f>Sheet1!$B$2:$B$5</c:f>
              <c:numCache>
                <c:formatCode>General</c:formatCode>
                <c:ptCount val="4"/>
                <c:pt idx="0">
                  <c:v>25.5</c:v>
                </c:pt>
                <c:pt idx="1">
                  <c:v>23.8</c:v>
                </c:pt>
                <c:pt idx="2">
                  <c:v>24.1</c:v>
                </c:pt>
                <c:pt idx="3">
                  <c:v>25.5</c:v>
                </c:pt>
              </c:numCache>
            </c:numRef>
          </c:val>
        </c:ser>
        <c:ser>
          <c:idx val="1"/>
          <c:order val="1"/>
          <c:tx>
            <c:strRef>
              <c:f>Sheet1!$C$1</c:f>
              <c:strCache>
                <c:ptCount val="1"/>
                <c:pt idx="0">
                  <c:v>10 pm</c:v>
                </c:pt>
              </c:strCache>
            </c:strRef>
          </c:tx>
          <c:spPr>
            <a:solidFill>
              <a:srgbClr val="3987E5"/>
            </a:solidFill>
            <a:effectLst/>
          </c:spPr>
          <c:invertIfNegative val="0"/>
          <c:dLbls>
            <c:numFmt formatCode="0.0&quot;%&quot;"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Sheet1!$A$2:$A$5</c:f>
              <c:multiLvlStrCache>
                <c:ptCount val="4"/>
                <c:lvl>
                  <c:pt idx="0">
                    <c:v>Ahmedabad</c:v>
                  </c:pt>
                  <c:pt idx="1">
                    <c:v>Surat</c:v>
                  </c:pt>
                  <c:pt idx="2">
                    <c:v>Vadodara</c:v>
                  </c:pt>
                  <c:pt idx="3">
                    <c:v>Rajkot</c:v>
                  </c:pt>
                </c:lvl>
              </c:multiLvlStrCache>
            </c:multiLvlStrRef>
          </c:cat>
          <c:val>
            <c:numRef>
              <c:f>Sheet1!$C$2:$C$5</c:f>
              <c:numCache>
                <c:formatCode>General</c:formatCode>
                <c:ptCount val="4"/>
                <c:pt idx="0">
                  <c:v>28.4</c:v>
                </c:pt>
                <c:pt idx="1">
                  <c:v>25.6</c:v>
                </c:pt>
                <c:pt idx="2">
                  <c:v>29.3</c:v>
                </c:pt>
                <c:pt idx="3">
                  <c:v>33.4</c:v>
                </c:pt>
              </c:numCache>
            </c:numRef>
          </c:val>
        </c:ser>
        <c:dLbls>
          <c:numFmt formatCode="0.0&quot;%&quot;"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CBD5E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9525" cap="flat">
              <a:solidFill>
                <a:srgbClr val="2A365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94A3B8"/>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Veer (about 20 seconds)  ·  RUNNING TIME 0:00–0:20
Good morning. We are presenting SafeRoute Gujarat, our mini project under Prof. Arkatkar.
The original proposal had three objectives: safety, AQI and efficiency. AQI and efficiency were taken up by other teams, so our team owns the SAFETY objective. Travel time and distance still appear in our work, but only so that every safe route can be compared fairly with the normal fastest route.
In one line: Google Maps shows you the fastest route. Our system shows that same route next to a safer alternative, and explains exactly why the alternative is safer and what it costs in extra minutes.
The screenshot on the right is our working prototype, not a mock-up. It covers five cities: Surat, Ahmedabad, Gandhinagar, Vadodara and Rajkot.
Over the next 15 minutes each of us will present our own part. I'll first introduce who did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Veer (about 50 seconds)  ·  0:20–1:10
Our professor asked that each member's contribution be clear, so here is the split.
Akshara (Civil) handled the theory: the literature review covering the MoRTH accident reports, the Highway Safety Manual and Indo-HCM. Akshara also collected the crash statistics and the 22 accident blackspots with their sources.
Chinta (Civil) ran the primary data collection: a questionnaire on the SVNIT to Surat Railway Station corridor with 100 responses and its analysis. Chinta also worked out the traffic-flow formulas: BPR travel time and Webster signal delay.
Arnav (CSE) built the modelling and routing core: the model that gives every road and junction a risk value, calibrates it to official crash totals, and the A* search that finds the safest route within a time budget. Arnav also ran the validation.
I (Veer, ECE) built the user interface and part of the backend: the Google Maps-style map, route cards, charts, the API that connects them, and the input checks that keep it robust.
Order: problem, evidence, survey and formulas, then the model, then the system, then results. The timing for each slide is in its notes; the whole talk is about 14.5 minutes plus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Akshara (about 50 seconds)  ·  1:10–2:00
Why safety? These are official figures from the Ministry of Road Transport and Highways, Road Accidents in India 2022.
In 2022, Ahmedabad recorded 1,711 road accidents and 488 deaths. Surat recorded 683 accidents and 293 deaths, Rajkot 498 and 150, Vadodara 478 and 181. Together that is 1,112 deaths in one year in the four cities our system covers.
Severity is very high. In Surat 293 of 683 crashes were fatal, about 43 deaths per 100 crashes, above the national average of about 37.
The second card is about timing. Nationally, 20.4% of crashes happen between 6 and 9 pm, the single worst window. That is why our model changes with the time of day.
The key point: crashes come from factors that can be anticipated and altered, so they are predictable and preventable. Navigation apps already know road class, speed and junction layout, but use them only to minimise time. We use the same information to minimise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Akshara (about 1 minute)  ·  2:00–3:00
Before the data, this slide shows the evidence our design is built on, from our literature review and data collection.
Crashes come from road, environment and traffic factors; the Highway Safety Manual finds roadway factors present in about a third of crashes. These become our road-class crash frequencies, lighting and time-of-day factors, and an exposure term from traffic volume.
Indo-HCM conflict studies show that the main conflict at T-junctions is between right-turning and through vehicles. That is why our router penalises a right turn at 1.6× a straight move and a U-turn at 2.2×.
MoRTH data shows pedestrians, cyclists and two/three-wheelers account for 48% of road deaths. So we have separate two-wheeler and walking modes with their own risk curves.
Crashes cluster at blackspots, which MoRTH defines as 500 m stretches with repeated serious crashes; we use 22 documented ones. From traffic-flow theory, delay rises sharply as volume approaches capacity, which drives our travel times.
Finally, the HSM's crash modification factors and the 5 E's of road safety: our route choice is engineering, and we also show police proximity (enforcement), the nearest hospital (emergency care), and a validation study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Chinta (about 50 seconds)  ·  3:00–3:50
To ground the project in real commuter experience, we ran a questionnaire on one corridor we all know: SVNIT to Surat Railway Station.
We collected 100 responses. 99% are SVNIT students or scholars, 97% are under 30, and the split is 61% male and 39% female. So this represents young campus commuters, not all of Surat, and we say that openly.
Left chart: 40% mainly use auto-rickshaws, 25% cars or cabs, 20% two-wheelers and 15% BRTS. Many of our respondents are passengers or two-wheeler riders, the most vulnerable groups.
Right chart: 45% don't stick to one route, they switch based on live traffic in Google Maps. 34% usually take Route A via Dumas Road and Ring Road, 18% Route B via Athwa Lines and Chowk Bazaar, and 3% Route C via VIP Road and Udhna Darwaja.
So people already let an app choose their route. If the app considered safety, their choices would change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Chinta (about 55 seconds)  ·  3:50–4:45
Four findings shaped the design.
1. 57.9% of 95 respondents would take a route 2 to 3 minutes longer if it were safer, cleaner and less congested. Another 38.9% said it depends on urgency, and very few refused outright. So a safety route is acceptable if the time cost is small. That is why our engine caps the detour and also offers a "balanced" route.
2. The most reported hazard was rash driving or speeding near intersections, 45.1% of 91 answers, then traffic conflicts 23.1% and missing pedestrian crossings 15.4%. Danger concentrates at junctions, so the model scores every junction and every turn, not just road length.
3. Station Approach Road was the most reported congestion point at 31%, then SVNIT Circle / Kargil Chowk at 28% and the Ring Road flyover / Sahara Darwaja stretch at 14%.
4. 67.4% face 5 to 15 minutes of delay, and the most common reason for choosing a route was shortest travel time (32%).
Important caveat: these are reported experiences, not measurements. They guide the design. The objective numbers come from the official data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Akshara (about 50 seconds)  ·  4:45–5:35
Five data sources feed the system, all public and all cited.
1. OpenStreetMap gives the road network: 23,273 km across the four regions, about 2.3 lakh junctions, plus road class, one-ways, signals, police stations and hospitals.
2. OpenStreetMap has almost no street-light data for Gujarat. So we used NASA's VIIRS satellite night-lights, taking the median of eight clear winter nights to remove clouds and moonlight. A bright road at night is probably lit.
3. MoRTH Road Accidents in India 2022 gives each city's total crashes, the time-of-day pattern, and how much more severe crashes on bridges are.
4. Accident blackspots: 22 locations with real crash and death counts, from the Gujarat Road Safety Authority's Ahmedabad audit, the State Traffic Branch festive-season list, and MoRTH's national-highway blackspot annexure. The worst is the Jambuva bridge on NH-48 in Vadodara: 36 crashes and 30 deaths in three years. We could not reliably locate four sites, so we dropped them rather than guess.
5. Our own commuter survey.
Coverage is uneven: Ahmedabad has 15 blackspots, Rajkot only one. That is a limitation of public data, not of the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Akshara  ·  about 1 minute 10 seconds  ·  5:35–6:45
These are the exact formulas the model uses.
1. Severity: Nilsson's power model. Severity is weighted between an injury term with speed squared and a fatal term with speed to the fourth. φ = 0.33 is the fraction of crashes that are fatal in our cities, from MoRTH 2022: Ahmedabad 0.29, Vadodara 0.38, Surat 0.43. The reference speed of 40 km/h is the typical urban posted limit. At 80 km/h total harm is about 8× that at 40 km/h, and fatal crashes alone 16×. So a fast flyover is not automatically better just because it is quicker.
2. Lighting and road features use Highway Safety Manual crash modification factors. Lighting reduces night injury crashes by 28%, so an unlit road at night costs 1/0.72 = 1.39×, scaled by how likely the road is to be lit and how dark it is at that hour. Bridges get 1.25×, which matches MoRTH: bridges have 3.0% of crashes but 4.6% of deaths.
3. Turns: the right-turn conflict documented in Indo-HCM studies. Left 0.75, straight 1.0, right 1.6, U-turn 2.2. Signals reduce junction risk to 0.70 and roundabouts to 0.60.
4. Empirical Bayes at blackspots. The weight w depends on how many crashes the model already predicts there and over how many years of record. A long, bad record like the Jambuva bridge gets ×11.3.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Chinta  ·  about 1 minute  ·  6:45–7:45
The safety formulas tell us how dangerous a road is. These six turn that into travel time and a single score.
1. Travel time uses the BPR curve: free-flow time × (1 + 0.15 (V/C)⁴). V/C comes from the road class and an hourly demand profile, so the same trip is slower at 9 am than at 2 am.
2. Signals add Webster's uniform delay with a 90-second cycle and 45% green. A busy signal costs about 23 seconds.
3. Time-of-day risk is MoRTH's share of crashes in each 3-hour window divided by the share of traffic in that window. Per kilometre driven, midnight to 6 am is about 1.3× riskier, late morning about 0.8×.
4. For walking we use the Rosén and Sander pedestrian fatality curve: 1.5% at 30 km/h, 8% at 50, 18% at 60. Pedestrians are among the most vulnerable road users.
5. Calibration: one constant k scales everything so each city's predicted crashes equal the MoRTH total, 683 for Surat.
6. Finally, the safety score on every route card: 70 means an average road, and higher is safer.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Arnav (about 1 minute)  ·  7:45–8:45
My part: turning the theory and data into numbers a computer can route on.
Step 1: OpenStreetMap roads become a directed graph. Junctions are nodes and road segments are edges, with one edge per direction so one-ways are respected.
Step 2: each edge gets its features: speed limit or class default, road class, a lighting probability from the satellite data, whether it is a bridge or divided, nearby bus stops, and how busy the roadside is.
Step 3: risk per edge is crash frequency × the Nilsson severity term × a time-of-day factor from MoRTH's table, then the lighting and road-feature CMFs shown earlier. Junctions get their own risk depending on number of arms, signal control and which turn you make.
Step 4, calibration: we scale everything so the predicted yearly crashes in each city exactly equal the MoRTH 2022 total, for example 683 for Surat. So the absolute numbers are anchored to reality.
Step 5: at the 22 blackspots, Empirical Bayes raises the risk. Jambuva bridge gets ×11, Odhav Ring Road ×3.1.
Step 6: a route's risk per km becomes a 0 to 100 score where 70 means an average road.
To be precise: this is a calibrated statistical model, not a trained ML model. Training one needs geo-coded crash records, which are not public for Gujarat. That is our main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Arnav (about 1 minute 10 seconds)  ·  8:45–9:55
The cost function. Risk and time have different units, so we divide each by the fastest route's own value. That makes both a percentage of the normal trip. λ is the safety slider in the app: at λ = 0.5, one percent extra time is worth exactly one percent less risk.
Four design points.
1. We search over turns, not just roads. The search state is "which road did I arrive on", so every manoeuvre is costed separately and a right turn across traffic costs more than going straight. Without this, the safest route zig-zags through dozens of residential lanes.
2. It is provably optimal. A*'s heuristic, straight-line distance at maximum speed plus minimum risk per metre, never overestimates, so A* returns the true optimum. We verified it against SciPy's Dijkstra: 48 out of 48 cases matched exactly.
3. Detour cap. The survey said people accept a few minutes, not a long detour. If the safest route is more than 25% slower, we lower λ by bisection until it fits.
4. We compute the trade-off curve (Pareto front) and pick its knee as the Balanced route: the point that removes the most risk per extra minute.
Each query returns Fastest, Balanced and Safest in about a quarter of a second on graphs of up to 2 lakh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Veer (about 50 seconds)  ·  9:55–10:45
How the pieces connect, left to right.
1. Data pipeline: Python scripts that run once. They download OpenStreetMap and satellite data, geocode the blackspots, and build the risk graph for each city in about a minute in total.
2. The output is a set of NumPy files, about 28 MB for all five cities. Once built, nothing live is needed to route. This answers the viva question "what if an API fails?": routing still works.
3. Backend: FastAPI. /route plans the trip, /search finds places (local gazetteer, even acronyms like "svnit"), /reverse names a clicked point, /layers serves blackspots, police and hospitals, /network serves the risk heatmap. Every input is validated: bad coordinates, impossible hours or a city outside our five return a clear error instead of a crash. Per-hour costs are cached so repeat queries are fast.
4. The web interface uses MapLibre for the map and plain JavaScript, with no build step.
Quality: 57 automated tests pass, covering formulas, optimality, API validation and HTTP behaviour. The validation uses 400 simulated trips. All data is open and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Veer (about 1 minute)  ·  10:45–11:45
This is the real interface, planning SVNIT to Surat Railway Station by car at 9 pm.
The goal was a page that feels familiar to anyone who uses Google Maps, but answers a different question.
Left panel: pick a city, then enter start and destination by search, map click, or the locate button. Choose car, two-wheeler or walking. The time slider matters because risk changes with the hour, and at night the lighting factors switch on. The safety-priority slider is λ in the cost function, and you can set a maximum detour.
Results: up to three cards, Safest in blue, Balanced in green, Fastest in orange. Each shows travel time, extra minutes versus the fastest route, percentage lower risk and a 0 to 100 safety score. The selected route is coloured along its length by risk level, so you can see where the dangerous stretch is.
Explainability: the tabs show where the risk comes from, which blackspots the route passes, turn-by-turn directions with risk per step, and a risk-along-route chart. A map layer marks all 22 blackspots, and clicking one shows its crash record and source.
It also has a mobile layout, dark mode and shareable trip links.
(If time allows, switch to the live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Chinta (about 55 seconds)  ·  11:45–12:40
Here the survey and the model meet, on the same corridor our 100 respondents travel.
Planned by car at 9 pm, the fastest route takes 22.5 minutes and scores 66. The Balanced route takes 25 minutes, 2.5 minutes more, scores 76 and has 37% lower modelled risk. The Safest route takes 28 minutes and has 46% lower risk.
Why? The fastest route stays on the high-speed flyover chain: Majura Gate, Udhna Darwaja and the Ring Road flyover, which respondents named as a congestion point. 91% of it is on arterials. The Balanced route leaves that chain and goes through Nanawat Main Road, with only 42% on arterials, so speeds and crash severity are lower.
The link to our data: 57.9% of commuters said they'd accept 2 to 3 extra minutes for a safer route. The Balanced route costs 2.5 minutes. So the trade-off the model offers is one most respondents said they want.
The same pattern holds at 9 am and for two-wheelers, with 40 to 48% lower risk for the safest route.
The next step is field validation: timing these routes ourselves and doing a safety audit, which is in our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Arnav (about 50 seconds)  ·  12:40–13:30
To test the method beyond one corridor we ran a seeded simulation. In each city we picked 25 random origin-destination pairs between 3 and 15 km apart, and planned each one for car and two-wheeler, at 9 am and 10 pm. That is 400 trips with default settings.
Results: on average the safest route had 26.9% lower modelled risk for 3.5 extra minutes, about 13.5% more travel time. Average safety score rose from 70 to 78. Across all trips, passes through documented blackspots fell from 107 to 41.
The chart shows the night effect: in every city the reduction is larger at 10 pm. Rajkot goes from 25.5% by day to 33.4% at night. Darkness and higher night speeds make the difference between routes bigger.
One honest finding we report in the documentation: at night the safety route sometimes carries slightly more poorly lit distance, because the model prefers slower local roads and the satellite lighting data is too coarse to separate neighbouring streets. Municipal streetlight data would fix that.
And the obvious caveat: these are modelled risks. Real validation needs geo-coded crash data, which is our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Akshara (about 40 seconds)  ·  13:30–14:10
We want to be clear about what this work does and does not show.
Limitations. First, the risk numbers are modelled. They are calibrated to official crash totals, but they are not observed crash rates for individual streets. Second, public blackspot data is uneven: Ahmedabad has 15 documented sites, Rajkot only one. Third, the satellite lighting data has about 500 m resolution, so it cannot tell two neighbouring streets apart. Fourth, the survey represents SVNIT commuters. Finally, we route within one city, and AQI belongs to the other team.
Next steps, each with an owner:
- Field validation: time Routes A, B and C in the field and do a road-safety audit of the corridor, so the case study has measured data behind it.
- Data-driven crash model: replace the hand-set crash frequencies with a trained crash-frequency model once geo-coded crash records from MoRTH's iRAD system are available.
- Deployment: host the demo and make it phone-friendly for a pilot with students.
- Finally, we combine our safety objective with the AQI and efficiency teams' work, which was the original multi-objective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Chinta (about 20 seconds)  ·  14:10–14:30, then questions
To summarise: one safety router for five Gujarat cities, built on public data and established traffic-safety formulas. On average it cuts modelled risk by about 27% for 3.5 extra minutes and maps 22 documented blackspots.
Thank you. We're happy to take questions, and we can show the live demo.
LIKELY QUESTIONS (all members):
- "Why not Dijkstra?" Same optimum (verified 48/48). A* is faster with an admissible heuristic, and our version also costs turns.
- "How do you combine risk and time?" Divide each by the fastest route's value, so both are percentages of the normal trip (slide 11).
- "Where is the crash data from?" MoRTH 2022 city totals for calibration, plus 22 sourced blackspots (slide 7).
- "Is this machine learning?" No, it is a calibrated statistical model. ML needs geo-coded crash records; that is a next step.
- "What if a live API fails?" Routing runs fully on prebuilt local graphs.
- "How do you know it's safer?" It is a model-based comparison. Field timing, a road-safety audit and iRAD data are how we would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16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6035040" cy="173736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
        <p:nvSpPr>
          <p:cNvPr id="3" name="Text 0"/>
          <p:cNvSpPr/>
          <p:nvPr>
            <p:ph idx="101" type="body" hasCustomPrompt="1"/>
          </p:nvPr>
        </p:nvSpPr>
        <p:spPr>
          <a:xfrm>
            <a:off x="548640" y="3063240"/>
            <a:ext cx="5669280" cy="8229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E16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rand circle"/>
          <p:cNvSpPr/>
          <p:nvPr/>
        </p:nvSpPr>
        <p:spPr>
          <a:xfrm>
            <a:off x="548640" y="502920"/>
            <a:ext cx="566928" cy="566928"/>
          </a:xfrm>
          <a:prstGeom prst="ellipse">
            <a:avLst/>
          </a:prstGeom>
          <a:solidFill>
            <a:schemeClr val="accent1"/>
          </a:solidFill>
          <a:ln/>
        </p:spPr>
      </p:sp>
      <p:pic>
        <p:nvPicPr>
          <p:cNvPr id="3" name="Brand icon" descr="preencoded.png">    </p:cNvPr>
          <p:cNvPicPr>
            <a:picLocks noChangeAspect="1"/>
          </p:cNvPicPr>
          <p:nvPr/>
        </p:nvPicPr>
        <p:blipFill>
          <a:blip r:embed="rId1"/>
          <a:stretch>
            <a:fillRect/>
          </a:stretch>
        </p:blipFill>
        <p:spPr>
          <a:xfrm>
            <a:off x="690372" y="644652"/>
            <a:ext cx="283464" cy="283464"/>
          </a:xfrm>
          <a:prstGeom prst="rect">
            <a:avLst/>
          </a:prstGeom>
        </p:spPr>
      </p:pic>
      <p:sp>
        <p:nvSpPr>
          <p:cNvPr id="4" name="Institute"/>
          <p:cNvSpPr txBox="1"/>
          <p:nvPr/>
        </p:nvSpPr>
        <p:spPr>
          <a:xfrm>
            <a:off x="1280160" y="502920"/>
            <a:ext cx="4937760" cy="566928"/>
          </a:xfrm>
          <a:prstGeom prst="rect">
            <a:avLst/>
          </a:prstGeom>
          <a:noFill/>
          <a:ln/>
        </p:spPr>
        <p:txBody>
          <a:bodyPr wrap="square" lIns="0" tIns="0" rIns="0" bIns="0" rtlCol="0" anchor="ctr"/>
          <a:lstStyle/>
          <a:p>
            <a:pPr indent="0" marL="0">
              <a:buNone/>
            </a:pPr>
            <a:r>
              <a:rPr lang="en-US" sz="1400" dirty="0">
                <a:solidFill>
                  <a:schemeClr val="bg2"/>
                </a:solidFill>
              </a:rPr>
              <a:t>SVNIT  ·  Department of Civil Engineering</a:t>
            </a:r>
            <a:endParaRPr lang="en-US" sz="1400" dirty="0"/>
          </a:p>
        </p:txBody>
      </p:sp>
      <p:sp>
        <p:nvSpPr>
          <p:cNvPr id="5" name="Text 0"/>
          <p:cNvSpPr/>
          <p:nvPr>
            <p:ph idx="100" type="title" hasCustomPrompt="1"/>
          </p:nvPr>
        </p:nvSpPr>
        <p:spPr>
          <a:xfrm>
            <a:off x="548640" y="1234440"/>
            <a:ext cx="6035040" cy="1737360"/>
          </a:xfrm>
          <a:prstGeom prst="rect">
            <a:avLst/>
          </a:prstGeom>
          <a:noFill/>
          <a:ln/>
        </p:spPr>
        <p:txBody>
          <a:bodyPr wrap="square" lIns="0" tIns="0" rIns="0" bIns="0" rtlCol="0" anchor="t"/>
          <a:lstStyle/>
          <a:p>
            <a:pPr indent="0" marL="0">
              <a:buNone/>
            </a:pPr>
            <a:r>
              <a:rPr lang="en-US" sz="4800" b="1" dirty="0">
                <a:solidFill>
                  <a:schemeClr val="bg1"/>
                </a:solidFill>
              </a:rPr>
              <a:t>SafeRoute </a:t>
            </a:r>
            <a:pPr indent="0" marL="0">
              <a:buNone/>
            </a:pPr>
            <a:r>
              <a:rPr lang="en-US" sz="4800" b="1" dirty="0">
                <a:solidFill>
                  <a:schemeClr val="accent1"/>
                </a:solidFill>
              </a:rPr>
              <a:t>Gujarat</a:t>
            </a:r>
            <a:endParaRPr lang="en-US" sz="4800" dirty="0"/>
          </a:p>
        </p:txBody>
      </p:sp>
      <p:sp>
        <p:nvSpPr>
          <p:cNvPr id="6" name="Text 0"/>
          <p:cNvSpPr/>
          <p:nvPr>
            <p:ph idx="101" type="body" hasCustomPrompt="1"/>
          </p:nvPr>
        </p:nvSpPr>
        <p:spPr>
          <a:xfrm>
            <a:off x="548640" y="3063240"/>
            <a:ext cx="5669280" cy="822960"/>
          </a:xfrm>
          <a:prstGeom prst="rect">
            <a:avLst/>
          </a:prstGeom>
          <a:noFill/>
          <a:ln/>
        </p:spPr>
        <p:txBody>
          <a:bodyPr wrap="square" lIns="0" tIns="0" rIns="0" bIns="0" rtlCol="0" anchor="t"/>
          <a:lstStyle/>
          <a:p>
            <a:pPr indent="0" marL="0">
              <a:buNone/>
            </a:pPr>
            <a:r>
              <a:rPr lang="en-US" sz="1800" dirty="0">
                <a:solidFill>
                  <a:schemeClr val="bg2"/>
                </a:solidFill>
              </a:rPr>
              <a:t>Safety-oriented route optimisation for Surat, Ahmedabad, Gandhinagar, Vadodara and Rajkot</a:t>
            </a:r>
            <a:endParaRPr lang="en-US" sz="1800" dirty="0"/>
          </a:p>
        </p:txBody>
      </p:sp>
      <p:sp>
        <p:nvSpPr>
          <p:cNvPr id="7" name="Team label"/>
          <p:cNvSpPr txBox="1"/>
          <p:nvPr/>
        </p:nvSpPr>
        <p:spPr>
          <a:xfrm>
            <a:off x="548640" y="4206240"/>
            <a:ext cx="2743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TEAM</a:t>
            </a:r>
            <a:endParaRPr lang="en-US" sz="1200" dirty="0"/>
          </a:p>
        </p:txBody>
      </p:sp>
      <p:sp>
        <p:nvSpPr>
          <p:cNvPr id="8" name="Team member 1"/>
          <p:cNvSpPr txBox="1"/>
          <p:nvPr/>
        </p:nvSpPr>
        <p:spPr>
          <a:xfrm>
            <a:off x="548640" y="4572000"/>
            <a:ext cx="2834640" cy="594360"/>
          </a:xfrm>
          <a:prstGeom prst="rect">
            <a:avLst/>
          </a:prstGeom>
          <a:noFill/>
          <a:ln/>
        </p:spPr>
        <p:txBody>
          <a:bodyPr wrap="square" lIns="0" tIns="0" rIns="0" bIns="0" rtlCol="0" anchor="t"/>
          <a:lstStyle/>
          <a:p>
            <a:pPr indent="0" marL="0">
              <a:buNone/>
            </a:pPr>
            <a:r>
              <a:rPr lang="en-US" sz="1500" b="1" dirty="0">
                <a:solidFill>
                  <a:schemeClr val="bg1"/>
                </a:solidFill>
              </a:rPr>
              <a:t>Chinta Lakshya</a:t>
            </a:r>
            <a:endParaRPr lang="en-US" sz="1500" dirty="0"/>
          </a:p>
          <a:p>
            <a:pPr indent="0" marL="0">
              <a:buNone/>
            </a:pPr>
            <a:r>
              <a:rPr lang="en-US" sz="1200" dirty="0">
                <a:solidFill>
                  <a:schemeClr val="bg2"/>
                </a:solidFill>
              </a:rPr>
              <a:t>Civil  ·  Survey &amp; data collection</a:t>
            </a:r>
            <a:endParaRPr lang="en-US" sz="1500" dirty="0"/>
          </a:p>
        </p:txBody>
      </p:sp>
      <p:sp>
        <p:nvSpPr>
          <p:cNvPr id="9" name="Team member 2"/>
          <p:cNvSpPr txBox="1"/>
          <p:nvPr/>
        </p:nvSpPr>
        <p:spPr>
          <a:xfrm>
            <a:off x="3474720" y="4572000"/>
            <a:ext cx="2834640" cy="594360"/>
          </a:xfrm>
          <a:prstGeom prst="rect">
            <a:avLst/>
          </a:prstGeom>
          <a:noFill/>
          <a:ln/>
        </p:spPr>
        <p:txBody>
          <a:bodyPr wrap="square" lIns="0" tIns="0" rIns="0" bIns="0" rtlCol="0" anchor="t"/>
          <a:lstStyle/>
          <a:p>
            <a:pPr indent="0" marL="0">
              <a:buNone/>
            </a:pPr>
            <a:r>
              <a:rPr lang="en-US" sz="1500" b="1" dirty="0">
                <a:solidFill>
                  <a:schemeClr val="bg1"/>
                </a:solidFill>
              </a:rPr>
              <a:t>Damerla Akshara</a:t>
            </a:r>
            <a:endParaRPr lang="en-US" sz="1500" dirty="0"/>
          </a:p>
          <a:p>
            <a:pPr indent="0" marL="0">
              <a:buNone/>
            </a:pPr>
            <a:r>
              <a:rPr lang="en-US" sz="1200" dirty="0">
                <a:solidFill>
                  <a:schemeClr val="bg2"/>
                </a:solidFill>
              </a:rPr>
              <a:t>Civil  ·  Theory &amp; data sources</a:t>
            </a:r>
            <a:endParaRPr lang="en-US" sz="1500" dirty="0"/>
          </a:p>
        </p:txBody>
      </p:sp>
      <p:sp>
        <p:nvSpPr>
          <p:cNvPr id="10" name="Team member 3"/>
          <p:cNvSpPr txBox="1"/>
          <p:nvPr/>
        </p:nvSpPr>
        <p:spPr>
          <a:xfrm>
            <a:off x="548640" y="5230368"/>
            <a:ext cx="2834640" cy="594360"/>
          </a:xfrm>
          <a:prstGeom prst="rect">
            <a:avLst/>
          </a:prstGeom>
          <a:noFill/>
          <a:ln/>
        </p:spPr>
        <p:txBody>
          <a:bodyPr wrap="square" lIns="0" tIns="0" rIns="0" bIns="0" rtlCol="0" anchor="t"/>
          <a:lstStyle/>
          <a:p>
            <a:pPr indent="0" marL="0">
              <a:buNone/>
            </a:pPr>
            <a:r>
              <a:rPr lang="en-US" sz="1500" b="1" dirty="0">
                <a:solidFill>
                  <a:schemeClr val="bg1"/>
                </a:solidFill>
              </a:rPr>
              <a:t>Arnav Balodi</a:t>
            </a:r>
            <a:endParaRPr lang="en-US" sz="1500" dirty="0"/>
          </a:p>
          <a:p>
            <a:pPr indent="0" marL="0">
              <a:buNone/>
            </a:pPr>
            <a:r>
              <a:rPr lang="en-US" sz="1200" dirty="0">
                <a:solidFill>
                  <a:schemeClr val="bg2"/>
                </a:solidFill>
              </a:rPr>
              <a:t>CSE  ·  Risk modelling &amp; routing</a:t>
            </a:r>
            <a:endParaRPr lang="en-US" sz="1500" dirty="0"/>
          </a:p>
        </p:txBody>
      </p:sp>
      <p:sp>
        <p:nvSpPr>
          <p:cNvPr id="11" name="Team member 4"/>
          <p:cNvSpPr txBox="1"/>
          <p:nvPr/>
        </p:nvSpPr>
        <p:spPr>
          <a:xfrm>
            <a:off x="3474720" y="5230368"/>
            <a:ext cx="2834640" cy="594360"/>
          </a:xfrm>
          <a:prstGeom prst="rect">
            <a:avLst/>
          </a:prstGeom>
          <a:noFill/>
          <a:ln/>
        </p:spPr>
        <p:txBody>
          <a:bodyPr wrap="square" lIns="0" tIns="0" rIns="0" bIns="0" rtlCol="0" anchor="t"/>
          <a:lstStyle/>
          <a:p>
            <a:pPr indent="0" marL="0">
              <a:buNone/>
            </a:pPr>
            <a:r>
              <a:rPr lang="en-US" sz="1500" b="1" dirty="0">
                <a:solidFill>
                  <a:schemeClr val="bg1"/>
                </a:solidFill>
              </a:rPr>
              <a:t>Veer Kishan Whabi</a:t>
            </a:r>
            <a:endParaRPr lang="en-US" sz="1500" dirty="0"/>
          </a:p>
          <a:p>
            <a:pPr indent="0" marL="0">
              <a:buNone/>
            </a:pPr>
            <a:r>
              <a:rPr lang="en-US" sz="1200" dirty="0">
                <a:solidFill>
                  <a:schemeClr val="bg2"/>
                </a:solidFill>
              </a:rPr>
              <a:t>ECE  ·  UI/UX &amp; backend</a:t>
            </a:r>
            <a:endParaRPr lang="en-US" sz="1500" dirty="0"/>
          </a:p>
        </p:txBody>
      </p:sp>
      <p:sp>
        <p:nvSpPr>
          <p:cNvPr id="12" name="Supervisor"/>
          <p:cNvSpPr txBox="1"/>
          <p:nvPr/>
        </p:nvSpPr>
        <p:spPr>
          <a:xfrm>
            <a:off x="548640" y="5989320"/>
            <a:ext cx="5486400" cy="320040"/>
          </a:xfrm>
          <a:prstGeom prst="rect">
            <a:avLst/>
          </a:prstGeom>
          <a:noFill/>
          <a:ln/>
        </p:spPr>
        <p:txBody>
          <a:bodyPr wrap="square" lIns="0" tIns="0" rIns="0" bIns="0" rtlCol="0" anchor="ctr"/>
          <a:lstStyle/>
          <a:p>
            <a:pPr indent="0" marL="0">
              <a:buNone/>
            </a:pPr>
            <a:r>
              <a:rPr lang="en-US" sz="1400" b="1" dirty="0">
                <a:solidFill>
                  <a:schemeClr val="accent1"/>
                </a:solidFill>
              </a:rPr>
              <a:t>Supervisor  </a:t>
            </a:r>
            <a:pPr indent="0" marL="0">
              <a:buNone/>
            </a:pPr>
            <a:r>
              <a:rPr lang="en-US" sz="1400" dirty="0">
                <a:solidFill>
                  <a:schemeClr val="bg1"/>
                </a:solidFill>
              </a:rPr>
              <a:t>Prof. Shriniwas Arkatkar</a:t>
            </a:r>
            <a:endParaRPr lang="en-US" sz="1400" dirty="0"/>
          </a:p>
        </p:txBody>
      </p:sp>
      <p:pic>
        <p:nvPicPr>
          <p:cNvPr id="13" name="App screenshot" descr="C:\Users\Arnav\AppData\Local\Temp\claude\c--Users-Arnav-Desktop-Route-Optimization---Safety-\5f9f9559-a1a4-4c99-88e6-31b7de64909c\scratchpad\deck\img\app_analysis.png">    </p:cNvPr>
          <p:cNvPicPr>
            <a:picLocks noChangeAspect="1"/>
          </p:cNvPicPr>
          <p:nvPr/>
        </p:nvPicPr>
        <p:blipFill>
          <a:blip r:embed="rId2"/>
          <a:stretch>
            <a:fillRect/>
          </a:stretch>
        </p:blipFill>
        <p:spPr>
          <a:xfrm>
            <a:off x="6629400" y="1234440"/>
            <a:ext cx="5029200" cy="2829154"/>
          </a:xfrm>
          <a:prstGeom prst="rect">
            <a:avLst/>
          </a:prstGeom>
          <a:effectLst>
            <a:outerShdw sx="100000" sy="100000" kx="0" ky="0" algn="bl" rotWithShape="0" blurRad="152400" dist="50800" dir="5400000">
              <a:srgbClr val="000000">
                <a:alpha val="45000"/>
              </a:srgbClr>
            </a:outerShdw>
          </a:effectLst>
        </p:spPr>
      </p:pic>
      <p:sp>
        <p:nvSpPr>
          <p:cNvPr id="14" name="Screenshot caption"/>
          <p:cNvSpPr txBox="1"/>
          <p:nvPr/>
        </p:nvSpPr>
        <p:spPr>
          <a:xfrm>
            <a:off x="6629400" y="4160520"/>
            <a:ext cx="5029200" cy="320040"/>
          </a:xfrm>
          <a:prstGeom prst="rect">
            <a:avLst/>
          </a:prstGeom>
          <a:noFill/>
          <a:ln/>
        </p:spPr>
        <p:txBody>
          <a:bodyPr wrap="square" lIns="0" tIns="0" rIns="0" bIns="0" rtlCol="0" anchor="ctr"/>
          <a:lstStyle/>
          <a:p>
            <a:pPr indent="0" marL="0">
              <a:buNone/>
            </a:pPr>
            <a:r>
              <a:rPr lang="en-US" sz="1200" i="1" dirty="0">
                <a:solidFill>
                  <a:schemeClr val="bg2"/>
                </a:solidFill>
              </a:rPr>
              <a:t>Our working prototype: fastest vs. safety route, Surat at 9 pm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Team contributions</a:t>
            </a:r>
            <a:endParaRPr lang="en-US" sz="3200" dirty="0"/>
          </a:p>
        </p:txBody>
      </p:sp>
      <p:sp>
        <p:nvSpPr>
          <p:cNvPr id="3" name="Member card 1"/>
          <p:cNvSpPr/>
          <p:nvPr/>
        </p:nvSpPr>
        <p:spPr>
          <a:xfrm>
            <a:off x="548640" y="1417320"/>
            <a:ext cx="2560320" cy="4434840"/>
          </a:xfrm>
          <a:prstGeom prst="roundRect">
            <a:avLst>
              <a:gd name="adj" fmla="val 4286"/>
            </a:avLst>
          </a:prstGeom>
          <a:solidFill>
            <a:schemeClr val="tx2"/>
          </a:solidFill>
          <a:ln/>
        </p:spPr>
      </p:sp>
      <p:sp>
        <p:nvSpPr>
          <p:cNvPr id="4" name="Member 1 circle"/>
          <p:cNvSpPr/>
          <p:nvPr/>
        </p:nvSpPr>
        <p:spPr>
          <a:xfrm>
            <a:off x="822960" y="1691640"/>
            <a:ext cx="685800" cy="685800"/>
          </a:xfrm>
          <a:prstGeom prst="ellipse">
            <a:avLst/>
          </a:prstGeom>
          <a:solidFill>
            <a:schemeClr val="accent5"/>
          </a:solidFill>
          <a:ln/>
        </p:spPr>
      </p:sp>
      <p:pic>
        <p:nvPicPr>
          <p:cNvPr id="5" name="Member 1 icon" descr="preencoded.png">    </p:cNvPr>
          <p:cNvPicPr>
            <a:picLocks noChangeAspect="1"/>
          </p:cNvPicPr>
          <p:nvPr/>
        </p:nvPicPr>
        <p:blipFill>
          <a:blip r:embed="rId1"/>
          <a:stretch>
            <a:fillRect/>
          </a:stretch>
        </p:blipFill>
        <p:spPr>
          <a:xfrm>
            <a:off x="994410" y="1863090"/>
            <a:ext cx="342900" cy="342900"/>
          </a:xfrm>
          <a:prstGeom prst="rect">
            <a:avLst/>
          </a:prstGeom>
        </p:spPr>
      </p:pic>
      <p:sp>
        <p:nvSpPr>
          <p:cNvPr id="6" name="Member name 1"/>
          <p:cNvSpPr txBox="1"/>
          <p:nvPr/>
        </p:nvSpPr>
        <p:spPr>
          <a:xfrm>
            <a:off x="822960" y="2514600"/>
            <a:ext cx="2103120" cy="384048"/>
          </a:xfrm>
          <a:prstGeom prst="rect">
            <a:avLst/>
          </a:prstGeom>
          <a:noFill/>
          <a:ln/>
        </p:spPr>
        <p:txBody>
          <a:bodyPr wrap="square" lIns="0" tIns="0" rIns="0" bIns="0" rtlCol="0" anchor="ctr"/>
          <a:lstStyle/>
          <a:p>
            <a:pPr indent="0" marL="0">
              <a:buNone/>
            </a:pPr>
            <a:r>
              <a:rPr lang="en-US" sz="1600" b="1" dirty="0">
                <a:solidFill>
                  <a:schemeClr val="bg1"/>
                </a:solidFill>
              </a:rPr>
              <a:t>Damerla Akshara</a:t>
            </a:r>
            <a:endParaRPr lang="en-US" sz="1600" dirty="0"/>
          </a:p>
        </p:txBody>
      </p:sp>
      <p:sp>
        <p:nvSpPr>
          <p:cNvPr id="7" name="Member role 1"/>
          <p:cNvSpPr txBox="1"/>
          <p:nvPr/>
        </p:nvSpPr>
        <p:spPr>
          <a:xfrm>
            <a:off x="822960" y="2880360"/>
            <a:ext cx="2103120" cy="548640"/>
          </a:xfrm>
          <a:prstGeom prst="rect">
            <a:avLst/>
          </a:prstGeom>
          <a:noFill/>
          <a:ln/>
        </p:spPr>
        <p:txBody>
          <a:bodyPr wrap="square" lIns="0" tIns="0" rIns="0" bIns="0" rtlCol="0" anchor="ctr"/>
          <a:lstStyle/>
          <a:p>
            <a:pPr indent="0" marL="0">
              <a:buNone/>
            </a:pPr>
            <a:r>
              <a:rPr lang="en-US" sz="1300" b="1" dirty="0">
                <a:solidFill>
                  <a:schemeClr val="bg2"/>
                </a:solidFill>
              </a:rPr>
              <a:t>Civil</a:t>
            </a:r>
            <a:endParaRPr lang="en-US" sz="1300" dirty="0"/>
          </a:p>
          <a:p>
            <a:pPr indent="0" marL="0">
              <a:buNone/>
            </a:pPr>
            <a:r>
              <a:rPr lang="en-US" sz="1300" b="1" dirty="0">
                <a:solidFill>
                  <a:schemeClr val="accent1"/>
                </a:solidFill>
              </a:rPr>
              <a:t>Theory &amp; data sources</a:t>
            </a:r>
            <a:endParaRPr lang="en-US" sz="1300" dirty="0"/>
          </a:p>
        </p:txBody>
      </p:sp>
      <p:sp>
        <p:nvSpPr>
          <p:cNvPr id="8" name="Member work 1"/>
          <p:cNvSpPr txBox="1"/>
          <p:nvPr/>
        </p:nvSpPr>
        <p:spPr>
          <a:xfrm>
            <a:off x="822960" y="3566160"/>
            <a:ext cx="2148840" cy="20116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bg2"/>
                </a:solidFill>
              </a:rPr>
              <a:t>Literature review: HSM, Indo-HCM</a:t>
            </a:r>
            <a:endParaRPr lang="en-US" sz="1300" dirty="0"/>
          </a:p>
          <a:p>
            <a:pPr marL="342900" indent="-342900">
              <a:spcAft>
                <a:spcPts val="500"/>
              </a:spcAft>
              <a:buSzPct val="100000"/>
              <a:buChar char="•"/>
            </a:pPr>
            <a:r>
              <a:rPr lang="en-US" sz="1300" dirty="0">
                <a:solidFill>
                  <a:schemeClr val="bg2"/>
                </a:solidFill>
              </a:rPr>
              <a:t>Collected crash statistics &amp; 22 blackspots</a:t>
            </a:r>
            <a:endParaRPr lang="en-US" sz="1300" dirty="0"/>
          </a:p>
          <a:p>
            <a:pPr marL="342900" indent="-342900">
              <a:spcAft>
                <a:spcPts val="500"/>
              </a:spcAft>
              <a:buSzPct val="100000"/>
              <a:buChar char="•"/>
            </a:pPr>
            <a:r>
              <a:rPr lang="en-US" sz="1300" dirty="0">
                <a:solidFill>
                  <a:schemeClr val="bg2"/>
                </a:solidFill>
              </a:rPr>
              <a:t>Safety factors used in the model</a:t>
            </a:r>
            <a:endParaRPr lang="en-US" sz="1300" dirty="0"/>
          </a:p>
        </p:txBody>
      </p:sp>
      <p:sp>
        <p:nvSpPr>
          <p:cNvPr id="9" name="Member card 2"/>
          <p:cNvSpPr/>
          <p:nvPr/>
        </p:nvSpPr>
        <p:spPr>
          <a:xfrm>
            <a:off x="3392424" y="1417320"/>
            <a:ext cx="2560320" cy="4434840"/>
          </a:xfrm>
          <a:prstGeom prst="roundRect">
            <a:avLst>
              <a:gd name="adj" fmla="val 4286"/>
            </a:avLst>
          </a:prstGeom>
          <a:solidFill>
            <a:schemeClr val="tx2"/>
          </a:solidFill>
          <a:ln/>
        </p:spPr>
      </p:sp>
      <p:sp>
        <p:nvSpPr>
          <p:cNvPr id="10" name="Member 2 circle"/>
          <p:cNvSpPr/>
          <p:nvPr/>
        </p:nvSpPr>
        <p:spPr>
          <a:xfrm>
            <a:off x="3666744" y="1691640"/>
            <a:ext cx="685800" cy="685800"/>
          </a:xfrm>
          <a:prstGeom prst="ellipse">
            <a:avLst/>
          </a:prstGeom>
          <a:solidFill>
            <a:schemeClr val="accent4"/>
          </a:solidFill>
          <a:ln/>
        </p:spPr>
      </p:sp>
      <p:pic>
        <p:nvPicPr>
          <p:cNvPr id="11" name="Member 2 icon" descr="preencoded.png">    </p:cNvPr>
          <p:cNvPicPr>
            <a:picLocks noChangeAspect="1"/>
          </p:cNvPicPr>
          <p:nvPr/>
        </p:nvPicPr>
        <p:blipFill>
          <a:blip r:embed="rId2"/>
          <a:stretch>
            <a:fillRect/>
          </a:stretch>
        </p:blipFill>
        <p:spPr>
          <a:xfrm>
            <a:off x="3838194" y="1863090"/>
            <a:ext cx="342900" cy="342900"/>
          </a:xfrm>
          <a:prstGeom prst="rect">
            <a:avLst/>
          </a:prstGeom>
        </p:spPr>
      </p:pic>
      <p:sp>
        <p:nvSpPr>
          <p:cNvPr id="12" name="Member name 2"/>
          <p:cNvSpPr txBox="1"/>
          <p:nvPr/>
        </p:nvSpPr>
        <p:spPr>
          <a:xfrm>
            <a:off x="3666744" y="2514600"/>
            <a:ext cx="2103120" cy="384048"/>
          </a:xfrm>
          <a:prstGeom prst="rect">
            <a:avLst/>
          </a:prstGeom>
          <a:noFill/>
          <a:ln/>
        </p:spPr>
        <p:txBody>
          <a:bodyPr wrap="square" lIns="0" tIns="0" rIns="0" bIns="0" rtlCol="0" anchor="ctr"/>
          <a:lstStyle/>
          <a:p>
            <a:pPr indent="0" marL="0">
              <a:buNone/>
            </a:pPr>
            <a:r>
              <a:rPr lang="en-US" sz="1600" b="1" dirty="0">
                <a:solidFill>
                  <a:schemeClr val="bg1"/>
                </a:solidFill>
              </a:rPr>
              <a:t>Chinta Lakshya</a:t>
            </a:r>
            <a:endParaRPr lang="en-US" sz="1600" dirty="0"/>
          </a:p>
        </p:txBody>
      </p:sp>
      <p:sp>
        <p:nvSpPr>
          <p:cNvPr id="13" name="Member role 2"/>
          <p:cNvSpPr txBox="1"/>
          <p:nvPr/>
        </p:nvSpPr>
        <p:spPr>
          <a:xfrm>
            <a:off x="3666744" y="2880360"/>
            <a:ext cx="2103120" cy="548640"/>
          </a:xfrm>
          <a:prstGeom prst="rect">
            <a:avLst/>
          </a:prstGeom>
          <a:noFill/>
          <a:ln/>
        </p:spPr>
        <p:txBody>
          <a:bodyPr wrap="square" lIns="0" tIns="0" rIns="0" bIns="0" rtlCol="0" anchor="ctr"/>
          <a:lstStyle/>
          <a:p>
            <a:pPr indent="0" marL="0">
              <a:buNone/>
            </a:pPr>
            <a:r>
              <a:rPr lang="en-US" sz="1300" b="1" dirty="0">
                <a:solidFill>
                  <a:schemeClr val="bg2"/>
                </a:solidFill>
              </a:rPr>
              <a:t>Civil</a:t>
            </a:r>
            <a:endParaRPr lang="en-US" sz="1300" dirty="0"/>
          </a:p>
          <a:p>
            <a:pPr indent="0" marL="0">
              <a:buNone/>
            </a:pPr>
            <a:r>
              <a:rPr lang="en-US" sz="1300" b="1" dirty="0">
                <a:solidFill>
                  <a:schemeClr val="accent1"/>
                </a:solidFill>
              </a:rPr>
              <a:t>Survey &amp; field data</a:t>
            </a:r>
            <a:endParaRPr lang="en-US" sz="1300" dirty="0"/>
          </a:p>
        </p:txBody>
      </p:sp>
      <p:sp>
        <p:nvSpPr>
          <p:cNvPr id="14" name="Member work 2"/>
          <p:cNvSpPr txBox="1"/>
          <p:nvPr/>
        </p:nvSpPr>
        <p:spPr>
          <a:xfrm>
            <a:off x="3666744" y="3566160"/>
            <a:ext cx="2148840" cy="20116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bg2"/>
                </a:solidFill>
              </a:rPr>
              <a:t>Designed and ran the commuter survey</a:t>
            </a:r>
            <a:endParaRPr lang="en-US" sz="1300" dirty="0"/>
          </a:p>
          <a:p>
            <a:pPr marL="342900" indent="-342900">
              <a:spcAft>
                <a:spcPts val="500"/>
              </a:spcAft>
              <a:buSzPct val="100000"/>
              <a:buChar char="•"/>
            </a:pPr>
            <a:r>
              <a:rPr lang="en-US" sz="1300" dirty="0">
                <a:solidFill>
                  <a:schemeClr val="bg2"/>
                </a:solidFill>
              </a:rPr>
              <a:t>100 responses, SVNIT–Station corridor</a:t>
            </a:r>
            <a:endParaRPr lang="en-US" sz="1300" dirty="0"/>
          </a:p>
          <a:p>
            <a:pPr marL="342900" indent="-342900">
              <a:spcAft>
                <a:spcPts val="500"/>
              </a:spcAft>
              <a:buSzPct val="100000"/>
              <a:buChar char="•"/>
            </a:pPr>
            <a:r>
              <a:rPr lang="en-US" sz="1300" dirty="0">
                <a:solidFill>
                  <a:schemeClr val="bg2"/>
                </a:solidFill>
              </a:rPr>
              <a:t>Traffic-flow formulas: BPR, Webster</a:t>
            </a:r>
            <a:endParaRPr lang="en-US" sz="1300" dirty="0"/>
          </a:p>
        </p:txBody>
      </p:sp>
      <p:sp>
        <p:nvSpPr>
          <p:cNvPr id="15" name="Member card 3"/>
          <p:cNvSpPr/>
          <p:nvPr/>
        </p:nvSpPr>
        <p:spPr>
          <a:xfrm>
            <a:off x="6236208" y="1417320"/>
            <a:ext cx="2560320" cy="4434840"/>
          </a:xfrm>
          <a:prstGeom prst="roundRect">
            <a:avLst>
              <a:gd name="adj" fmla="val 4286"/>
            </a:avLst>
          </a:prstGeom>
          <a:solidFill>
            <a:schemeClr val="tx2"/>
          </a:solidFill>
          <a:ln/>
        </p:spPr>
      </p:sp>
      <p:sp>
        <p:nvSpPr>
          <p:cNvPr id="16" name="Member 3 circle"/>
          <p:cNvSpPr/>
          <p:nvPr/>
        </p:nvSpPr>
        <p:spPr>
          <a:xfrm>
            <a:off x="6510528" y="1691640"/>
            <a:ext cx="685800" cy="685800"/>
          </a:xfrm>
          <a:prstGeom prst="ellipse">
            <a:avLst/>
          </a:prstGeom>
          <a:solidFill>
            <a:schemeClr val="accent2"/>
          </a:solidFill>
          <a:ln/>
        </p:spPr>
      </p:sp>
      <p:pic>
        <p:nvPicPr>
          <p:cNvPr id="17" name="Member 3 icon" descr="preencoded.png">    </p:cNvPr>
          <p:cNvPicPr>
            <a:picLocks noChangeAspect="1"/>
          </p:cNvPicPr>
          <p:nvPr/>
        </p:nvPicPr>
        <p:blipFill>
          <a:blip r:embed="rId3"/>
          <a:stretch>
            <a:fillRect/>
          </a:stretch>
        </p:blipFill>
        <p:spPr>
          <a:xfrm>
            <a:off x="6681978" y="1863090"/>
            <a:ext cx="342900" cy="342900"/>
          </a:xfrm>
          <a:prstGeom prst="rect">
            <a:avLst/>
          </a:prstGeom>
        </p:spPr>
      </p:pic>
      <p:sp>
        <p:nvSpPr>
          <p:cNvPr id="18" name="Member name 3"/>
          <p:cNvSpPr txBox="1"/>
          <p:nvPr/>
        </p:nvSpPr>
        <p:spPr>
          <a:xfrm>
            <a:off x="6510528" y="2514600"/>
            <a:ext cx="2103120" cy="384048"/>
          </a:xfrm>
          <a:prstGeom prst="rect">
            <a:avLst/>
          </a:prstGeom>
          <a:noFill/>
          <a:ln/>
        </p:spPr>
        <p:txBody>
          <a:bodyPr wrap="square" lIns="0" tIns="0" rIns="0" bIns="0" rtlCol="0" anchor="ctr"/>
          <a:lstStyle/>
          <a:p>
            <a:pPr indent="0" marL="0">
              <a:buNone/>
            </a:pPr>
            <a:r>
              <a:rPr lang="en-US" sz="1600" b="1" dirty="0">
                <a:solidFill>
                  <a:schemeClr val="bg1"/>
                </a:solidFill>
              </a:rPr>
              <a:t>Arnav Balodi</a:t>
            </a:r>
            <a:endParaRPr lang="en-US" sz="1600" dirty="0"/>
          </a:p>
        </p:txBody>
      </p:sp>
      <p:sp>
        <p:nvSpPr>
          <p:cNvPr id="19" name="Member role 3"/>
          <p:cNvSpPr txBox="1"/>
          <p:nvPr/>
        </p:nvSpPr>
        <p:spPr>
          <a:xfrm>
            <a:off x="6510528" y="2880360"/>
            <a:ext cx="2103120" cy="548640"/>
          </a:xfrm>
          <a:prstGeom prst="rect">
            <a:avLst/>
          </a:prstGeom>
          <a:noFill/>
          <a:ln/>
        </p:spPr>
        <p:txBody>
          <a:bodyPr wrap="square" lIns="0" tIns="0" rIns="0" bIns="0" rtlCol="0" anchor="ctr"/>
          <a:lstStyle/>
          <a:p>
            <a:pPr indent="0" marL="0">
              <a:buNone/>
            </a:pPr>
            <a:r>
              <a:rPr lang="en-US" sz="1300" b="1" dirty="0">
                <a:solidFill>
                  <a:schemeClr val="bg2"/>
                </a:solidFill>
              </a:rPr>
              <a:t>CSE</a:t>
            </a:r>
            <a:endParaRPr lang="en-US" sz="1300" dirty="0"/>
          </a:p>
          <a:p>
            <a:pPr indent="0" marL="0">
              <a:buNone/>
            </a:pPr>
            <a:r>
              <a:rPr lang="en-US" sz="1300" b="1" dirty="0">
                <a:solidFill>
                  <a:schemeClr val="accent1"/>
                </a:solidFill>
              </a:rPr>
              <a:t>Risk modelling &amp; routing</a:t>
            </a:r>
            <a:endParaRPr lang="en-US" sz="1300" dirty="0"/>
          </a:p>
        </p:txBody>
      </p:sp>
      <p:sp>
        <p:nvSpPr>
          <p:cNvPr id="20" name="Member work 3"/>
          <p:cNvSpPr txBox="1"/>
          <p:nvPr/>
        </p:nvSpPr>
        <p:spPr>
          <a:xfrm>
            <a:off x="6510528" y="3566160"/>
            <a:ext cx="2148840" cy="20116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bg2"/>
                </a:solidFill>
              </a:rPr>
              <a:t>Road-network risk model &amp; calibration</a:t>
            </a:r>
            <a:endParaRPr lang="en-US" sz="1300" dirty="0"/>
          </a:p>
          <a:p>
            <a:pPr marL="342900" indent="-342900">
              <a:spcAft>
                <a:spcPts val="500"/>
              </a:spcAft>
              <a:buSzPct val="100000"/>
              <a:buChar char="•"/>
            </a:pPr>
            <a:r>
              <a:rPr lang="en-US" sz="1300" dirty="0">
                <a:solidFill>
                  <a:schemeClr val="bg2"/>
                </a:solidFill>
              </a:rPr>
              <a:t>Turn-aware A* routing engine</a:t>
            </a:r>
            <a:endParaRPr lang="en-US" sz="1300" dirty="0"/>
          </a:p>
          <a:p>
            <a:pPr marL="342900" indent="-342900">
              <a:spcAft>
                <a:spcPts val="500"/>
              </a:spcAft>
              <a:buSzPct val="100000"/>
              <a:buChar char="•"/>
            </a:pPr>
            <a:r>
              <a:rPr lang="en-US" sz="1300" dirty="0">
                <a:solidFill>
                  <a:schemeClr val="bg2"/>
                </a:solidFill>
              </a:rPr>
              <a:t>Validation on 400 simulated trips</a:t>
            </a:r>
            <a:endParaRPr lang="en-US" sz="1300" dirty="0"/>
          </a:p>
        </p:txBody>
      </p:sp>
      <p:sp>
        <p:nvSpPr>
          <p:cNvPr id="21" name="Member card 4"/>
          <p:cNvSpPr/>
          <p:nvPr/>
        </p:nvSpPr>
        <p:spPr>
          <a:xfrm>
            <a:off x="9079992" y="1417320"/>
            <a:ext cx="2560320" cy="4434840"/>
          </a:xfrm>
          <a:prstGeom prst="roundRect">
            <a:avLst>
              <a:gd name="adj" fmla="val 4286"/>
            </a:avLst>
          </a:prstGeom>
          <a:solidFill>
            <a:schemeClr val="tx2"/>
          </a:solidFill>
          <a:ln/>
        </p:spPr>
      </p:sp>
      <p:sp>
        <p:nvSpPr>
          <p:cNvPr id="22" name="Member 4 circle"/>
          <p:cNvSpPr/>
          <p:nvPr/>
        </p:nvSpPr>
        <p:spPr>
          <a:xfrm>
            <a:off x="9354312" y="1691640"/>
            <a:ext cx="685800" cy="685800"/>
          </a:xfrm>
          <a:prstGeom prst="ellipse">
            <a:avLst/>
          </a:prstGeom>
          <a:solidFill>
            <a:schemeClr val="accent3"/>
          </a:solidFill>
          <a:ln/>
        </p:spPr>
      </p:sp>
      <p:pic>
        <p:nvPicPr>
          <p:cNvPr id="23" name="Member 4 icon" descr="preencoded.png">    </p:cNvPr>
          <p:cNvPicPr>
            <a:picLocks noChangeAspect="1"/>
          </p:cNvPicPr>
          <p:nvPr/>
        </p:nvPicPr>
        <p:blipFill>
          <a:blip r:embed="rId4"/>
          <a:stretch>
            <a:fillRect/>
          </a:stretch>
        </p:blipFill>
        <p:spPr>
          <a:xfrm>
            <a:off x="9525762" y="1863090"/>
            <a:ext cx="342900" cy="342900"/>
          </a:xfrm>
          <a:prstGeom prst="rect">
            <a:avLst/>
          </a:prstGeom>
        </p:spPr>
      </p:pic>
      <p:sp>
        <p:nvSpPr>
          <p:cNvPr id="24" name="Member name 4"/>
          <p:cNvSpPr txBox="1"/>
          <p:nvPr/>
        </p:nvSpPr>
        <p:spPr>
          <a:xfrm>
            <a:off x="9354312" y="2514600"/>
            <a:ext cx="2103120" cy="384048"/>
          </a:xfrm>
          <a:prstGeom prst="rect">
            <a:avLst/>
          </a:prstGeom>
          <a:noFill/>
          <a:ln/>
        </p:spPr>
        <p:txBody>
          <a:bodyPr wrap="square" lIns="0" tIns="0" rIns="0" bIns="0" rtlCol="0" anchor="ctr"/>
          <a:lstStyle/>
          <a:p>
            <a:pPr indent="0" marL="0">
              <a:buNone/>
            </a:pPr>
            <a:r>
              <a:rPr lang="en-US" sz="1600" b="1" dirty="0">
                <a:solidFill>
                  <a:schemeClr val="bg1"/>
                </a:solidFill>
              </a:rPr>
              <a:t>Veer Kishan Whabi</a:t>
            </a:r>
            <a:endParaRPr lang="en-US" sz="1600" dirty="0"/>
          </a:p>
        </p:txBody>
      </p:sp>
      <p:sp>
        <p:nvSpPr>
          <p:cNvPr id="25" name="Member role 4"/>
          <p:cNvSpPr txBox="1"/>
          <p:nvPr/>
        </p:nvSpPr>
        <p:spPr>
          <a:xfrm>
            <a:off x="9354312" y="2880360"/>
            <a:ext cx="2103120" cy="548640"/>
          </a:xfrm>
          <a:prstGeom prst="rect">
            <a:avLst/>
          </a:prstGeom>
          <a:noFill/>
          <a:ln/>
        </p:spPr>
        <p:txBody>
          <a:bodyPr wrap="square" lIns="0" tIns="0" rIns="0" bIns="0" rtlCol="0" anchor="ctr"/>
          <a:lstStyle/>
          <a:p>
            <a:pPr indent="0" marL="0">
              <a:buNone/>
            </a:pPr>
            <a:r>
              <a:rPr lang="en-US" sz="1300" b="1" dirty="0">
                <a:solidFill>
                  <a:schemeClr val="bg2"/>
                </a:solidFill>
              </a:rPr>
              <a:t>ECE</a:t>
            </a:r>
            <a:endParaRPr lang="en-US" sz="1300" dirty="0"/>
          </a:p>
          <a:p>
            <a:pPr indent="0" marL="0">
              <a:buNone/>
            </a:pPr>
            <a:r>
              <a:rPr lang="en-US" sz="1300" b="1" dirty="0">
                <a:solidFill>
                  <a:schemeClr val="accent1"/>
                </a:solidFill>
              </a:rPr>
              <a:t>UI/UX &amp; backend</a:t>
            </a:r>
            <a:endParaRPr lang="en-US" sz="1300" dirty="0"/>
          </a:p>
        </p:txBody>
      </p:sp>
      <p:sp>
        <p:nvSpPr>
          <p:cNvPr id="26" name="Member work 4"/>
          <p:cNvSpPr txBox="1"/>
          <p:nvPr/>
        </p:nvSpPr>
        <p:spPr>
          <a:xfrm>
            <a:off x="9354312" y="3566160"/>
            <a:ext cx="2148840" cy="20116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bg2"/>
                </a:solidFill>
              </a:rPr>
              <a:t>Map interface &amp; route comparison</a:t>
            </a:r>
            <a:endParaRPr lang="en-US" sz="1300" dirty="0"/>
          </a:p>
          <a:p>
            <a:pPr marL="342900" indent="-342900">
              <a:spcAft>
                <a:spcPts val="500"/>
              </a:spcAft>
              <a:buSzPct val="100000"/>
              <a:buChar char="•"/>
            </a:pPr>
            <a:r>
              <a:rPr lang="en-US" sz="1300" dirty="0">
                <a:solidFill>
                  <a:schemeClr val="bg2"/>
                </a:solidFill>
              </a:rPr>
              <a:t>API layer &amp; input validation</a:t>
            </a:r>
            <a:endParaRPr lang="en-US" sz="1300" dirty="0"/>
          </a:p>
          <a:p>
            <a:pPr marL="342900" indent="-342900">
              <a:spcAft>
                <a:spcPts val="500"/>
              </a:spcAft>
              <a:buSzPct val="100000"/>
              <a:buChar char="•"/>
            </a:pPr>
            <a:r>
              <a:rPr lang="en-US" sz="1300" dirty="0">
                <a:solidFill>
                  <a:schemeClr val="bg2"/>
                </a:solidFill>
              </a:rPr>
              <a:t>Charts, dark mode, mobile layout</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Why a safety-first route</a:t>
            </a:r>
            <a:endParaRPr lang="en-US" sz="3200" dirty="0"/>
          </a:p>
        </p:txBody>
      </p:sp>
      <p:sp>
        <p:nvSpPr>
          <p:cNvPr id="3" name="Chart card"/>
          <p:cNvSpPr/>
          <p:nvPr/>
        </p:nvSpPr>
        <p:spPr>
          <a:xfrm>
            <a:off x="548640" y="1417320"/>
            <a:ext cx="6766560" cy="4434840"/>
          </a:xfrm>
          <a:prstGeom prst="roundRect">
            <a:avLst>
              <a:gd name="adj" fmla="val 2474"/>
            </a:avLst>
          </a:prstGeom>
          <a:solidFill>
            <a:schemeClr val="tx2"/>
          </a:solidFill>
          <a:ln/>
        </p:spPr>
      </p:sp>
      <p:graphicFrame>
        <p:nvGraphicFramePr>
          <p:cNvPr id="4" name="City crash chart" descr=""/>
          <p:cNvGraphicFramePr/>
          <p:nvPr/>
        </p:nvGraphicFramePr>
        <p:xfrm>
          <a:off x="731520" y="1554480"/>
          <a:ext cx="6400800" cy="4160520"/>
        </p:xfrm>
        <a:graphic xmlns:a="http://schemas.openxmlformats.org/drawingml/2006/main">
          <a:graphicData uri="http://schemas.openxmlformats.org/drawingml/2006/chart">
            <c:chart xmlns:c="http://schemas.openxmlformats.org/drawingml/2006/chart" r:id="rId1"/>
          </a:graphicData>
        </a:graphic>
      </p:graphicFrame>
      <p:sp>
        <p:nvSpPr>
          <p:cNvPr id="5" name="Stat card 1"/>
          <p:cNvSpPr/>
          <p:nvPr/>
        </p:nvSpPr>
        <p:spPr>
          <a:xfrm>
            <a:off x="7589520" y="1417320"/>
            <a:ext cx="4050792" cy="1325880"/>
          </a:xfrm>
          <a:prstGeom prst="roundRect">
            <a:avLst>
              <a:gd name="adj" fmla="val 8276"/>
            </a:avLst>
          </a:prstGeom>
          <a:solidFill>
            <a:schemeClr val="tx2"/>
          </a:solidFill>
          <a:ln/>
        </p:spPr>
      </p:sp>
      <p:sp>
        <p:nvSpPr>
          <p:cNvPr id="6" name="Stat 1 circle"/>
          <p:cNvSpPr/>
          <p:nvPr/>
        </p:nvSpPr>
        <p:spPr>
          <a:xfrm>
            <a:off x="7772400" y="1764792"/>
            <a:ext cx="621792" cy="621792"/>
          </a:xfrm>
          <a:prstGeom prst="ellipse">
            <a:avLst/>
          </a:prstGeom>
          <a:solidFill>
            <a:schemeClr val="accent6"/>
          </a:solidFill>
          <a:ln/>
        </p:spPr>
      </p:sp>
      <p:pic>
        <p:nvPicPr>
          <p:cNvPr id="7" name="Stat 1 icon" descr="preencoded.png">    </p:cNvPr>
          <p:cNvPicPr>
            <a:picLocks noChangeAspect="1"/>
          </p:cNvPicPr>
          <p:nvPr/>
        </p:nvPicPr>
        <p:blipFill>
          <a:blip r:embed="rId2"/>
          <a:stretch>
            <a:fillRect/>
          </a:stretch>
        </p:blipFill>
        <p:spPr>
          <a:xfrm>
            <a:off x="7927848" y="1920240"/>
            <a:ext cx="310896" cy="310896"/>
          </a:xfrm>
          <a:prstGeom prst="rect">
            <a:avLst/>
          </a:prstGeom>
        </p:spPr>
      </p:pic>
      <p:sp>
        <p:nvSpPr>
          <p:cNvPr id="8" name="Stat value 1"/>
          <p:cNvSpPr txBox="1"/>
          <p:nvPr/>
        </p:nvSpPr>
        <p:spPr>
          <a:xfrm>
            <a:off x="8549640" y="1527048"/>
            <a:ext cx="2926080" cy="548640"/>
          </a:xfrm>
          <a:prstGeom prst="rect">
            <a:avLst/>
          </a:prstGeom>
          <a:noFill/>
          <a:ln/>
        </p:spPr>
        <p:txBody>
          <a:bodyPr wrap="square" lIns="0" tIns="0" rIns="0" bIns="0" rtlCol="0" anchor="ctr"/>
          <a:lstStyle/>
          <a:p>
            <a:pPr indent="0" marL="0">
              <a:buNone/>
            </a:pPr>
            <a:r>
              <a:rPr lang="en-US" sz="3000" b="1" dirty="0">
                <a:solidFill>
                  <a:schemeClr val="bg1"/>
                </a:solidFill>
              </a:rPr>
              <a:t>1,112</a:t>
            </a:r>
            <a:endParaRPr lang="en-US" sz="3000" dirty="0"/>
          </a:p>
        </p:txBody>
      </p:sp>
      <p:sp>
        <p:nvSpPr>
          <p:cNvPr id="9" name="Stat label 1"/>
          <p:cNvSpPr txBox="1"/>
          <p:nvPr/>
        </p:nvSpPr>
        <p:spPr>
          <a:xfrm>
            <a:off x="8549640" y="2057400"/>
            <a:ext cx="2971800" cy="594360"/>
          </a:xfrm>
          <a:prstGeom prst="rect">
            <a:avLst/>
          </a:prstGeom>
          <a:noFill/>
          <a:ln/>
        </p:spPr>
        <p:txBody>
          <a:bodyPr wrap="square" lIns="0" tIns="0" rIns="0" bIns="0" rtlCol="0" anchor="t"/>
          <a:lstStyle/>
          <a:p>
            <a:pPr indent="0" marL="0">
              <a:buNone/>
            </a:pPr>
            <a:r>
              <a:rPr lang="en-US" sz="1300" dirty="0">
                <a:solidFill>
                  <a:schemeClr val="bg2"/>
                </a:solidFill>
              </a:rPr>
              <a:t>people killed on roads in these four cities in a single year</a:t>
            </a:r>
            <a:endParaRPr lang="en-US" sz="1300" dirty="0"/>
          </a:p>
        </p:txBody>
      </p:sp>
      <p:sp>
        <p:nvSpPr>
          <p:cNvPr id="10" name="Stat card 2"/>
          <p:cNvSpPr/>
          <p:nvPr/>
        </p:nvSpPr>
        <p:spPr>
          <a:xfrm>
            <a:off x="7589520" y="2926080"/>
            <a:ext cx="4050792" cy="1325880"/>
          </a:xfrm>
          <a:prstGeom prst="roundRect">
            <a:avLst>
              <a:gd name="adj" fmla="val 8276"/>
            </a:avLst>
          </a:prstGeom>
          <a:solidFill>
            <a:schemeClr val="tx2"/>
          </a:solidFill>
          <a:ln/>
        </p:spPr>
      </p:sp>
      <p:sp>
        <p:nvSpPr>
          <p:cNvPr id="11" name="Stat 2 circle"/>
          <p:cNvSpPr/>
          <p:nvPr/>
        </p:nvSpPr>
        <p:spPr>
          <a:xfrm>
            <a:off x="7772400" y="3273552"/>
            <a:ext cx="621792" cy="621792"/>
          </a:xfrm>
          <a:prstGeom prst="ellipse">
            <a:avLst/>
          </a:prstGeom>
          <a:solidFill>
            <a:schemeClr val="accent5"/>
          </a:solidFill>
          <a:ln/>
        </p:spPr>
      </p:sp>
      <p:pic>
        <p:nvPicPr>
          <p:cNvPr id="12" name="Stat 2 icon" descr="preencoded.png">    </p:cNvPr>
          <p:cNvPicPr>
            <a:picLocks noChangeAspect="1"/>
          </p:cNvPicPr>
          <p:nvPr/>
        </p:nvPicPr>
        <p:blipFill>
          <a:blip r:embed="rId3"/>
          <a:stretch>
            <a:fillRect/>
          </a:stretch>
        </p:blipFill>
        <p:spPr>
          <a:xfrm>
            <a:off x="7927848" y="3429000"/>
            <a:ext cx="310896" cy="310896"/>
          </a:xfrm>
          <a:prstGeom prst="rect">
            <a:avLst/>
          </a:prstGeom>
        </p:spPr>
      </p:pic>
      <p:sp>
        <p:nvSpPr>
          <p:cNvPr id="13" name="Stat value 2"/>
          <p:cNvSpPr txBox="1"/>
          <p:nvPr/>
        </p:nvSpPr>
        <p:spPr>
          <a:xfrm>
            <a:off x="8549640" y="3035808"/>
            <a:ext cx="2926080" cy="548640"/>
          </a:xfrm>
          <a:prstGeom prst="rect">
            <a:avLst/>
          </a:prstGeom>
          <a:noFill/>
          <a:ln/>
        </p:spPr>
        <p:txBody>
          <a:bodyPr wrap="square" lIns="0" tIns="0" rIns="0" bIns="0" rtlCol="0" anchor="ctr"/>
          <a:lstStyle/>
          <a:p>
            <a:pPr indent="0" marL="0">
              <a:buNone/>
            </a:pPr>
            <a:r>
              <a:rPr lang="en-US" sz="3000" b="1" dirty="0">
                <a:solidFill>
                  <a:schemeClr val="bg1"/>
                </a:solidFill>
              </a:rPr>
              <a:t>20.4%</a:t>
            </a:r>
            <a:endParaRPr lang="en-US" sz="3000" dirty="0"/>
          </a:p>
        </p:txBody>
      </p:sp>
      <p:sp>
        <p:nvSpPr>
          <p:cNvPr id="14" name="Stat label 2"/>
          <p:cNvSpPr txBox="1"/>
          <p:nvPr/>
        </p:nvSpPr>
        <p:spPr>
          <a:xfrm>
            <a:off x="8549640" y="3566160"/>
            <a:ext cx="2971800" cy="594360"/>
          </a:xfrm>
          <a:prstGeom prst="rect">
            <a:avLst/>
          </a:prstGeom>
          <a:noFill/>
          <a:ln/>
        </p:spPr>
        <p:txBody>
          <a:bodyPr wrap="square" lIns="0" tIns="0" rIns="0" bIns="0" rtlCol="0" anchor="t"/>
          <a:lstStyle/>
          <a:p>
            <a:pPr indent="0" marL="0">
              <a:buNone/>
            </a:pPr>
            <a:r>
              <a:rPr lang="en-US" sz="1300" dirty="0">
                <a:solidFill>
                  <a:schemeClr val="bg2"/>
                </a:solidFill>
              </a:rPr>
              <a:t>of India's crashes happen between 6 and 9 pm, the busiest crash window</a:t>
            </a:r>
            <a:endParaRPr lang="en-US" sz="1300" dirty="0"/>
          </a:p>
        </p:txBody>
      </p:sp>
      <p:sp>
        <p:nvSpPr>
          <p:cNvPr id="15" name="Stat card 3"/>
          <p:cNvSpPr/>
          <p:nvPr/>
        </p:nvSpPr>
        <p:spPr>
          <a:xfrm>
            <a:off x="7589520" y="4434840"/>
            <a:ext cx="4050792" cy="1325880"/>
          </a:xfrm>
          <a:prstGeom prst="roundRect">
            <a:avLst>
              <a:gd name="adj" fmla="val 8276"/>
            </a:avLst>
          </a:prstGeom>
          <a:solidFill>
            <a:schemeClr val="tx2"/>
          </a:solidFill>
          <a:ln/>
        </p:spPr>
      </p:sp>
      <p:sp>
        <p:nvSpPr>
          <p:cNvPr id="16" name="Stat 3 circle"/>
          <p:cNvSpPr/>
          <p:nvPr/>
        </p:nvSpPr>
        <p:spPr>
          <a:xfrm>
            <a:off x="7772400" y="4782312"/>
            <a:ext cx="621792" cy="621792"/>
          </a:xfrm>
          <a:prstGeom prst="ellipse">
            <a:avLst/>
          </a:prstGeom>
          <a:solidFill>
            <a:schemeClr val="accent1"/>
          </a:solidFill>
          <a:ln/>
        </p:spPr>
      </p:sp>
      <p:pic>
        <p:nvPicPr>
          <p:cNvPr id="17" name="Stat 3 icon" descr="preencoded.png">    </p:cNvPr>
          <p:cNvPicPr>
            <a:picLocks noChangeAspect="1"/>
          </p:cNvPicPr>
          <p:nvPr/>
        </p:nvPicPr>
        <p:blipFill>
          <a:blip r:embed="rId4"/>
          <a:stretch>
            <a:fillRect/>
          </a:stretch>
        </p:blipFill>
        <p:spPr>
          <a:xfrm>
            <a:off x="7927848" y="4937760"/>
            <a:ext cx="310896" cy="310896"/>
          </a:xfrm>
          <a:prstGeom prst="rect">
            <a:avLst/>
          </a:prstGeom>
        </p:spPr>
      </p:pic>
      <p:sp>
        <p:nvSpPr>
          <p:cNvPr id="18" name="Stat value 3"/>
          <p:cNvSpPr txBox="1"/>
          <p:nvPr/>
        </p:nvSpPr>
        <p:spPr>
          <a:xfrm>
            <a:off x="8549640" y="4544568"/>
            <a:ext cx="2926080" cy="548640"/>
          </a:xfrm>
          <a:prstGeom prst="rect">
            <a:avLst/>
          </a:prstGeom>
          <a:noFill/>
          <a:ln/>
        </p:spPr>
        <p:txBody>
          <a:bodyPr wrap="square" lIns="0" tIns="0" rIns="0" bIns="0" rtlCol="0" anchor="ctr"/>
          <a:lstStyle/>
          <a:p>
            <a:pPr indent="0" marL="0">
              <a:buNone/>
            </a:pPr>
            <a:r>
              <a:rPr lang="en-US" sz="3000" b="1" dirty="0">
                <a:solidFill>
                  <a:schemeClr val="bg1"/>
                </a:solidFill>
              </a:rPr>
              <a:t>0</a:t>
            </a:r>
            <a:endParaRPr lang="en-US" sz="3000" dirty="0"/>
          </a:p>
        </p:txBody>
      </p:sp>
      <p:sp>
        <p:nvSpPr>
          <p:cNvPr id="19" name="Stat label 3"/>
          <p:cNvSpPr txBox="1"/>
          <p:nvPr/>
        </p:nvSpPr>
        <p:spPr>
          <a:xfrm>
            <a:off x="8549640" y="5074920"/>
            <a:ext cx="2971800" cy="594360"/>
          </a:xfrm>
          <a:prstGeom prst="rect">
            <a:avLst/>
          </a:prstGeom>
          <a:noFill/>
          <a:ln/>
        </p:spPr>
        <p:txBody>
          <a:bodyPr wrap="square" lIns="0" tIns="0" rIns="0" bIns="0" rtlCol="0" anchor="t"/>
          <a:lstStyle/>
          <a:p>
            <a:pPr indent="0" marL="0">
              <a:buNone/>
            </a:pPr>
            <a:r>
              <a:rPr lang="en-US" sz="1300" dirty="0">
                <a:solidFill>
                  <a:schemeClr val="bg2"/>
                </a:solidFill>
              </a:rPr>
              <a:t>mainstream navigation apps that rank routes by safety</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What the evidence says about road risk</a:t>
            </a:r>
            <a:endParaRPr lang="en-US" sz="3200" dirty="0"/>
          </a:p>
        </p:txBody>
      </p:sp>
      <p:graphicFrame>
        <p:nvGraphicFramePr>
          <p:cNvPr id="5" name="Finding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5120640"/>
                <a:gridCol w="5971032"/>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24304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How we used it in the model</a:t>
                      </a:r>
                      <a:endParaRPr lang="en-US" sz="14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243049"/>
                    </a:solidFill>
                  </a:tcPr>
                </a:tc>
              </a:tr>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Crashes come from road, environment and traffic factors</a:t>
                      </a:r>
                      <a:endParaRPr lang="en-US" sz="1300" dirty="0">
                        <a:latin typeface="Calibri" charset="0"/>
                        <a:ea typeface="Calibri" charset="0"/>
                        <a:cs typeface="Calibri" charset="0"/>
                      </a:endParaRPr>
                    </a:p>
                    <a:p>
                      <a:pPr indent="0" marL="0">
                        <a:buNone/>
                      </a:pPr>
                      <a:r>
                        <a:rPr lang="en-US" sz="1100" dirty="0">
                          <a:solidFill>
                            <a:srgbClr val="22B8D6"/>
                          </a:solidFill>
                          <a:latin typeface="Calibri" pitchFamily="34" charset="0"/>
                          <a:ea typeface="Calibri" pitchFamily="34" charset="-122"/>
                          <a:cs typeface="Calibri" pitchFamily="34" charset="-120"/>
                        </a:rPr>
                        <a:t>AASHTO Highway Safety Manual</a:t>
                      </a:r>
                      <a:endParaRPr lang="en-US" sz="13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Road class &amp; speed, lighting &amp; hour, traffic exposure (AADT) set each road's risk</a:t>
                      </a:r>
                      <a:endParaRPr lang="en-US" sz="13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Right-turn vs through-traffic conflicts dominate at T-junctions</a:t>
                      </a:r>
                      <a:endParaRPr lang="en-US" sz="1300" dirty="0">
                        <a:latin typeface="Calibri" charset="0"/>
                        <a:ea typeface="Calibri" charset="0"/>
                        <a:cs typeface="Calibri" charset="0"/>
                      </a:endParaRPr>
                    </a:p>
                    <a:p>
                      <a:pPr indent="0" marL="0">
                        <a:buNone/>
                      </a:pPr>
                      <a:r>
                        <a:rPr lang="en-US" sz="1100" dirty="0">
                          <a:solidFill>
                            <a:srgbClr val="22B8D6"/>
                          </a:solidFill>
                          <a:latin typeface="Calibri" pitchFamily="34" charset="0"/>
                          <a:ea typeface="Calibri" pitchFamily="34" charset="-122"/>
                          <a:cs typeface="Calibri" pitchFamily="34" charset="-120"/>
                        </a:rPr>
                        <a:t>Indo-HCM (2017) conflict studies</a:t>
                      </a:r>
                      <a:endParaRPr lang="en-US" sz="13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A right turn across traffic costs 1.6× a straight move; U-turn 2.2×</a:t>
                      </a:r>
                      <a:endParaRPr lang="en-US" sz="13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Vulnerable road users: 48% of road deaths</a:t>
                      </a:r>
                      <a:endParaRPr lang="en-US" sz="1300" dirty="0">
                        <a:latin typeface="Calibri" charset="0"/>
                        <a:ea typeface="Calibri" charset="0"/>
                        <a:cs typeface="Calibri" charset="0"/>
                      </a:endParaRPr>
                    </a:p>
                    <a:p>
                      <a:pPr indent="0" marL="0">
                        <a:buNone/>
                      </a:pPr>
                      <a:r>
                        <a:rPr lang="en-US" sz="1100" dirty="0">
                          <a:solidFill>
                            <a:srgbClr val="22B8D6"/>
                          </a:solidFill>
                          <a:latin typeface="Calibri" pitchFamily="34" charset="0"/>
                          <a:ea typeface="Calibri" pitchFamily="34" charset="-122"/>
                          <a:cs typeface="Calibri" pitchFamily="34" charset="-120"/>
                        </a:rPr>
                        <a:t>MoRTH</a:t>
                      </a:r>
                      <a:endParaRPr lang="en-US" sz="13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Separate two-wheeler and pedestrian risk profiles</a:t>
                      </a:r>
                      <a:endParaRPr lang="en-US" sz="13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Crashes cluster at blackspots</a:t>
                      </a:r>
                      <a:endParaRPr lang="en-US" sz="1300" dirty="0">
                        <a:latin typeface="Calibri" charset="0"/>
                        <a:ea typeface="Calibri" charset="0"/>
                        <a:cs typeface="Calibri" charset="0"/>
                      </a:endParaRPr>
                    </a:p>
                    <a:p>
                      <a:pPr indent="0" marL="0">
                        <a:buNone/>
                      </a:pPr>
                      <a:r>
                        <a:rPr lang="en-US" sz="1100" dirty="0">
                          <a:solidFill>
                            <a:srgbClr val="22B8D6"/>
                          </a:solidFill>
                          <a:latin typeface="Calibri" pitchFamily="34" charset="0"/>
                          <a:ea typeface="Calibri" pitchFamily="34" charset="-122"/>
                          <a:cs typeface="Calibri" pitchFamily="34" charset="-120"/>
                        </a:rPr>
                        <a:t>MoRTH 500 m definition; GRSA audits</a:t>
                      </a:r>
                      <a:endParaRPr lang="en-US" sz="13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22 blackspots, Empirical Bayes weighting</a:t>
                      </a:r>
                      <a:endParaRPr lang="en-US" sz="13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Delay rises sharply as V/C approaches 1</a:t>
                      </a:r>
                      <a:endParaRPr lang="en-US" sz="1300" dirty="0">
                        <a:latin typeface="Calibri" charset="0"/>
                        <a:ea typeface="Calibri" charset="0"/>
                        <a:cs typeface="Calibri" charset="0"/>
                      </a:endParaRPr>
                    </a:p>
                    <a:p>
                      <a:pPr indent="0" marL="0">
                        <a:buNone/>
                      </a:pPr>
                      <a:r>
                        <a:rPr lang="en-US" sz="1100" dirty="0">
                          <a:solidFill>
                            <a:srgbClr val="22B8D6"/>
                          </a:solidFill>
                          <a:latin typeface="Calibri" pitchFamily="34" charset="0"/>
                          <a:ea typeface="Calibri" pitchFamily="34" charset="-122"/>
                          <a:cs typeface="Calibri" pitchFamily="34" charset="-120"/>
                        </a:rPr>
                        <a:t>Traffic-flow theory: BPR, Webster</a:t>
                      </a:r>
                      <a:endParaRPr lang="en-US" sz="13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Travel time rises with hourly V/C; signal delay at junctions</a:t>
                      </a:r>
                      <a:endParaRPr lang="en-US" sz="13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Road features change crash rates</a:t>
                      </a:r>
                      <a:endParaRPr lang="en-US" sz="1300" dirty="0">
                        <a:latin typeface="Calibri" charset="0"/>
                        <a:ea typeface="Calibri" charset="0"/>
                        <a:cs typeface="Calibri" charset="0"/>
                      </a:endParaRPr>
                    </a:p>
                    <a:p>
                      <a:pPr indent="0" marL="0">
                        <a:buNone/>
                      </a:pPr>
                      <a:r>
                        <a:rPr lang="en-US" sz="1100" dirty="0">
                          <a:solidFill>
                            <a:srgbClr val="22B8D6"/>
                          </a:solidFill>
                          <a:latin typeface="Calibri" pitchFamily="34" charset="0"/>
                          <a:ea typeface="Calibri" pitchFamily="34" charset="-122"/>
                          <a:cs typeface="Calibri" pitchFamily="34" charset="-120"/>
                        </a:rPr>
                        <a:t>HSM crash modification factors</a:t>
                      </a:r>
                      <a:endParaRPr lang="en-US" sz="13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Factors for lighting, bridges, medians and surface</a:t>
                      </a:r>
                      <a:endParaRPr lang="en-US" sz="13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5 E's: Engineering, Enforcement, Emergency, Evaluation</a:t>
                      </a:r>
                      <a:endParaRPr lang="en-US" sz="1300" dirty="0">
                        <a:latin typeface="Calibri" charset="0"/>
                        <a:ea typeface="Calibri" charset="0"/>
                        <a:cs typeface="Calibri" charset="0"/>
                      </a:endParaRPr>
                    </a:p>
                    <a:p>
                      <a:pPr indent="0" marL="0">
                        <a:buNone/>
                      </a:pPr>
                      <a:r>
                        <a:rPr lang="en-US" sz="1100" dirty="0">
                          <a:solidFill>
                            <a:srgbClr val="22B8D6"/>
                          </a:solidFill>
                          <a:latin typeface="Calibri" pitchFamily="34" charset="0"/>
                          <a:ea typeface="Calibri" pitchFamily="34" charset="-122"/>
                          <a:cs typeface="Calibri" pitchFamily="34" charset="-120"/>
                        </a:rPr>
                        <a:t>Road-safety management framework</a:t>
                      </a:r>
                      <a:endParaRPr lang="en-US" sz="13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Safer route choice, police proximity, nearest hospital, validation study</a:t>
                      </a:r>
                      <a:endParaRPr lang="en-US" sz="1300" dirty="0">
                        <a:latin typeface="Calibri" charset="0"/>
                        <a:ea typeface="Calibri" charset="0"/>
                        <a:cs typeface="Calibri" charset="0"/>
                      </a:endParaRPr>
                    </a:p>
                  </a:txBody>
                  <a:tcPr marL="109728" marR="109728" marT="36576" marB="36576"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Commuter survey: who answered</a:t>
            </a:r>
            <a:endParaRPr lang="en-US" sz="3200" dirty="0"/>
          </a:p>
        </p:txBody>
      </p:sp>
      <p:sp>
        <p:nvSpPr>
          <p:cNvPr id="3" name="Profile tile 1"/>
          <p:cNvSpPr/>
          <p:nvPr/>
        </p:nvSpPr>
        <p:spPr>
          <a:xfrm>
            <a:off x="548640" y="1417320"/>
            <a:ext cx="2560320" cy="1188720"/>
          </a:xfrm>
          <a:prstGeom prst="roundRect">
            <a:avLst>
              <a:gd name="adj" fmla="val 9231"/>
            </a:avLst>
          </a:prstGeom>
          <a:solidFill>
            <a:schemeClr val="tx2"/>
          </a:solidFill>
          <a:ln/>
        </p:spPr>
      </p:sp>
      <p:sp>
        <p:nvSpPr>
          <p:cNvPr id="4" name="Profile value 1"/>
          <p:cNvSpPr txBox="1"/>
          <p:nvPr/>
        </p:nvSpPr>
        <p:spPr>
          <a:xfrm>
            <a:off x="777240" y="1481328"/>
            <a:ext cx="2103120" cy="640080"/>
          </a:xfrm>
          <a:prstGeom prst="rect">
            <a:avLst/>
          </a:prstGeom>
          <a:noFill/>
          <a:ln/>
        </p:spPr>
        <p:txBody>
          <a:bodyPr wrap="square" lIns="0" tIns="0" rIns="0" bIns="0" rtlCol="0" anchor="ctr"/>
          <a:lstStyle/>
          <a:p>
            <a:pPr indent="0" marL="0">
              <a:buNone/>
            </a:pPr>
            <a:r>
              <a:rPr lang="en-US" sz="3200" b="1" dirty="0">
                <a:solidFill>
                  <a:schemeClr val="accent1"/>
                </a:solidFill>
              </a:rPr>
              <a:t>100</a:t>
            </a:r>
            <a:endParaRPr lang="en-US" sz="3200" dirty="0"/>
          </a:p>
        </p:txBody>
      </p:sp>
      <p:sp>
        <p:nvSpPr>
          <p:cNvPr id="5" name="Profile label 1"/>
          <p:cNvSpPr txBox="1"/>
          <p:nvPr/>
        </p:nvSpPr>
        <p:spPr>
          <a:xfrm>
            <a:off x="777240" y="2103120"/>
            <a:ext cx="2194560" cy="365760"/>
          </a:xfrm>
          <a:prstGeom prst="rect">
            <a:avLst/>
          </a:prstGeom>
          <a:noFill/>
          <a:ln/>
        </p:spPr>
        <p:txBody>
          <a:bodyPr wrap="square" lIns="0" tIns="0" rIns="0" bIns="0" rtlCol="0" anchor="ctr"/>
          <a:lstStyle/>
          <a:p>
            <a:pPr indent="0" marL="0">
              <a:buNone/>
            </a:pPr>
            <a:r>
              <a:rPr lang="en-US" sz="1300" dirty="0">
                <a:solidFill>
                  <a:schemeClr val="bg2"/>
                </a:solidFill>
              </a:rPr>
              <a:t>responses collected</a:t>
            </a:r>
            <a:endParaRPr lang="en-US" sz="1300" dirty="0"/>
          </a:p>
        </p:txBody>
      </p:sp>
      <p:sp>
        <p:nvSpPr>
          <p:cNvPr id="6" name="Profile tile 2"/>
          <p:cNvSpPr/>
          <p:nvPr/>
        </p:nvSpPr>
        <p:spPr>
          <a:xfrm>
            <a:off x="3383280" y="1417320"/>
            <a:ext cx="2560320" cy="1188720"/>
          </a:xfrm>
          <a:prstGeom prst="roundRect">
            <a:avLst>
              <a:gd name="adj" fmla="val 9231"/>
            </a:avLst>
          </a:prstGeom>
          <a:solidFill>
            <a:schemeClr val="tx2"/>
          </a:solidFill>
          <a:ln/>
        </p:spPr>
      </p:sp>
      <p:sp>
        <p:nvSpPr>
          <p:cNvPr id="7" name="Profile value 2"/>
          <p:cNvSpPr txBox="1"/>
          <p:nvPr/>
        </p:nvSpPr>
        <p:spPr>
          <a:xfrm>
            <a:off x="3611880" y="1481328"/>
            <a:ext cx="2103120" cy="640080"/>
          </a:xfrm>
          <a:prstGeom prst="rect">
            <a:avLst/>
          </a:prstGeom>
          <a:noFill/>
          <a:ln/>
        </p:spPr>
        <p:txBody>
          <a:bodyPr wrap="square" lIns="0" tIns="0" rIns="0" bIns="0" rtlCol="0" anchor="ctr"/>
          <a:lstStyle/>
          <a:p>
            <a:pPr indent="0" marL="0">
              <a:buNone/>
            </a:pPr>
            <a:r>
              <a:rPr lang="en-US" sz="3200" b="1" dirty="0">
                <a:solidFill>
                  <a:schemeClr val="accent1"/>
                </a:solidFill>
              </a:rPr>
              <a:t>99%</a:t>
            </a:r>
            <a:endParaRPr lang="en-US" sz="3200" dirty="0"/>
          </a:p>
        </p:txBody>
      </p:sp>
      <p:sp>
        <p:nvSpPr>
          <p:cNvPr id="8" name="Profile label 2"/>
          <p:cNvSpPr txBox="1"/>
          <p:nvPr/>
        </p:nvSpPr>
        <p:spPr>
          <a:xfrm>
            <a:off x="3611880" y="2103120"/>
            <a:ext cx="2194560" cy="365760"/>
          </a:xfrm>
          <a:prstGeom prst="rect">
            <a:avLst/>
          </a:prstGeom>
          <a:noFill/>
          <a:ln/>
        </p:spPr>
        <p:txBody>
          <a:bodyPr wrap="square" lIns="0" tIns="0" rIns="0" bIns="0" rtlCol="0" anchor="ctr"/>
          <a:lstStyle/>
          <a:p>
            <a:pPr indent="0" marL="0">
              <a:buNone/>
            </a:pPr>
            <a:r>
              <a:rPr lang="en-US" sz="1300" dirty="0">
                <a:solidFill>
                  <a:schemeClr val="bg2"/>
                </a:solidFill>
              </a:rPr>
              <a:t>SVNIT students &amp; scholars</a:t>
            </a:r>
            <a:endParaRPr lang="en-US" sz="1300" dirty="0"/>
          </a:p>
        </p:txBody>
      </p:sp>
      <p:sp>
        <p:nvSpPr>
          <p:cNvPr id="9" name="Profile tile 3"/>
          <p:cNvSpPr/>
          <p:nvPr/>
        </p:nvSpPr>
        <p:spPr>
          <a:xfrm>
            <a:off x="6217920" y="1417320"/>
            <a:ext cx="2560320" cy="1188720"/>
          </a:xfrm>
          <a:prstGeom prst="roundRect">
            <a:avLst>
              <a:gd name="adj" fmla="val 9231"/>
            </a:avLst>
          </a:prstGeom>
          <a:solidFill>
            <a:schemeClr val="tx2"/>
          </a:solidFill>
          <a:ln/>
        </p:spPr>
      </p:sp>
      <p:sp>
        <p:nvSpPr>
          <p:cNvPr id="10" name="Profile value 3"/>
          <p:cNvSpPr txBox="1"/>
          <p:nvPr/>
        </p:nvSpPr>
        <p:spPr>
          <a:xfrm>
            <a:off x="6446520" y="1481328"/>
            <a:ext cx="2103120" cy="640080"/>
          </a:xfrm>
          <a:prstGeom prst="rect">
            <a:avLst/>
          </a:prstGeom>
          <a:noFill/>
          <a:ln/>
        </p:spPr>
        <p:txBody>
          <a:bodyPr wrap="square" lIns="0" tIns="0" rIns="0" bIns="0" rtlCol="0" anchor="ctr"/>
          <a:lstStyle/>
          <a:p>
            <a:pPr indent="0" marL="0">
              <a:buNone/>
            </a:pPr>
            <a:r>
              <a:rPr lang="en-US" sz="3200" b="1" dirty="0">
                <a:solidFill>
                  <a:schemeClr val="accent1"/>
                </a:solidFill>
              </a:rPr>
              <a:t>97%</a:t>
            </a:r>
            <a:endParaRPr lang="en-US" sz="3200" dirty="0"/>
          </a:p>
        </p:txBody>
      </p:sp>
      <p:sp>
        <p:nvSpPr>
          <p:cNvPr id="11" name="Profile label 3"/>
          <p:cNvSpPr txBox="1"/>
          <p:nvPr/>
        </p:nvSpPr>
        <p:spPr>
          <a:xfrm>
            <a:off x="6446520" y="2103120"/>
            <a:ext cx="2194560" cy="365760"/>
          </a:xfrm>
          <a:prstGeom prst="rect">
            <a:avLst/>
          </a:prstGeom>
          <a:noFill/>
          <a:ln/>
        </p:spPr>
        <p:txBody>
          <a:bodyPr wrap="square" lIns="0" tIns="0" rIns="0" bIns="0" rtlCol="0" anchor="ctr"/>
          <a:lstStyle/>
          <a:p>
            <a:pPr indent="0" marL="0">
              <a:buNone/>
            </a:pPr>
            <a:r>
              <a:rPr lang="en-US" sz="1300" dirty="0">
                <a:solidFill>
                  <a:schemeClr val="bg2"/>
                </a:solidFill>
              </a:rPr>
              <a:t>aged under 30</a:t>
            </a:r>
            <a:endParaRPr lang="en-US" sz="1300" dirty="0"/>
          </a:p>
        </p:txBody>
      </p:sp>
      <p:sp>
        <p:nvSpPr>
          <p:cNvPr id="12" name="Profile tile 4"/>
          <p:cNvSpPr/>
          <p:nvPr/>
        </p:nvSpPr>
        <p:spPr>
          <a:xfrm>
            <a:off x="9052560" y="1417320"/>
            <a:ext cx="2560320" cy="1188720"/>
          </a:xfrm>
          <a:prstGeom prst="roundRect">
            <a:avLst>
              <a:gd name="adj" fmla="val 9231"/>
            </a:avLst>
          </a:prstGeom>
          <a:solidFill>
            <a:schemeClr val="tx2"/>
          </a:solidFill>
          <a:ln/>
        </p:spPr>
      </p:sp>
      <p:sp>
        <p:nvSpPr>
          <p:cNvPr id="13" name="Profile value 4"/>
          <p:cNvSpPr txBox="1"/>
          <p:nvPr/>
        </p:nvSpPr>
        <p:spPr>
          <a:xfrm>
            <a:off x="9281160" y="1481328"/>
            <a:ext cx="2103120" cy="640080"/>
          </a:xfrm>
          <a:prstGeom prst="rect">
            <a:avLst/>
          </a:prstGeom>
          <a:noFill/>
          <a:ln/>
        </p:spPr>
        <p:txBody>
          <a:bodyPr wrap="square" lIns="0" tIns="0" rIns="0" bIns="0" rtlCol="0" anchor="ctr"/>
          <a:lstStyle/>
          <a:p>
            <a:pPr indent="0" marL="0">
              <a:buNone/>
            </a:pPr>
            <a:r>
              <a:rPr lang="en-US" sz="3200" b="1" dirty="0">
                <a:solidFill>
                  <a:schemeClr val="accent1"/>
                </a:solidFill>
              </a:rPr>
              <a:t>61 / 39</a:t>
            </a:r>
            <a:endParaRPr lang="en-US" sz="3200" dirty="0"/>
          </a:p>
        </p:txBody>
      </p:sp>
      <p:sp>
        <p:nvSpPr>
          <p:cNvPr id="14" name="Profile label 4"/>
          <p:cNvSpPr txBox="1"/>
          <p:nvPr/>
        </p:nvSpPr>
        <p:spPr>
          <a:xfrm>
            <a:off x="9281160" y="2103120"/>
            <a:ext cx="2194560" cy="365760"/>
          </a:xfrm>
          <a:prstGeom prst="rect">
            <a:avLst/>
          </a:prstGeom>
          <a:noFill/>
          <a:ln/>
        </p:spPr>
        <p:txBody>
          <a:bodyPr wrap="square" lIns="0" tIns="0" rIns="0" bIns="0" rtlCol="0" anchor="ctr"/>
          <a:lstStyle/>
          <a:p>
            <a:pPr indent="0" marL="0">
              <a:buNone/>
            </a:pPr>
            <a:r>
              <a:rPr lang="en-US" sz="1300" dirty="0">
                <a:solidFill>
                  <a:schemeClr val="bg2"/>
                </a:solidFill>
              </a:rPr>
              <a:t>male / female (%)</a:t>
            </a:r>
            <a:endParaRPr lang="en-US" sz="1300" dirty="0"/>
          </a:p>
        </p:txBody>
      </p:sp>
      <p:sp>
        <p:nvSpPr>
          <p:cNvPr id="15" name="Mode chart card"/>
          <p:cNvSpPr/>
          <p:nvPr/>
        </p:nvSpPr>
        <p:spPr>
          <a:xfrm>
            <a:off x="548640" y="2834640"/>
            <a:ext cx="5440680" cy="3017520"/>
          </a:xfrm>
          <a:prstGeom prst="roundRect">
            <a:avLst>
              <a:gd name="adj" fmla="val 3636"/>
            </a:avLst>
          </a:prstGeom>
          <a:solidFill>
            <a:schemeClr val="tx2"/>
          </a:solidFill>
          <a:ln/>
        </p:spPr>
      </p:sp>
      <p:graphicFrame>
        <p:nvGraphicFramePr>
          <p:cNvPr id="16" name="Mode chart" descr=""/>
          <p:cNvGraphicFramePr/>
          <p:nvPr/>
        </p:nvGraphicFramePr>
        <p:xfrm>
          <a:off x="685800" y="2926080"/>
          <a:ext cx="5166360" cy="2834640"/>
        </p:xfrm>
        <a:graphic xmlns:a="http://schemas.openxmlformats.org/drawingml/2006/main">
          <a:graphicData uri="http://schemas.openxmlformats.org/drawingml/2006/chart">
            <c:chart xmlns:c="http://schemas.openxmlformats.org/drawingml/2006/chart" r:id="rId1"/>
          </a:graphicData>
        </a:graphic>
      </p:graphicFrame>
      <p:sp>
        <p:nvSpPr>
          <p:cNvPr id="17" name="Route chart card"/>
          <p:cNvSpPr/>
          <p:nvPr/>
        </p:nvSpPr>
        <p:spPr>
          <a:xfrm>
            <a:off x="6199632" y="2834640"/>
            <a:ext cx="5440680" cy="3017520"/>
          </a:xfrm>
          <a:prstGeom prst="roundRect">
            <a:avLst>
              <a:gd name="adj" fmla="val 3636"/>
            </a:avLst>
          </a:prstGeom>
          <a:solidFill>
            <a:schemeClr val="tx2"/>
          </a:solidFill>
          <a:ln/>
        </p:spPr>
      </p:sp>
      <p:graphicFrame>
        <p:nvGraphicFramePr>
          <p:cNvPr id="18" name="Route chart" descr=""/>
          <p:cNvGraphicFramePr/>
          <p:nvPr/>
        </p:nvGraphicFramePr>
        <p:xfrm>
          <a:off x="6336792" y="2926080"/>
          <a:ext cx="5166360" cy="283464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What commuters told us</a:t>
            </a:r>
            <a:endParaRPr lang="en-US" sz="3200" dirty="0"/>
          </a:p>
        </p:txBody>
      </p:sp>
      <p:sp>
        <p:nvSpPr>
          <p:cNvPr id="3" name="Finding card 1"/>
          <p:cNvSpPr/>
          <p:nvPr/>
        </p:nvSpPr>
        <p:spPr>
          <a:xfrm>
            <a:off x="548640" y="1417320"/>
            <a:ext cx="3200400" cy="2103120"/>
          </a:xfrm>
          <a:prstGeom prst="roundRect">
            <a:avLst>
              <a:gd name="adj" fmla="val 5217"/>
            </a:avLst>
          </a:prstGeom>
          <a:solidFill>
            <a:schemeClr val="tx2"/>
          </a:solidFill>
          <a:ln/>
        </p:spPr>
      </p:sp>
      <p:sp>
        <p:nvSpPr>
          <p:cNvPr id="4" name="Finding value 1"/>
          <p:cNvSpPr txBox="1"/>
          <p:nvPr/>
        </p:nvSpPr>
        <p:spPr>
          <a:xfrm>
            <a:off x="777240" y="1554480"/>
            <a:ext cx="2743200" cy="685800"/>
          </a:xfrm>
          <a:prstGeom prst="rect">
            <a:avLst/>
          </a:prstGeom>
          <a:noFill/>
          <a:ln/>
        </p:spPr>
        <p:txBody>
          <a:bodyPr wrap="square" lIns="0" tIns="0" rIns="0" bIns="0" rtlCol="0" anchor="ctr"/>
          <a:lstStyle/>
          <a:p>
            <a:pPr indent="0" marL="0">
              <a:buNone/>
            </a:pPr>
            <a:r>
              <a:rPr lang="en-US" sz="3600" b="1" dirty="0">
                <a:solidFill>
                  <a:schemeClr val="accent3"/>
                </a:solidFill>
              </a:rPr>
              <a:t>57.9%</a:t>
            </a:r>
            <a:endParaRPr lang="en-US" sz="3600" dirty="0"/>
          </a:p>
        </p:txBody>
      </p:sp>
      <p:sp>
        <p:nvSpPr>
          <p:cNvPr id="5" name="Finding text 1"/>
          <p:cNvSpPr txBox="1"/>
          <p:nvPr/>
        </p:nvSpPr>
        <p:spPr>
          <a:xfrm>
            <a:off x="777240" y="2240280"/>
            <a:ext cx="2788920" cy="777240"/>
          </a:xfrm>
          <a:prstGeom prst="rect">
            <a:avLst/>
          </a:prstGeom>
          <a:noFill/>
          <a:ln/>
        </p:spPr>
        <p:txBody>
          <a:bodyPr wrap="square" lIns="0" tIns="0" rIns="0" bIns="0" rtlCol="0" anchor="t"/>
          <a:lstStyle/>
          <a:p>
            <a:pPr indent="0" marL="0">
              <a:buNone/>
            </a:pPr>
            <a:r>
              <a:rPr lang="en-US" sz="1400" dirty="0">
                <a:solidFill>
                  <a:schemeClr val="bg1"/>
                </a:solidFill>
              </a:rPr>
              <a:t>would take a 2–3 minute longer route if it is safer, cleaner and less congested</a:t>
            </a:r>
            <a:endParaRPr lang="en-US" sz="1400" dirty="0"/>
          </a:p>
        </p:txBody>
      </p:sp>
      <p:sp>
        <p:nvSpPr>
          <p:cNvPr id="6" name="Finding base 1"/>
          <p:cNvSpPr txBox="1"/>
          <p:nvPr/>
        </p:nvSpPr>
        <p:spPr>
          <a:xfrm>
            <a:off x="777240" y="3017520"/>
            <a:ext cx="2788920" cy="411480"/>
          </a:xfrm>
          <a:prstGeom prst="rect">
            <a:avLst/>
          </a:prstGeom>
          <a:noFill/>
          <a:ln/>
        </p:spPr>
        <p:txBody>
          <a:bodyPr wrap="square" lIns="0" tIns="0" rIns="0" bIns="0" rtlCol="0" anchor="t"/>
          <a:lstStyle/>
          <a:p>
            <a:pPr indent="0" marL="0">
              <a:buNone/>
            </a:pPr>
            <a:r>
              <a:rPr lang="en-US" sz="1100" dirty="0">
                <a:solidFill>
                  <a:srgbClr val="94A3B8"/>
                </a:solidFill>
              </a:rPr>
              <a:t>n = 95; another 38.9% said “depends on urgency”</a:t>
            </a:r>
            <a:endParaRPr lang="en-US" sz="1100" dirty="0"/>
          </a:p>
        </p:txBody>
      </p:sp>
      <p:sp>
        <p:nvSpPr>
          <p:cNvPr id="7" name="Finding card 2"/>
          <p:cNvSpPr/>
          <p:nvPr/>
        </p:nvSpPr>
        <p:spPr>
          <a:xfrm>
            <a:off x="3977640" y="1417320"/>
            <a:ext cx="3200400" cy="2103120"/>
          </a:xfrm>
          <a:prstGeom prst="roundRect">
            <a:avLst>
              <a:gd name="adj" fmla="val 5217"/>
            </a:avLst>
          </a:prstGeom>
          <a:solidFill>
            <a:schemeClr val="tx2"/>
          </a:solidFill>
          <a:ln/>
        </p:spPr>
      </p:sp>
      <p:sp>
        <p:nvSpPr>
          <p:cNvPr id="8" name="Finding value 2"/>
          <p:cNvSpPr txBox="1"/>
          <p:nvPr/>
        </p:nvSpPr>
        <p:spPr>
          <a:xfrm>
            <a:off x="4206240" y="1554480"/>
            <a:ext cx="2743200" cy="685800"/>
          </a:xfrm>
          <a:prstGeom prst="rect">
            <a:avLst/>
          </a:prstGeom>
          <a:noFill/>
          <a:ln/>
        </p:spPr>
        <p:txBody>
          <a:bodyPr wrap="square" lIns="0" tIns="0" rIns="0" bIns="0" rtlCol="0" anchor="ctr"/>
          <a:lstStyle/>
          <a:p>
            <a:pPr indent="0" marL="0">
              <a:buNone/>
            </a:pPr>
            <a:r>
              <a:rPr lang="en-US" sz="3600" b="1" dirty="0">
                <a:solidFill>
                  <a:schemeClr val="accent6"/>
                </a:solidFill>
              </a:rPr>
              <a:t>45.1%</a:t>
            </a:r>
            <a:endParaRPr lang="en-US" sz="3600" dirty="0"/>
          </a:p>
        </p:txBody>
      </p:sp>
      <p:sp>
        <p:nvSpPr>
          <p:cNvPr id="9" name="Finding text 2"/>
          <p:cNvSpPr txBox="1"/>
          <p:nvPr/>
        </p:nvSpPr>
        <p:spPr>
          <a:xfrm>
            <a:off x="4206240" y="2240280"/>
            <a:ext cx="2788920" cy="777240"/>
          </a:xfrm>
          <a:prstGeom prst="rect">
            <a:avLst/>
          </a:prstGeom>
          <a:noFill/>
          <a:ln/>
        </p:spPr>
        <p:txBody>
          <a:bodyPr wrap="square" lIns="0" tIns="0" rIns="0" bIns="0" rtlCol="0" anchor="t"/>
          <a:lstStyle/>
          <a:p>
            <a:pPr indent="0" marL="0">
              <a:buNone/>
            </a:pPr>
            <a:r>
              <a:rPr lang="en-US" sz="1400" dirty="0">
                <a:solidFill>
                  <a:schemeClr val="bg1"/>
                </a:solidFill>
              </a:rPr>
              <a:t>named rash driving or speeding near intersections as the top hazard</a:t>
            </a:r>
            <a:endParaRPr lang="en-US" sz="1400" dirty="0"/>
          </a:p>
        </p:txBody>
      </p:sp>
      <p:sp>
        <p:nvSpPr>
          <p:cNvPr id="10" name="Finding base 2"/>
          <p:cNvSpPr txBox="1"/>
          <p:nvPr/>
        </p:nvSpPr>
        <p:spPr>
          <a:xfrm>
            <a:off x="4206240" y="3017520"/>
            <a:ext cx="2788920" cy="411480"/>
          </a:xfrm>
          <a:prstGeom prst="rect">
            <a:avLst/>
          </a:prstGeom>
          <a:noFill/>
          <a:ln/>
        </p:spPr>
        <p:txBody>
          <a:bodyPr wrap="square" lIns="0" tIns="0" rIns="0" bIns="0" rtlCol="0" anchor="t"/>
          <a:lstStyle/>
          <a:p>
            <a:pPr indent="0" marL="0">
              <a:buNone/>
            </a:pPr>
            <a:r>
              <a:rPr lang="en-US" sz="1100" dirty="0">
                <a:solidFill>
                  <a:srgbClr val="94A3B8"/>
                </a:solidFill>
              </a:rPr>
              <a:t>n = 91; then traffic conflicts 23.1%, missing crossings 15.4%</a:t>
            </a:r>
            <a:endParaRPr lang="en-US" sz="1100" dirty="0"/>
          </a:p>
        </p:txBody>
      </p:sp>
      <p:sp>
        <p:nvSpPr>
          <p:cNvPr id="11" name="Finding card 3"/>
          <p:cNvSpPr/>
          <p:nvPr/>
        </p:nvSpPr>
        <p:spPr>
          <a:xfrm>
            <a:off x="548640" y="3703320"/>
            <a:ext cx="3200400" cy="2103120"/>
          </a:xfrm>
          <a:prstGeom prst="roundRect">
            <a:avLst>
              <a:gd name="adj" fmla="val 5217"/>
            </a:avLst>
          </a:prstGeom>
          <a:solidFill>
            <a:schemeClr val="tx2"/>
          </a:solidFill>
          <a:ln/>
        </p:spPr>
      </p:sp>
      <p:sp>
        <p:nvSpPr>
          <p:cNvPr id="12" name="Finding value 3"/>
          <p:cNvSpPr txBox="1"/>
          <p:nvPr/>
        </p:nvSpPr>
        <p:spPr>
          <a:xfrm>
            <a:off x="777240" y="3840480"/>
            <a:ext cx="2743200" cy="685800"/>
          </a:xfrm>
          <a:prstGeom prst="rect">
            <a:avLst/>
          </a:prstGeom>
          <a:noFill/>
          <a:ln/>
        </p:spPr>
        <p:txBody>
          <a:bodyPr wrap="square" lIns="0" tIns="0" rIns="0" bIns="0" rtlCol="0" anchor="ctr"/>
          <a:lstStyle/>
          <a:p>
            <a:pPr indent="0" marL="0">
              <a:buNone/>
            </a:pPr>
            <a:r>
              <a:rPr lang="en-US" sz="3600" b="1" dirty="0">
                <a:solidFill>
                  <a:schemeClr val="accent5"/>
                </a:solidFill>
              </a:rPr>
              <a:t>31%</a:t>
            </a:r>
            <a:endParaRPr lang="en-US" sz="3600" dirty="0"/>
          </a:p>
        </p:txBody>
      </p:sp>
      <p:sp>
        <p:nvSpPr>
          <p:cNvPr id="13" name="Finding text 3"/>
          <p:cNvSpPr txBox="1"/>
          <p:nvPr/>
        </p:nvSpPr>
        <p:spPr>
          <a:xfrm>
            <a:off x="777240" y="4526280"/>
            <a:ext cx="2788920" cy="777240"/>
          </a:xfrm>
          <a:prstGeom prst="rect">
            <a:avLst/>
          </a:prstGeom>
          <a:noFill/>
          <a:ln/>
        </p:spPr>
        <p:txBody>
          <a:bodyPr wrap="square" lIns="0" tIns="0" rIns="0" bIns="0" rtlCol="0" anchor="t"/>
          <a:lstStyle/>
          <a:p>
            <a:pPr indent="0" marL="0">
              <a:buNone/>
            </a:pPr>
            <a:r>
              <a:rPr lang="en-US" sz="1400" dirty="0">
                <a:solidFill>
                  <a:schemeClr val="bg1"/>
                </a:solidFill>
              </a:rPr>
              <a:t>said Station Approach Road has the worst congestion</a:t>
            </a:r>
            <a:endParaRPr lang="en-US" sz="1400" dirty="0"/>
          </a:p>
        </p:txBody>
      </p:sp>
      <p:sp>
        <p:nvSpPr>
          <p:cNvPr id="14" name="Finding base 3"/>
          <p:cNvSpPr txBox="1"/>
          <p:nvPr/>
        </p:nvSpPr>
        <p:spPr>
          <a:xfrm>
            <a:off x="777240" y="5303520"/>
            <a:ext cx="2788920" cy="411480"/>
          </a:xfrm>
          <a:prstGeom prst="rect">
            <a:avLst/>
          </a:prstGeom>
          <a:noFill/>
          <a:ln/>
        </p:spPr>
        <p:txBody>
          <a:bodyPr wrap="square" lIns="0" tIns="0" rIns="0" bIns="0" rtlCol="0" anchor="t"/>
          <a:lstStyle/>
          <a:p>
            <a:pPr indent="0" marL="0">
              <a:buNone/>
            </a:pPr>
            <a:r>
              <a:rPr lang="en-US" sz="1100" dirty="0">
                <a:solidFill>
                  <a:srgbClr val="94A3B8"/>
                </a:solidFill>
              </a:rPr>
              <a:t>n = 100; SVNIT Circle / Kargil Chowk 28%, Ring Road flyover 14%</a:t>
            </a:r>
            <a:endParaRPr lang="en-US" sz="1100" dirty="0"/>
          </a:p>
        </p:txBody>
      </p:sp>
      <p:sp>
        <p:nvSpPr>
          <p:cNvPr id="15" name="Finding card 4"/>
          <p:cNvSpPr/>
          <p:nvPr/>
        </p:nvSpPr>
        <p:spPr>
          <a:xfrm>
            <a:off x="3977640" y="3703320"/>
            <a:ext cx="3200400" cy="2103120"/>
          </a:xfrm>
          <a:prstGeom prst="roundRect">
            <a:avLst>
              <a:gd name="adj" fmla="val 5217"/>
            </a:avLst>
          </a:prstGeom>
          <a:solidFill>
            <a:schemeClr val="tx2"/>
          </a:solidFill>
          <a:ln/>
        </p:spPr>
      </p:sp>
      <p:sp>
        <p:nvSpPr>
          <p:cNvPr id="16" name="Finding value 4"/>
          <p:cNvSpPr txBox="1"/>
          <p:nvPr/>
        </p:nvSpPr>
        <p:spPr>
          <a:xfrm>
            <a:off x="4206240" y="3840480"/>
            <a:ext cx="2743200" cy="685800"/>
          </a:xfrm>
          <a:prstGeom prst="rect">
            <a:avLst/>
          </a:prstGeom>
          <a:noFill/>
          <a:ln/>
        </p:spPr>
        <p:txBody>
          <a:bodyPr wrap="square" lIns="0" tIns="0" rIns="0" bIns="0" rtlCol="0" anchor="ctr"/>
          <a:lstStyle/>
          <a:p>
            <a:pPr indent="0" marL="0">
              <a:buNone/>
            </a:pPr>
            <a:r>
              <a:rPr lang="en-US" sz="3600" b="1" dirty="0">
                <a:solidFill>
                  <a:schemeClr val="accent1"/>
                </a:solidFill>
              </a:rPr>
              <a:t>67.4%</a:t>
            </a:r>
            <a:endParaRPr lang="en-US" sz="3600" dirty="0"/>
          </a:p>
        </p:txBody>
      </p:sp>
      <p:sp>
        <p:nvSpPr>
          <p:cNvPr id="17" name="Finding text 4"/>
          <p:cNvSpPr txBox="1"/>
          <p:nvPr/>
        </p:nvSpPr>
        <p:spPr>
          <a:xfrm>
            <a:off x="4206240" y="4526280"/>
            <a:ext cx="2788920" cy="777240"/>
          </a:xfrm>
          <a:prstGeom prst="rect">
            <a:avLst/>
          </a:prstGeom>
          <a:noFill/>
          <a:ln/>
        </p:spPr>
        <p:txBody>
          <a:bodyPr wrap="square" lIns="0" tIns="0" rIns="0" bIns="0" rtlCol="0" anchor="t"/>
          <a:lstStyle/>
          <a:p>
            <a:pPr indent="0" marL="0">
              <a:buNone/>
            </a:pPr>
            <a:r>
              <a:rPr lang="en-US" sz="1400" dirty="0">
                <a:solidFill>
                  <a:schemeClr val="bg1"/>
                </a:solidFill>
              </a:rPr>
              <a:t>face a typical delay of 5–15 minutes on this corridor</a:t>
            </a:r>
            <a:endParaRPr lang="en-US" sz="1400" dirty="0"/>
          </a:p>
        </p:txBody>
      </p:sp>
      <p:sp>
        <p:nvSpPr>
          <p:cNvPr id="18" name="Finding base 4"/>
          <p:cNvSpPr txBox="1"/>
          <p:nvPr/>
        </p:nvSpPr>
        <p:spPr>
          <a:xfrm>
            <a:off x="4206240" y="5303520"/>
            <a:ext cx="2788920" cy="411480"/>
          </a:xfrm>
          <a:prstGeom prst="rect">
            <a:avLst/>
          </a:prstGeom>
          <a:noFill/>
          <a:ln/>
        </p:spPr>
        <p:txBody>
          <a:bodyPr wrap="square" lIns="0" tIns="0" rIns="0" bIns="0" rtlCol="0" anchor="t"/>
          <a:lstStyle/>
          <a:p>
            <a:pPr indent="0" marL="0">
              <a:buNone/>
            </a:pPr>
            <a:r>
              <a:rPr lang="en-US" sz="1100" dirty="0">
                <a:solidFill>
                  <a:srgbClr val="94A3B8"/>
                </a:solidFill>
              </a:rPr>
              <a:t>n = 95; 28.4% report under 5 minutes</a:t>
            </a:r>
            <a:endParaRPr lang="en-US" sz="1100" dirty="0"/>
          </a:p>
        </p:txBody>
      </p:sp>
      <p:sp>
        <p:nvSpPr>
          <p:cNvPr id="19" name="Implications card"/>
          <p:cNvSpPr/>
          <p:nvPr/>
        </p:nvSpPr>
        <p:spPr>
          <a:xfrm>
            <a:off x="7498080" y="1417320"/>
            <a:ext cx="4142232" cy="4389120"/>
          </a:xfrm>
          <a:prstGeom prst="roundRect">
            <a:avLst>
              <a:gd name="adj" fmla="val 2649"/>
            </a:avLst>
          </a:prstGeom>
          <a:solidFill>
            <a:schemeClr val="tx2"/>
          </a:solidFill>
          <a:ln/>
        </p:spPr>
      </p:sp>
      <p:sp>
        <p:nvSpPr>
          <p:cNvPr id="20" name="Implications title"/>
          <p:cNvSpPr txBox="1"/>
          <p:nvPr/>
        </p:nvSpPr>
        <p:spPr>
          <a:xfrm>
            <a:off x="7726680" y="1554480"/>
            <a:ext cx="3749040" cy="411480"/>
          </a:xfrm>
          <a:prstGeom prst="rect">
            <a:avLst/>
          </a:prstGeom>
          <a:noFill/>
          <a:ln/>
        </p:spPr>
        <p:txBody>
          <a:bodyPr wrap="square" lIns="0" tIns="0" rIns="0" bIns="0" rtlCol="0" anchor="ctr"/>
          <a:lstStyle/>
          <a:p>
            <a:pPr indent="0" marL="0">
              <a:buNone/>
            </a:pPr>
            <a:r>
              <a:rPr lang="en-US" sz="1800" b="1" dirty="0">
                <a:solidFill>
                  <a:schemeClr val="accent1"/>
                </a:solidFill>
              </a:rPr>
              <a:t>How this shaped the model</a:t>
            </a:r>
            <a:endParaRPr lang="en-US" sz="1800" dirty="0"/>
          </a:p>
        </p:txBody>
      </p:sp>
      <p:sp>
        <p:nvSpPr>
          <p:cNvPr id="21" name="Implication 1 circle"/>
          <p:cNvSpPr/>
          <p:nvPr/>
        </p:nvSpPr>
        <p:spPr>
          <a:xfrm>
            <a:off x="7726680" y="2148840"/>
            <a:ext cx="502920" cy="502920"/>
          </a:xfrm>
          <a:prstGeom prst="ellipse">
            <a:avLst/>
          </a:prstGeom>
          <a:solidFill>
            <a:schemeClr val="accent1"/>
          </a:solidFill>
          <a:ln/>
        </p:spPr>
      </p:sp>
      <p:pic>
        <p:nvPicPr>
          <p:cNvPr id="22" name="Implication 1 icon" descr="preencoded.png">    </p:cNvPr>
          <p:cNvPicPr>
            <a:picLocks noChangeAspect="1"/>
          </p:cNvPicPr>
          <p:nvPr/>
        </p:nvPicPr>
        <p:blipFill>
          <a:blip r:embed="rId1"/>
          <a:stretch>
            <a:fillRect/>
          </a:stretch>
        </p:blipFill>
        <p:spPr>
          <a:xfrm>
            <a:off x="7852410" y="2274570"/>
            <a:ext cx="251460" cy="251460"/>
          </a:xfrm>
          <a:prstGeom prst="rect">
            <a:avLst/>
          </a:prstGeom>
        </p:spPr>
      </p:pic>
      <p:sp>
        <p:nvSpPr>
          <p:cNvPr id="23" name="Implication text 1"/>
          <p:cNvSpPr txBox="1"/>
          <p:nvPr/>
        </p:nvSpPr>
        <p:spPr>
          <a:xfrm>
            <a:off x="8366760" y="2103120"/>
            <a:ext cx="3154680" cy="1097280"/>
          </a:xfrm>
          <a:prstGeom prst="rect">
            <a:avLst/>
          </a:prstGeom>
          <a:noFill/>
          <a:ln/>
        </p:spPr>
        <p:txBody>
          <a:bodyPr wrap="square" lIns="0" tIns="0" rIns="0" bIns="0" rtlCol="0" anchor="t"/>
          <a:lstStyle/>
          <a:p>
            <a:pPr indent="0" marL="0">
              <a:buNone/>
            </a:pPr>
            <a:r>
              <a:rPr lang="en-US" sz="1500" b="1" dirty="0">
                <a:solidFill>
                  <a:schemeClr val="bg1"/>
                </a:solidFill>
              </a:rPr>
              <a:t>A small, capped detour</a:t>
            </a:r>
            <a:endParaRPr lang="en-US" sz="1500" dirty="0"/>
          </a:p>
          <a:p>
            <a:pPr indent="0" marL="0">
              <a:buNone/>
            </a:pPr>
            <a:r>
              <a:rPr lang="en-US" sz="1300" dirty="0">
                <a:solidFill>
                  <a:schemeClr val="bg2"/>
                </a:solidFill>
              </a:rPr>
              <a:t>Users accept minutes, not a long detour, so safety routes respect a time limit</a:t>
            </a:r>
            <a:endParaRPr lang="en-US" sz="1500" dirty="0"/>
          </a:p>
        </p:txBody>
      </p:sp>
      <p:sp>
        <p:nvSpPr>
          <p:cNvPr id="24" name="Implication 2 circle"/>
          <p:cNvSpPr/>
          <p:nvPr/>
        </p:nvSpPr>
        <p:spPr>
          <a:xfrm>
            <a:off x="7726680" y="3355848"/>
            <a:ext cx="502920" cy="502920"/>
          </a:xfrm>
          <a:prstGeom prst="ellipse">
            <a:avLst/>
          </a:prstGeom>
          <a:solidFill>
            <a:schemeClr val="accent1"/>
          </a:solidFill>
          <a:ln/>
        </p:spPr>
      </p:sp>
      <p:pic>
        <p:nvPicPr>
          <p:cNvPr id="25" name="Implication 2 icon" descr="preencoded.png">    </p:cNvPr>
          <p:cNvPicPr>
            <a:picLocks noChangeAspect="1"/>
          </p:cNvPicPr>
          <p:nvPr/>
        </p:nvPicPr>
        <p:blipFill>
          <a:blip r:embed="rId2"/>
          <a:stretch>
            <a:fillRect/>
          </a:stretch>
        </p:blipFill>
        <p:spPr>
          <a:xfrm>
            <a:off x="7852410" y="3481578"/>
            <a:ext cx="251460" cy="251460"/>
          </a:xfrm>
          <a:prstGeom prst="rect">
            <a:avLst/>
          </a:prstGeom>
        </p:spPr>
      </p:pic>
      <p:sp>
        <p:nvSpPr>
          <p:cNvPr id="26" name="Implication text 2"/>
          <p:cNvSpPr txBox="1"/>
          <p:nvPr/>
        </p:nvSpPr>
        <p:spPr>
          <a:xfrm>
            <a:off x="8366760" y="3310128"/>
            <a:ext cx="3154680" cy="1097280"/>
          </a:xfrm>
          <a:prstGeom prst="rect">
            <a:avLst/>
          </a:prstGeom>
          <a:noFill/>
          <a:ln/>
        </p:spPr>
        <p:txBody>
          <a:bodyPr wrap="square" lIns="0" tIns="0" rIns="0" bIns="0" rtlCol="0" anchor="t"/>
          <a:lstStyle/>
          <a:p>
            <a:pPr indent="0" marL="0">
              <a:buNone/>
            </a:pPr>
            <a:r>
              <a:rPr lang="en-US" sz="1500" b="1" dirty="0">
                <a:solidFill>
                  <a:schemeClr val="bg1"/>
                </a:solidFill>
              </a:rPr>
              <a:t>Junctions matter most</a:t>
            </a:r>
            <a:endParaRPr lang="en-US" sz="1500" dirty="0"/>
          </a:p>
          <a:p>
            <a:pPr indent="0" marL="0">
              <a:buNone/>
            </a:pPr>
            <a:r>
              <a:rPr lang="en-US" sz="1300" dirty="0">
                <a:solidFill>
                  <a:schemeClr val="bg2"/>
                </a:solidFill>
              </a:rPr>
              <a:t>Speeding and conflicts at intersections become junction and turning risk</a:t>
            </a:r>
            <a:endParaRPr lang="en-US" sz="1500" dirty="0"/>
          </a:p>
        </p:txBody>
      </p:sp>
      <p:sp>
        <p:nvSpPr>
          <p:cNvPr id="27" name="Implication 3 circle"/>
          <p:cNvSpPr/>
          <p:nvPr/>
        </p:nvSpPr>
        <p:spPr>
          <a:xfrm>
            <a:off x="7726680" y="4562856"/>
            <a:ext cx="502920" cy="502920"/>
          </a:xfrm>
          <a:prstGeom prst="ellipse">
            <a:avLst/>
          </a:prstGeom>
          <a:solidFill>
            <a:schemeClr val="accent1"/>
          </a:solidFill>
          <a:ln/>
        </p:spPr>
      </p:sp>
      <p:pic>
        <p:nvPicPr>
          <p:cNvPr id="28" name="Implication 3 icon" descr="preencoded.png">    </p:cNvPr>
          <p:cNvPicPr>
            <a:picLocks noChangeAspect="1"/>
          </p:cNvPicPr>
          <p:nvPr/>
        </p:nvPicPr>
        <p:blipFill>
          <a:blip r:embed="rId3"/>
          <a:stretch>
            <a:fillRect/>
          </a:stretch>
        </p:blipFill>
        <p:spPr>
          <a:xfrm>
            <a:off x="7852410" y="4688586"/>
            <a:ext cx="251460" cy="251460"/>
          </a:xfrm>
          <a:prstGeom prst="rect">
            <a:avLst/>
          </a:prstGeom>
        </p:spPr>
      </p:pic>
      <p:sp>
        <p:nvSpPr>
          <p:cNvPr id="29" name="Implication text 3"/>
          <p:cNvSpPr txBox="1"/>
          <p:nvPr/>
        </p:nvSpPr>
        <p:spPr>
          <a:xfrm>
            <a:off x="8366760" y="4517136"/>
            <a:ext cx="3154680" cy="1097280"/>
          </a:xfrm>
          <a:prstGeom prst="rect">
            <a:avLst/>
          </a:prstGeom>
          <a:noFill/>
          <a:ln/>
        </p:spPr>
        <p:txBody>
          <a:bodyPr wrap="square" lIns="0" tIns="0" rIns="0" bIns="0" rtlCol="0" anchor="t"/>
          <a:lstStyle/>
          <a:p>
            <a:pPr indent="0" marL="0">
              <a:buNone/>
            </a:pPr>
            <a:r>
              <a:rPr lang="en-US" sz="1500" b="1" dirty="0">
                <a:solidFill>
                  <a:schemeClr val="bg1"/>
                </a:solidFill>
              </a:rPr>
              <a:t>A real test corridor</a:t>
            </a:r>
            <a:endParaRPr lang="en-US" sz="1500" dirty="0"/>
          </a:p>
          <a:p>
            <a:pPr indent="0" marL="0">
              <a:buNone/>
            </a:pPr>
            <a:r>
              <a:rPr lang="en-US" sz="1300" dirty="0">
                <a:solidFill>
                  <a:schemeClr val="bg2"/>
                </a:solidFill>
              </a:rPr>
              <a:t>SVNIT to station became our case study</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Data we collected</a:t>
            </a:r>
            <a:endParaRPr lang="en-US" sz="3200" dirty="0"/>
          </a:p>
        </p:txBody>
      </p:sp>
      <p:graphicFrame>
        <p:nvGraphicFramePr>
          <p:cNvPr id="8" name="Data sources table"/>
          <p:cNvGraphicFramePr>
            <a:graphicFrameLocks noGrp="1"/>
          </p:cNvGraphicFramePr>
          <p:nvPr>
            <p:extLst>
              <p:ext uri="{D42A27DB-BD31-4B8C-83A1-F6EECF244321}">
                <p14:modId xmlns:p14="http://schemas.microsoft.com/office/powerpoint/2010/main" val="1579011935"/>
              </p:ext>
            </p:extLst>
          </p:nvPr>
        </p:nvGraphicFramePr>
        <p:xfrm>
          <a:off x="548640" y="1417320"/>
          <a:ext cx="7406640" cy="914400"/>
        </p:xfrm>
        <a:graphic>
          <a:graphicData uri="http://schemas.openxmlformats.org/drawingml/2006/table">
            <a:tbl>
              <a:tblPr/>
              <a:tblGrid>
                <a:gridCol w="2011680"/>
                <a:gridCol w="3657600"/>
                <a:gridCol w="173736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24304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took</a:t>
                      </a:r>
                      <a:endParaRPr lang="en-US" sz="14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24304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Used for</a:t>
                      </a:r>
                      <a:endParaRPr lang="en-US" sz="14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243049"/>
                    </a:solidFill>
                  </a:tcPr>
                </a:tc>
              </a:tr>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OpenStreetMap</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23,273 km of roads, 2.3 lakh junctions, road class, one-ways, signals, police, hospitals</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The road network itself</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NASA VIIRS night lights</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Satellite night-time brightness, median of 8 clear nights (Dec 2025 – Feb 2026)</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Is a road lit at night?</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MoRTH Road Accidents 2022</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City crash totals, crashes by time of day, bridges and junction types</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Calibrating the risk model</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Accident blackspots</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22 geo-located sites with crash and death counts: GRSA audit, State Traffic Branch, MoRTH NH list</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Raising risk at known danger spots</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Commuter survey</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100 responses on the SVNIT – Surat Station corridor</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indent="0" marL="0">
                        <a:buNone/>
                      </a:pPr>
                      <a:r>
                        <a:rPr lang="en-US" sz="1300" dirty="0">
                          <a:solidFill>
                            <a:srgbClr val="CBD5E1"/>
                          </a:solidFill>
                          <a:latin typeface="Calibri" pitchFamily="34" charset="0"/>
                          <a:ea typeface="Calibri" pitchFamily="34" charset="-122"/>
                          <a:cs typeface="Calibri" pitchFamily="34" charset="-120"/>
                        </a:rPr>
                        <a:t>Design priorities &amp; case study</a:t>
                      </a:r>
                      <a:endParaRPr lang="en-US" sz="1300" dirty="0">
                        <a:latin typeface="Calibri" charset="0"/>
                        <a:ea typeface="Calibri" charset="0"/>
                        <a:cs typeface="Calibri" charset="0"/>
                      </a:endParaRPr>
                    </a:p>
                  </a:txBody>
                  <a:tcPr marL="109728" marR="109728"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bl>
          </a:graphicData>
        </a:graphic>
      </p:graphicFrame>
      <p:sp>
        <p:nvSpPr>
          <p:cNvPr id="4" name="Blackspot card"/>
          <p:cNvSpPr/>
          <p:nvPr/>
        </p:nvSpPr>
        <p:spPr>
          <a:xfrm>
            <a:off x="8229600" y="1417320"/>
            <a:ext cx="3410712" cy="4389120"/>
          </a:xfrm>
          <a:prstGeom prst="roundRect">
            <a:avLst>
              <a:gd name="adj" fmla="val 3217"/>
            </a:avLst>
          </a:prstGeom>
          <a:solidFill>
            <a:schemeClr val="tx2"/>
          </a:solidFill>
          <a:ln/>
        </p:spPr>
      </p:sp>
      <p:sp>
        <p:nvSpPr>
          <p:cNvPr id="5" name="Blackspot circle"/>
          <p:cNvSpPr/>
          <p:nvPr/>
        </p:nvSpPr>
        <p:spPr>
          <a:xfrm>
            <a:off x="8458200" y="1645920"/>
            <a:ext cx="566928" cy="566928"/>
          </a:xfrm>
          <a:prstGeom prst="ellipse">
            <a:avLst/>
          </a:prstGeom>
          <a:solidFill>
            <a:schemeClr val="accent6"/>
          </a:solidFill>
          <a:ln/>
        </p:spPr>
      </p:sp>
      <p:pic>
        <p:nvPicPr>
          <p:cNvPr id="6" name="Blackspot icon" descr="preencoded.png">    </p:cNvPr>
          <p:cNvPicPr>
            <a:picLocks noChangeAspect="1"/>
          </p:cNvPicPr>
          <p:nvPr/>
        </p:nvPicPr>
        <p:blipFill>
          <a:blip r:embed="rId1"/>
          <a:stretch>
            <a:fillRect/>
          </a:stretch>
        </p:blipFill>
        <p:spPr>
          <a:xfrm>
            <a:off x="8599932" y="1787652"/>
            <a:ext cx="283464" cy="283464"/>
          </a:xfrm>
          <a:prstGeom prst="rect">
            <a:avLst/>
          </a:prstGeom>
        </p:spPr>
      </p:pic>
      <p:sp>
        <p:nvSpPr>
          <p:cNvPr id="7" name="Blackspot count"/>
          <p:cNvSpPr txBox="1"/>
          <p:nvPr/>
        </p:nvSpPr>
        <p:spPr>
          <a:xfrm>
            <a:off x="9189720" y="1572768"/>
            <a:ext cx="2286000" cy="731520"/>
          </a:xfrm>
          <a:prstGeom prst="rect">
            <a:avLst/>
          </a:prstGeom>
          <a:noFill/>
          <a:ln/>
        </p:spPr>
        <p:txBody>
          <a:bodyPr wrap="square" lIns="0" tIns="0" rIns="0" bIns="0" rtlCol="0" anchor="ctr"/>
          <a:lstStyle/>
          <a:p>
            <a:pPr indent="0" marL="0">
              <a:buNone/>
            </a:pPr>
            <a:r>
              <a:rPr lang="en-US" sz="4000" b="1" dirty="0">
                <a:solidFill>
                  <a:schemeClr val="bg1"/>
                </a:solidFill>
              </a:rPr>
              <a:t>22</a:t>
            </a:r>
            <a:endParaRPr lang="en-US" sz="4000" dirty="0"/>
          </a:p>
        </p:txBody>
      </p:sp>
      <p:sp>
        <p:nvSpPr>
          <p:cNvPr id="8" name="Blackspot label"/>
          <p:cNvSpPr txBox="1"/>
          <p:nvPr/>
        </p:nvSpPr>
        <p:spPr>
          <a:xfrm>
            <a:off x="8458200" y="2331720"/>
            <a:ext cx="3017520" cy="320040"/>
          </a:xfrm>
          <a:prstGeom prst="rect">
            <a:avLst/>
          </a:prstGeom>
          <a:noFill/>
          <a:ln/>
        </p:spPr>
        <p:txBody>
          <a:bodyPr wrap="square" lIns="0" tIns="0" rIns="0" bIns="0" rtlCol="0" anchor="ctr"/>
          <a:lstStyle/>
          <a:p>
            <a:pPr indent="0" marL="0">
              <a:buNone/>
            </a:pPr>
            <a:r>
              <a:rPr lang="en-US" sz="1400" dirty="0">
                <a:solidFill>
                  <a:schemeClr val="bg2"/>
                </a:solidFill>
              </a:rPr>
              <a:t>verified blackspots on the map</a:t>
            </a:r>
            <a:endParaRPr lang="en-US" sz="1400" dirty="0"/>
          </a:p>
        </p:txBody>
      </p:sp>
      <p:sp>
        <p:nvSpPr>
          <p:cNvPr id="9" name="Blackspot details"/>
          <p:cNvSpPr txBox="1"/>
          <p:nvPr/>
        </p:nvSpPr>
        <p:spPr>
          <a:xfrm>
            <a:off x="8458200" y="2788920"/>
            <a:ext cx="3017520" cy="2834640"/>
          </a:xfrm>
          <a:prstGeom prst="rect">
            <a:avLst/>
          </a:prstGeom>
          <a:noFill/>
          <a:ln/>
        </p:spPr>
        <p:txBody>
          <a:bodyPr wrap="square" lIns="0" tIns="0" rIns="0" bIns="0" rtlCol="0" anchor="t"/>
          <a:lstStyle/>
          <a:p>
            <a:pPr indent="0" marL="0">
              <a:buNone/>
            </a:pPr>
            <a:r>
              <a:rPr lang="en-US" sz="1300" dirty="0">
                <a:solidFill>
                  <a:schemeClr val="bg2"/>
                </a:solidFill>
              </a:rPr>
              <a:t>Ahmedabad 15  ·  Vadodara 4</a:t>
            </a:r>
            <a:endParaRPr lang="en-US" sz="1300" dirty="0"/>
          </a:p>
          <a:p>
            <a:pPr indent="0" marL="0">
              <a:buNone/>
            </a:pPr>
            <a:r>
              <a:rPr lang="en-US" sz="1300" dirty="0">
                <a:solidFill>
                  <a:schemeClr val="bg2"/>
                </a:solidFill>
              </a:rPr>
              <a:t>Gandhinagar 1  ·  Surat 1  ·  Rajkot 1</a:t>
            </a:r>
            <a:endParaRPr lang="en-US" sz="1300" dirty="0"/>
          </a:p>
          <a:p>
            <a:pPr indent="0" marL="0">
              <a:buNone/>
            </a:pPr>
            <a:r>
              <a:rPr lang="en-US" sz="600" dirty="0">
                <a:solidFill>
                  <a:schemeClr val="bg2"/>
                </a:solidFill>
              </a:rPr>
              <a:t> </a:t>
            </a:r>
            <a:endParaRPr lang="en-US" sz="1300" dirty="0"/>
          </a:p>
          <a:p>
            <a:pPr indent="0" marL="0">
              <a:buNone/>
            </a:pPr>
            <a:r>
              <a:rPr lang="en-US" sz="1300" dirty="0">
                <a:solidFill>
                  <a:schemeClr val="bg2"/>
                </a:solidFill>
              </a:rPr>
              <a:t>Worst: Jambuva bridge, NH-48 Vadodara: 36 crashes, 30 deaths (2016–18)</a:t>
            </a:r>
            <a:endParaRPr lang="en-US" sz="1300" dirty="0"/>
          </a:p>
          <a:p>
            <a:pPr indent="0" marL="0">
              <a:buNone/>
            </a:pPr>
            <a:r>
              <a:rPr lang="en-US" sz="600" dirty="0">
                <a:solidFill>
                  <a:schemeClr val="bg2"/>
                </a:solidFill>
              </a:rPr>
              <a:t> </a:t>
            </a:r>
            <a:endParaRPr lang="en-US" sz="1300" dirty="0"/>
          </a:p>
          <a:p>
            <a:pPr indent="0" marL="0">
              <a:buNone/>
            </a:pPr>
            <a:r>
              <a:rPr lang="en-US" sz="1300" i="1" dirty="0">
                <a:solidFill>
                  <a:schemeClr val="bg2"/>
                </a:solidFill>
              </a:rPr>
              <a:t>4 sites we could not pin down exactly were dropped, not guessed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Safety formulas used in the model</a:t>
            </a:r>
            <a:endParaRPr lang="en-US" sz="3200" dirty="0"/>
          </a:p>
        </p:txBody>
      </p:sp>
      <p:sp>
        <p:nvSpPr>
          <p:cNvPr id="3" name="Safety card 1"/>
          <p:cNvSpPr/>
          <p:nvPr/>
        </p:nvSpPr>
        <p:spPr>
          <a:xfrm>
            <a:off x="548640" y="1371600"/>
            <a:ext cx="5408676" cy="2148840"/>
          </a:xfrm>
          <a:prstGeom prst="roundRect">
            <a:avLst>
              <a:gd name="adj" fmla="val 5106"/>
            </a:avLst>
          </a:prstGeom>
          <a:solidFill>
            <a:schemeClr val="tx2"/>
          </a:solidFill>
          <a:ln/>
        </p:spPr>
      </p:sp>
      <p:sp>
        <p:nvSpPr>
          <p:cNvPr id="4" name="Safety title 1"/>
          <p:cNvSpPr txBox="1"/>
          <p:nvPr/>
        </p:nvSpPr>
        <p:spPr>
          <a:xfrm>
            <a:off x="749808" y="1499616"/>
            <a:ext cx="5006340" cy="566928"/>
          </a:xfrm>
          <a:prstGeom prst="rect">
            <a:avLst/>
          </a:prstGeom>
          <a:noFill/>
          <a:ln/>
        </p:spPr>
        <p:txBody>
          <a:bodyPr wrap="square" lIns="0" tIns="0" rIns="0" bIns="0" rtlCol="0" anchor="t"/>
          <a:lstStyle/>
          <a:p>
            <a:pPr indent="0" marL="0">
              <a:buNone/>
            </a:pPr>
            <a:r>
              <a:rPr lang="en-US" sz="1600" b="1" dirty="0">
                <a:solidFill>
                  <a:schemeClr val="bg1"/>
                </a:solidFill>
              </a:rPr>
              <a:t>Speed decides severity</a:t>
            </a:r>
            <a:endParaRPr lang="en-US" sz="1600" dirty="0"/>
          </a:p>
          <a:p>
            <a:pPr indent="0" marL="0">
              <a:buNone/>
            </a:pPr>
            <a:r>
              <a:rPr lang="en-US" sz="1100" dirty="0">
                <a:solidFill>
                  <a:schemeClr val="accent1"/>
                </a:solidFill>
              </a:rPr>
              <a:t>Nilsson power model  ·  v₀ = 40 km/h, urban posted limit</a:t>
            </a:r>
            <a:endParaRPr lang="en-US" sz="1600" dirty="0"/>
          </a:p>
        </p:txBody>
      </p:sp>
      <p:sp>
        <p:nvSpPr>
          <p:cNvPr id="5" name="Safety formula box 1"/>
          <p:cNvSpPr/>
          <p:nvPr/>
        </p:nvSpPr>
        <p:spPr>
          <a:xfrm>
            <a:off x="749808" y="2121408"/>
            <a:ext cx="5006340" cy="731520"/>
          </a:xfrm>
          <a:prstGeom prst="roundRect">
            <a:avLst>
              <a:gd name="adj" fmla="val 10000"/>
            </a:avLst>
          </a:prstGeom>
          <a:solidFill>
            <a:schemeClr val="tx1"/>
          </a:solidFill>
          <a:ln/>
        </p:spPr>
      </p:sp>
      <p:pic>
        <p:nvPicPr>
          <p:cNvPr id="6" name="Safety formula 1" descr="S of v equals one minus phi times v over 40 squared, plus phi times v over 40 to the fourth; phi equals 0.33">    </p:cNvPr>
          <p:cNvPicPr>
            <a:picLocks noChangeAspect="1"/>
          </p:cNvPicPr>
          <p:nvPr/>
        </p:nvPicPr>
        <p:blipFill>
          <a:blip r:embed="rId1"/>
          <a:stretch>
            <a:fillRect/>
          </a:stretch>
        </p:blipFill>
        <p:spPr>
          <a:xfrm>
            <a:off x="886968" y="2284418"/>
            <a:ext cx="4053261" cy="405500"/>
          </a:xfrm>
          <a:prstGeom prst="rect">
            <a:avLst/>
          </a:prstGeom>
        </p:spPr>
      </p:pic>
      <p:sp>
        <p:nvSpPr>
          <p:cNvPr id="7" name="Safety text 1"/>
          <p:cNvSpPr txBox="1"/>
          <p:nvPr/>
        </p:nvSpPr>
        <p:spPr>
          <a:xfrm>
            <a:off x="749808" y="2926080"/>
            <a:ext cx="5006340" cy="530352"/>
          </a:xfrm>
          <a:prstGeom prst="rect">
            <a:avLst/>
          </a:prstGeom>
          <a:noFill/>
          <a:ln/>
        </p:spPr>
        <p:txBody>
          <a:bodyPr wrap="square" lIns="0" tIns="0" rIns="0" bIns="0" rtlCol="0" anchor="t"/>
          <a:lstStyle/>
          <a:p>
            <a:pPr indent="0" marL="0">
              <a:buNone/>
            </a:pPr>
            <a:r>
              <a:rPr lang="en-US" sz="1200" dirty="0">
                <a:solidFill>
                  <a:schemeClr val="bg2"/>
                </a:solidFill>
              </a:rPr>
              <a:t>φ = share of crashes that are fatal (MoRTH 2022). At 80 km/h harm is 8× that at 40 km/h; fatal crashes alone 16×.</a:t>
            </a:r>
            <a:endParaRPr lang="en-US" sz="1200" dirty="0"/>
          </a:p>
        </p:txBody>
      </p:sp>
      <p:sp>
        <p:nvSpPr>
          <p:cNvPr id="8" name="Safety card 2"/>
          <p:cNvSpPr/>
          <p:nvPr/>
        </p:nvSpPr>
        <p:spPr>
          <a:xfrm>
            <a:off x="6231636" y="1371600"/>
            <a:ext cx="5408676" cy="2148840"/>
          </a:xfrm>
          <a:prstGeom prst="roundRect">
            <a:avLst>
              <a:gd name="adj" fmla="val 5106"/>
            </a:avLst>
          </a:prstGeom>
          <a:solidFill>
            <a:schemeClr val="tx2"/>
          </a:solidFill>
          <a:ln/>
        </p:spPr>
      </p:sp>
      <p:sp>
        <p:nvSpPr>
          <p:cNvPr id="9" name="Safety title 2"/>
          <p:cNvSpPr txBox="1"/>
          <p:nvPr/>
        </p:nvSpPr>
        <p:spPr>
          <a:xfrm>
            <a:off x="6432804" y="1499616"/>
            <a:ext cx="5006340" cy="566928"/>
          </a:xfrm>
          <a:prstGeom prst="rect">
            <a:avLst/>
          </a:prstGeom>
          <a:noFill/>
          <a:ln/>
        </p:spPr>
        <p:txBody>
          <a:bodyPr wrap="square" lIns="0" tIns="0" rIns="0" bIns="0" rtlCol="0" anchor="t"/>
          <a:lstStyle/>
          <a:p>
            <a:pPr indent="0" marL="0">
              <a:buNone/>
            </a:pPr>
            <a:r>
              <a:rPr lang="en-US" sz="1600" b="1" dirty="0">
                <a:solidFill>
                  <a:schemeClr val="bg1"/>
                </a:solidFill>
              </a:rPr>
              <a:t>Lighting and road features</a:t>
            </a:r>
            <a:endParaRPr lang="en-US" sz="1600" dirty="0"/>
          </a:p>
          <a:p>
            <a:pPr indent="0" marL="0">
              <a:buNone/>
            </a:pPr>
            <a:r>
              <a:rPr lang="en-US" sz="1100" dirty="0">
                <a:solidFill>
                  <a:schemeClr val="accent1"/>
                </a:solidFill>
              </a:rPr>
              <a:t>Highway Safety Manual crash modification factors</a:t>
            </a:r>
            <a:endParaRPr lang="en-US" sz="1600" dirty="0"/>
          </a:p>
        </p:txBody>
      </p:sp>
      <p:sp>
        <p:nvSpPr>
          <p:cNvPr id="10" name="Safety formula box 2"/>
          <p:cNvSpPr/>
          <p:nvPr/>
        </p:nvSpPr>
        <p:spPr>
          <a:xfrm>
            <a:off x="6432804" y="2121408"/>
            <a:ext cx="5006340" cy="731520"/>
          </a:xfrm>
          <a:prstGeom prst="roundRect">
            <a:avLst>
              <a:gd name="adj" fmla="val 10000"/>
            </a:avLst>
          </a:prstGeom>
          <a:solidFill>
            <a:schemeClr val="tx1"/>
          </a:solidFill>
          <a:ln/>
        </p:spPr>
      </p:sp>
      <p:pic>
        <p:nvPicPr>
          <p:cNvPr id="11" name="Safety formula 2" descr="CMF light equals 1 plus 0.39 times one minus p lit, times d of h">    </p:cNvPr>
          <p:cNvPicPr>
            <a:picLocks noChangeAspect="1"/>
          </p:cNvPicPr>
          <p:nvPr/>
        </p:nvPicPr>
        <p:blipFill>
          <a:blip r:embed="rId2"/>
          <a:stretch>
            <a:fillRect/>
          </a:stretch>
        </p:blipFill>
        <p:spPr>
          <a:xfrm>
            <a:off x="6569964" y="2384403"/>
            <a:ext cx="2899480" cy="205530"/>
          </a:xfrm>
          <a:prstGeom prst="rect">
            <a:avLst/>
          </a:prstGeom>
        </p:spPr>
      </p:pic>
      <p:sp>
        <p:nvSpPr>
          <p:cNvPr id="12" name="Safety text 2"/>
          <p:cNvSpPr txBox="1"/>
          <p:nvPr/>
        </p:nvSpPr>
        <p:spPr>
          <a:xfrm>
            <a:off x="6432804" y="2926080"/>
            <a:ext cx="5006340" cy="530352"/>
          </a:xfrm>
          <a:prstGeom prst="rect">
            <a:avLst/>
          </a:prstGeom>
          <a:noFill/>
          <a:ln/>
        </p:spPr>
        <p:txBody>
          <a:bodyPr wrap="square" lIns="0" tIns="0" rIns="0" bIns="0" rtlCol="0" anchor="t"/>
          <a:lstStyle/>
          <a:p>
            <a:pPr indent="0" marL="0">
              <a:buNone/>
            </a:pPr>
            <a:r>
              <a:rPr lang="en-US" sz="1200" dirty="0">
                <a:solidFill>
                  <a:schemeClr val="bg2"/>
                </a:solidFill>
              </a:rPr>
              <a:t>p = chance the road is lit, d(h) = darkness at hour h. Bridge × 1.25, divided road × 0.80, unpaved × 1.30.</a:t>
            </a:r>
            <a:endParaRPr lang="en-US" sz="1200" dirty="0"/>
          </a:p>
        </p:txBody>
      </p:sp>
      <p:sp>
        <p:nvSpPr>
          <p:cNvPr id="13" name="Safety card 3"/>
          <p:cNvSpPr/>
          <p:nvPr/>
        </p:nvSpPr>
        <p:spPr>
          <a:xfrm>
            <a:off x="548640" y="3721608"/>
            <a:ext cx="5408676" cy="2148840"/>
          </a:xfrm>
          <a:prstGeom prst="roundRect">
            <a:avLst>
              <a:gd name="adj" fmla="val 5106"/>
            </a:avLst>
          </a:prstGeom>
          <a:solidFill>
            <a:schemeClr val="tx2"/>
          </a:solidFill>
          <a:ln/>
        </p:spPr>
      </p:sp>
      <p:sp>
        <p:nvSpPr>
          <p:cNvPr id="14" name="Safety title 3"/>
          <p:cNvSpPr txBox="1"/>
          <p:nvPr/>
        </p:nvSpPr>
        <p:spPr>
          <a:xfrm>
            <a:off x="749808" y="3849624"/>
            <a:ext cx="5006340" cy="566928"/>
          </a:xfrm>
          <a:prstGeom prst="rect">
            <a:avLst/>
          </a:prstGeom>
          <a:noFill/>
          <a:ln/>
        </p:spPr>
        <p:txBody>
          <a:bodyPr wrap="square" lIns="0" tIns="0" rIns="0" bIns="0" rtlCol="0" anchor="t"/>
          <a:lstStyle/>
          <a:p>
            <a:pPr indent="0" marL="0">
              <a:buNone/>
            </a:pPr>
            <a:r>
              <a:rPr lang="en-US" sz="1600" b="1" dirty="0">
                <a:solidFill>
                  <a:schemeClr val="bg1"/>
                </a:solidFill>
              </a:rPr>
              <a:t>Turns at junctions</a:t>
            </a:r>
            <a:endParaRPr lang="en-US" sz="1600" dirty="0"/>
          </a:p>
          <a:p>
            <a:pPr indent="0" marL="0">
              <a:buNone/>
            </a:pPr>
            <a:r>
              <a:rPr lang="en-US" sz="1100" dirty="0">
                <a:solidFill>
                  <a:schemeClr val="accent1"/>
                </a:solidFill>
              </a:rPr>
              <a:t>Indo-HCM (2017) conflict studies</a:t>
            </a:r>
            <a:endParaRPr lang="en-US" sz="1600" dirty="0"/>
          </a:p>
        </p:txBody>
      </p:sp>
      <p:sp>
        <p:nvSpPr>
          <p:cNvPr id="15" name="Safety formula box 3"/>
          <p:cNvSpPr/>
          <p:nvPr/>
        </p:nvSpPr>
        <p:spPr>
          <a:xfrm>
            <a:off x="749808" y="4471416"/>
            <a:ext cx="5006340" cy="731520"/>
          </a:xfrm>
          <a:prstGeom prst="roundRect">
            <a:avLst>
              <a:gd name="adj" fmla="val 10000"/>
            </a:avLst>
          </a:prstGeom>
          <a:solidFill>
            <a:schemeClr val="tx1"/>
          </a:solidFill>
          <a:ln/>
        </p:spPr>
      </p:sp>
      <p:pic>
        <p:nvPicPr>
          <p:cNvPr id="16" name="Safety formula 3" descr="R turn equals k times R junction">    </p:cNvPr>
          <p:cNvPicPr>
            <a:picLocks noChangeAspect="1"/>
          </p:cNvPicPr>
          <p:nvPr/>
        </p:nvPicPr>
        <p:blipFill>
          <a:blip r:embed="rId3"/>
          <a:stretch>
            <a:fillRect/>
          </a:stretch>
        </p:blipFill>
        <p:spPr>
          <a:xfrm>
            <a:off x="886968" y="4740014"/>
            <a:ext cx="1598719" cy="194324"/>
          </a:xfrm>
          <a:prstGeom prst="rect">
            <a:avLst/>
          </a:prstGeom>
        </p:spPr>
      </p:pic>
      <p:sp>
        <p:nvSpPr>
          <p:cNvPr id="17" name="Safety text 3"/>
          <p:cNvSpPr txBox="1"/>
          <p:nvPr/>
        </p:nvSpPr>
        <p:spPr>
          <a:xfrm>
            <a:off x="749808" y="5276088"/>
            <a:ext cx="5006340" cy="530352"/>
          </a:xfrm>
          <a:prstGeom prst="rect">
            <a:avLst/>
          </a:prstGeom>
          <a:noFill/>
          <a:ln/>
        </p:spPr>
        <p:txBody>
          <a:bodyPr wrap="square" lIns="0" tIns="0" rIns="0" bIns="0" rtlCol="0" anchor="t"/>
          <a:lstStyle/>
          <a:p>
            <a:pPr indent="0" marL="0">
              <a:buNone/>
            </a:pPr>
            <a:r>
              <a:rPr lang="en-US" sz="1200" dirty="0">
                <a:solidFill>
                  <a:schemeClr val="bg2"/>
                </a:solidFill>
              </a:rPr>
              <a:t>k = 0.75 left, 1.00 straight, 1.60 right, 2.20 U-turn: a right turn crosses the opposing stream. Signal × 0.70.</a:t>
            </a:r>
            <a:endParaRPr lang="en-US" sz="1200" dirty="0"/>
          </a:p>
        </p:txBody>
      </p:sp>
      <p:sp>
        <p:nvSpPr>
          <p:cNvPr id="18" name="Safety card 4"/>
          <p:cNvSpPr/>
          <p:nvPr/>
        </p:nvSpPr>
        <p:spPr>
          <a:xfrm>
            <a:off x="6231636" y="3721608"/>
            <a:ext cx="5408676" cy="2148840"/>
          </a:xfrm>
          <a:prstGeom prst="roundRect">
            <a:avLst>
              <a:gd name="adj" fmla="val 5106"/>
            </a:avLst>
          </a:prstGeom>
          <a:solidFill>
            <a:schemeClr val="tx2"/>
          </a:solidFill>
          <a:ln/>
        </p:spPr>
      </p:sp>
      <p:sp>
        <p:nvSpPr>
          <p:cNvPr id="19" name="Safety title 4"/>
          <p:cNvSpPr txBox="1"/>
          <p:nvPr/>
        </p:nvSpPr>
        <p:spPr>
          <a:xfrm>
            <a:off x="6432804" y="3849624"/>
            <a:ext cx="5006340" cy="566928"/>
          </a:xfrm>
          <a:prstGeom prst="rect">
            <a:avLst/>
          </a:prstGeom>
          <a:noFill/>
          <a:ln/>
        </p:spPr>
        <p:txBody>
          <a:bodyPr wrap="square" lIns="0" tIns="0" rIns="0" bIns="0" rtlCol="0" anchor="t"/>
          <a:lstStyle/>
          <a:p>
            <a:pPr indent="0" marL="0">
              <a:buNone/>
            </a:pPr>
            <a:r>
              <a:rPr lang="en-US" sz="1600" b="1" dirty="0">
                <a:solidFill>
                  <a:schemeClr val="bg1"/>
                </a:solidFill>
              </a:rPr>
              <a:t>Crash history at blackspots</a:t>
            </a:r>
            <a:endParaRPr lang="en-US" sz="1600" dirty="0"/>
          </a:p>
          <a:p>
            <a:pPr indent="0" marL="0">
              <a:buNone/>
            </a:pPr>
            <a:r>
              <a:rPr lang="en-US" sz="1100" dirty="0">
                <a:solidFill>
                  <a:schemeClr val="accent1"/>
                </a:solidFill>
              </a:rPr>
              <a:t>Empirical Bayes (Hauer, HSM)  ·  500 m MoRTH stretch</a:t>
            </a:r>
            <a:endParaRPr lang="en-US" sz="1600" dirty="0"/>
          </a:p>
        </p:txBody>
      </p:sp>
      <p:sp>
        <p:nvSpPr>
          <p:cNvPr id="20" name="Safety formula box 4"/>
          <p:cNvSpPr/>
          <p:nvPr/>
        </p:nvSpPr>
        <p:spPr>
          <a:xfrm>
            <a:off x="6432804" y="4471416"/>
            <a:ext cx="5006340" cy="731520"/>
          </a:xfrm>
          <a:prstGeom prst="roundRect">
            <a:avLst>
              <a:gd name="adj" fmla="val 10000"/>
            </a:avLst>
          </a:prstGeom>
          <a:solidFill>
            <a:schemeClr val="tx1"/>
          </a:solidFill>
          <a:ln/>
        </p:spPr>
      </p:sp>
      <p:pic>
        <p:nvPicPr>
          <p:cNvPr id="21" name="Safety formula 4" descr="w equals 1 over 1 plus 0.6 N pred Y; N EB equals w N pred plus one minus w times N obs over Y">    </p:cNvPr>
          <p:cNvPicPr>
            <a:picLocks noChangeAspect="1"/>
          </p:cNvPicPr>
          <p:nvPr/>
        </p:nvPicPr>
        <p:blipFill>
          <a:blip r:embed="rId4"/>
          <a:stretch>
            <a:fillRect/>
          </a:stretch>
        </p:blipFill>
        <p:spPr>
          <a:xfrm>
            <a:off x="6569964" y="4612890"/>
            <a:ext cx="4732020" cy="448571"/>
          </a:xfrm>
          <a:prstGeom prst="rect">
            <a:avLst/>
          </a:prstGeom>
        </p:spPr>
      </p:pic>
      <p:sp>
        <p:nvSpPr>
          <p:cNvPr id="22" name="Safety text 4"/>
          <p:cNvSpPr txBox="1"/>
          <p:nvPr/>
        </p:nvSpPr>
        <p:spPr>
          <a:xfrm>
            <a:off x="6432804" y="5276088"/>
            <a:ext cx="5006340" cy="530352"/>
          </a:xfrm>
          <a:prstGeom prst="rect">
            <a:avLst/>
          </a:prstGeom>
          <a:noFill/>
          <a:ln/>
        </p:spPr>
        <p:txBody>
          <a:bodyPr wrap="square" lIns="0" tIns="0" rIns="0" bIns="0" rtlCol="0" anchor="t"/>
          <a:lstStyle/>
          <a:p>
            <a:pPr indent="0" marL="0">
              <a:buNone/>
            </a:pPr>
            <a:r>
              <a:rPr lang="en-US" sz="1200" dirty="0">
                <a:solidFill>
                  <a:schemeClr val="bg2"/>
                </a:solidFill>
              </a:rPr>
              <a:t>Blends recorded crashes with the model's prediction (Y = years of record). Jambuva bridge → × 11.3.</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Traffic-flow and scoring formulas</a:t>
            </a:r>
            <a:endParaRPr lang="en-US" sz="3200" dirty="0"/>
          </a:p>
        </p:txBody>
      </p:sp>
      <p:sp>
        <p:nvSpPr>
          <p:cNvPr id="3" name="Flow card 1"/>
          <p:cNvSpPr/>
          <p:nvPr/>
        </p:nvSpPr>
        <p:spPr>
          <a:xfrm>
            <a:off x="548640" y="1371600"/>
            <a:ext cx="3514344" cy="2148840"/>
          </a:xfrm>
          <a:prstGeom prst="roundRect">
            <a:avLst>
              <a:gd name="adj" fmla="val 5106"/>
            </a:avLst>
          </a:prstGeom>
          <a:solidFill>
            <a:schemeClr val="tx2"/>
          </a:solidFill>
          <a:ln/>
        </p:spPr>
      </p:sp>
      <p:sp>
        <p:nvSpPr>
          <p:cNvPr id="4" name="Flow title 1"/>
          <p:cNvSpPr txBox="1"/>
          <p:nvPr/>
        </p:nvSpPr>
        <p:spPr>
          <a:xfrm>
            <a:off x="749808" y="1499616"/>
            <a:ext cx="3112008" cy="566928"/>
          </a:xfrm>
          <a:prstGeom prst="rect">
            <a:avLst/>
          </a:prstGeom>
          <a:noFill/>
          <a:ln/>
        </p:spPr>
        <p:txBody>
          <a:bodyPr wrap="square" lIns="0" tIns="0" rIns="0" bIns="0" rtlCol="0" anchor="t"/>
          <a:lstStyle/>
          <a:p>
            <a:pPr indent="0" marL="0">
              <a:buNone/>
            </a:pPr>
            <a:r>
              <a:rPr lang="en-US" sz="1600" b="1" dirty="0">
                <a:solidFill>
                  <a:schemeClr val="bg1"/>
                </a:solidFill>
              </a:rPr>
              <a:t>Travel time vs V/C</a:t>
            </a:r>
            <a:endParaRPr lang="en-US" sz="1600" dirty="0"/>
          </a:p>
          <a:p>
            <a:pPr indent="0" marL="0">
              <a:buNone/>
            </a:pPr>
            <a:r>
              <a:rPr lang="en-US" sz="1100" dirty="0">
                <a:solidFill>
                  <a:schemeClr val="accent1"/>
                </a:solidFill>
              </a:rPr>
              <a:t>Bureau of Public Roads (1964)</a:t>
            </a:r>
            <a:endParaRPr lang="en-US" sz="1600" dirty="0"/>
          </a:p>
        </p:txBody>
      </p:sp>
      <p:sp>
        <p:nvSpPr>
          <p:cNvPr id="5" name="Flow formula box 1"/>
          <p:cNvSpPr/>
          <p:nvPr/>
        </p:nvSpPr>
        <p:spPr>
          <a:xfrm>
            <a:off x="749808" y="2121408"/>
            <a:ext cx="3112008" cy="731520"/>
          </a:xfrm>
          <a:prstGeom prst="roundRect">
            <a:avLst>
              <a:gd name="adj" fmla="val 10000"/>
            </a:avLst>
          </a:prstGeom>
          <a:solidFill>
            <a:schemeClr val="tx1"/>
          </a:solidFill>
          <a:ln/>
        </p:spPr>
      </p:sp>
      <p:pic>
        <p:nvPicPr>
          <p:cNvPr id="6" name="Flow formula 1" descr="t equals t zero times one plus 0.15 times V over C to the fourth">    </p:cNvPr>
          <p:cNvPicPr>
            <a:picLocks noChangeAspect="1"/>
          </p:cNvPicPr>
          <p:nvPr/>
        </p:nvPicPr>
        <p:blipFill>
          <a:blip r:embed="rId1"/>
          <a:stretch>
            <a:fillRect/>
          </a:stretch>
        </p:blipFill>
        <p:spPr>
          <a:xfrm>
            <a:off x="886968" y="2192468"/>
            <a:ext cx="2052343" cy="589399"/>
          </a:xfrm>
          <a:prstGeom prst="rect">
            <a:avLst/>
          </a:prstGeom>
        </p:spPr>
      </p:pic>
      <p:sp>
        <p:nvSpPr>
          <p:cNvPr id="7" name="Flow text 1"/>
          <p:cNvSpPr txBox="1"/>
          <p:nvPr/>
        </p:nvSpPr>
        <p:spPr>
          <a:xfrm>
            <a:off x="749808" y="2926080"/>
            <a:ext cx="3112008" cy="530352"/>
          </a:xfrm>
          <a:prstGeom prst="rect">
            <a:avLst/>
          </a:prstGeom>
          <a:noFill/>
          <a:ln/>
        </p:spPr>
        <p:txBody>
          <a:bodyPr wrap="square" lIns="0" tIns="0" rIns="0" bIns="0" rtlCol="0" anchor="t"/>
          <a:lstStyle/>
          <a:p>
            <a:pPr indent="0" marL="0">
              <a:buNone/>
            </a:pPr>
            <a:r>
              <a:rPr lang="en-US" sz="1200" dirty="0">
                <a:solidFill>
                  <a:schemeClr val="bg2"/>
                </a:solidFill>
              </a:rPr>
              <a:t>V/C = peak V/C of the road class × hourly demand. At V/C = 1, travel time is 15% higher.</a:t>
            </a:r>
            <a:endParaRPr lang="en-US" sz="1200" dirty="0"/>
          </a:p>
        </p:txBody>
      </p:sp>
      <p:sp>
        <p:nvSpPr>
          <p:cNvPr id="8" name="Flow card 2"/>
          <p:cNvSpPr/>
          <p:nvPr/>
        </p:nvSpPr>
        <p:spPr>
          <a:xfrm>
            <a:off x="4337304" y="1371600"/>
            <a:ext cx="3514344" cy="2148840"/>
          </a:xfrm>
          <a:prstGeom prst="roundRect">
            <a:avLst>
              <a:gd name="adj" fmla="val 5106"/>
            </a:avLst>
          </a:prstGeom>
          <a:solidFill>
            <a:schemeClr val="tx2"/>
          </a:solidFill>
          <a:ln/>
        </p:spPr>
      </p:sp>
      <p:sp>
        <p:nvSpPr>
          <p:cNvPr id="9" name="Flow title 2"/>
          <p:cNvSpPr txBox="1"/>
          <p:nvPr/>
        </p:nvSpPr>
        <p:spPr>
          <a:xfrm>
            <a:off x="4538472" y="1499616"/>
            <a:ext cx="3112008" cy="566928"/>
          </a:xfrm>
          <a:prstGeom prst="rect">
            <a:avLst/>
          </a:prstGeom>
          <a:noFill/>
          <a:ln/>
        </p:spPr>
        <p:txBody>
          <a:bodyPr wrap="square" lIns="0" tIns="0" rIns="0" bIns="0" rtlCol="0" anchor="t"/>
          <a:lstStyle/>
          <a:p>
            <a:pPr indent="0" marL="0">
              <a:buNone/>
            </a:pPr>
            <a:r>
              <a:rPr lang="en-US" sz="1600" b="1" dirty="0">
                <a:solidFill>
                  <a:schemeClr val="bg1"/>
                </a:solidFill>
              </a:rPr>
              <a:t>Signal delay</a:t>
            </a:r>
            <a:endParaRPr lang="en-US" sz="1600" dirty="0"/>
          </a:p>
          <a:p>
            <a:pPr indent="0" marL="0">
              <a:buNone/>
            </a:pPr>
            <a:r>
              <a:rPr lang="en-US" sz="1100" dirty="0">
                <a:solidFill>
                  <a:schemeClr val="accent1"/>
                </a:solidFill>
              </a:rPr>
              <a:t>Webster's uniform delay</a:t>
            </a:r>
            <a:endParaRPr lang="en-US" sz="1600" dirty="0"/>
          </a:p>
        </p:txBody>
      </p:sp>
      <p:sp>
        <p:nvSpPr>
          <p:cNvPr id="10" name="Flow formula box 2"/>
          <p:cNvSpPr/>
          <p:nvPr/>
        </p:nvSpPr>
        <p:spPr>
          <a:xfrm>
            <a:off x="4538472" y="2121408"/>
            <a:ext cx="3112008" cy="731520"/>
          </a:xfrm>
          <a:prstGeom prst="roundRect">
            <a:avLst>
              <a:gd name="adj" fmla="val 10000"/>
            </a:avLst>
          </a:prstGeom>
          <a:solidFill>
            <a:schemeClr val="tx1"/>
          </a:solidFill>
          <a:ln/>
        </p:spPr>
      </p:sp>
      <p:pic>
        <p:nvPicPr>
          <p:cNvPr id="11" name="Flow formula 2" descr="d equals C times one minus lambda squared, over two times one minus lambda x">    </p:cNvPr>
          <p:cNvPicPr>
            <a:picLocks noChangeAspect="1"/>
          </p:cNvPicPr>
          <p:nvPr/>
        </p:nvPicPr>
        <p:blipFill>
          <a:blip r:embed="rId2"/>
          <a:stretch>
            <a:fillRect/>
          </a:stretch>
        </p:blipFill>
        <p:spPr>
          <a:xfrm>
            <a:off x="4675632" y="2241114"/>
            <a:ext cx="1324737" cy="492107"/>
          </a:xfrm>
          <a:prstGeom prst="rect">
            <a:avLst/>
          </a:prstGeom>
        </p:spPr>
      </p:pic>
      <p:sp>
        <p:nvSpPr>
          <p:cNvPr id="12" name="Flow text 2"/>
          <p:cNvSpPr txBox="1"/>
          <p:nvPr/>
        </p:nvSpPr>
        <p:spPr>
          <a:xfrm>
            <a:off x="4538472" y="2926080"/>
            <a:ext cx="3112008" cy="530352"/>
          </a:xfrm>
          <a:prstGeom prst="rect">
            <a:avLst/>
          </a:prstGeom>
          <a:noFill/>
          <a:ln/>
        </p:spPr>
        <p:txBody>
          <a:bodyPr wrap="square" lIns="0" tIns="0" rIns="0" bIns="0" rtlCol="0" anchor="t"/>
          <a:lstStyle/>
          <a:p>
            <a:pPr indent="0" marL="0">
              <a:buNone/>
            </a:pPr>
            <a:r>
              <a:rPr lang="en-US" sz="1200" dirty="0">
                <a:solidFill>
                  <a:schemeClr val="bg2"/>
                </a:solidFill>
              </a:rPr>
              <a:t>Cycle C = 90 s, green ratio λ = 0.45, x = degree of saturation. Busy signal ≈ 23 s.</a:t>
            </a:r>
            <a:endParaRPr lang="en-US" sz="1200" dirty="0"/>
          </a:p>
        </p:txBody>
      </p:sp>
      <p:sp>
        <p:nvSpPr>
          <p:cNvPr id="13" name="Flow card 3"/>
          <p:cNvSpPr/>
          <p:nvPr/>
        </p:nvSpPr>
        <p:spPr>
          <a:xfrm>
            <a:off x="8125968" y="1371600"/>
            <a:ext cx="3514344" cy="2148840"/>
          </a:xfrm>
          <a:prstGeom prst="roundRect">
            <a:avLst>
              <a:gd name="adj" fmla="val 5106"/>
            </a:avLst>
          </a:prstGeom>
          <a:solidFill>
            <a:schemeClr val="tx2"/>
          </a:solidFill>
          <a:ln/>
        </p:spPr>
      </p:sp>
      <p:sp>
        <p:nvSpPr>
          <p:cNvPr id="14" name="Flow title 3"/>
          <p:cNvSpPr txBox="1"/>
          <p:nvPr/>
        </p:nvSpPr>
        <p:spPr>
          <a:xfrm>
            <a:off x="8327136" y="1499616"/>
            <a:ext cx="3112008" cy="566928"/>
          </a:xfrm>
          <a:prstGeom prst="rect">
            <a:avLst/>
          </a:prstGeom>
          <a:noFill/>
          <a:ln/>
        </p:spPr>
        <p:txBody>
          <a:bodyPr wrap="square" lIns="0" tIns="0" rIns="0" bIns="0" rtlCol="0" anchor="t"/>
          <a:lstStyle/>
          <a:p>
            <a:pPr indent="0" marL="0">
              <a:buNone/>
            </a:pPr>
            <a:r>
              <a:rPr lang="en-US" sz="1600" b="1" dirty="0">
                <a:solidFill>
                  <a:schemeClr val="bg1"/>
                </a:solidFill>
              </a:rPr>
              <a:t>Time-of-day risk</a:t>
            </a:r>
            <a:endParaRPr lang="en-US" sz="1600" dirty="0"/>
          </a:p>
          <a:p>
            <a:pPr indent="0" marL="0">
              <a:buNone/>
            </a:pPr>
            <a:r>
              <a:rPr lang="en-US" sz="1100" dirty="0">
                <a:solidFill>
                  <a:schemeClr val="accent1"/>
                </a:solidFill>
              </a:rPr>
              <a:t>MoRTH 2022, Table 7.3</a:t>
            </a:r>
            <a:endParaRPr lang="en-US" sz="1600" dirty="0"/>
          </a:p>
        </p:txBody>
      </p:sp>
      <p:sp>
        <p:nvSpPr>
          <p:cNvPr id="15" name="Flow formula box 3"/>
          <p:cNvSpPr/>
          <p:nvPr/>
        </p:nvSpPr>
        <p:spPr>
          <a:xfrm>
            <a:off x="8327136" y="2121408"/>
            <a:ext cx="3112008" cy="731520"/>
          </a:xfrm>
          <a:prstGeom prst="roundRect">
            <a:avLst>
              <a:gd name="adj" fmla="val 10000"/>
            </a:avLst>
          </a:prstGeom>
          <a:solidFill>
            <a:schemeClr val="tx1"/>
          </a:solidFill>
          <a:ln/>
        </p:spPr>
      </p:sp>
      <p:pic>
        <p:nvPicPr>
          <p:cNvPr id="16" name="Flow formula 3" descr="TOD of h equals share of crashes in h over share of traffic in h">    </p:cNvPr>
          <p:cNvPicPr>
            <a:picLocks noChangeAspect="1"/>
          </p:cNvPicPr>
          <p:nvPr/>
        </p:nvPicPr>
        <p:blipFill>
          <a:blip r:embed="rId3"/>
          <a:stretch>
            <a:fillRect/>
          </a:stretch>
        </p:blipFill>
        <p:spPr>
          <a:xfrm>
            <a:off x="8464296" y="2282985"/>
            <a:ext cx="2754932" cy="408366"/>
          </a:xfrm>
          <a:prstGeom prst="rect">
            <a:avLst/>
          </a:prstGeom>
        </p:spPr>
      </p:pic>
      <p:sp>
        <p:nvSpPr>
          <p:cNvPr id="17" name="Flow text 3"/>
          <p:cNvSpPr txBox="1"/>
          <p:nvPr/>
        </p:nvSpPr>
        <p:spPr>
          <a:xfrm>
            <a:off x="8327136" y="2926080"/>
            <a:ext cx="3112008" cy="530352"/>
          </a:xfrm>
          <a:prstGeom prst="rect">
            <a:avLst/>
          </a:prstGeom>
          <a:noFill/>
          <a:ln/>
        </p:spPr>
        <p:txBody>
          <a:bodyPr wrap="square" lIns="0" tIns="0" rIns="0" bIns="0" rtlCol="0" anchor="t"/>
          <a:lstStyle/>
          <a:p>
            <a:pPr indent="0" marL="0">
              <a:buNone/>
            </a:pPr>
            <a:r>
              <a:rPr lang="en-US" sz="1200" dirty="0">
                <a:solidFill>
                  <a:schemeClr val="bg2"/>
                </a:solidFill>
              </a:rPr>
              <a:t>Risk per vehicle-km: 00–06 h ≈ 1.3×, 09–12 h ≈ 0.8×, 21–24 h ≈ 1.16×.</a:t>
            </a:r>
            <a:endParaRPr lang="en-US" sz="1200" dirty="0"/>
          </a:p>
        </p:txBody>
      </p:sp>
      <p:sp>
        <p:nvSpPr>
          <p:cNvPr id="18" name="Flow card 4"/>
          <p:cNvSpPr/>
          <p:nvPr/>
        </p:nvSpPr>
        <p:spPr>
          <a:xfrm>
            <a:off x="548640" y="3721608"/>
            <a:ext cx="3514344" cy="2148840"/>
          </a:xfrm>
          <a:prstGeom prst="roundRect">
            <a:avLst>
              <a:gd name="adj" fmla="val 5106"/>
            </a:avLst>
          </a:prstGeom>
          <a:solidFill>
            <a:schemeClr val="tx2"/>
          </a:solidFill>
          <a:ln/>
        </p:spPr>
      </p:sp>
      <p:sp>
        <p:nvSpPr>
          <p:cNvPr id="19" name="Flow title 4"/>
          <p:cNvSpPr txBox="1"/>
          <p:nvPr/>
        </p:nvSpPr>
        <p:spPr>
          <a:xfrm>
            <a:off x="749808" y="3849624"/>
            <a:ext cx="3112008" cy="566928"/>
          </a:xfrm>
          <a:prstGeom prst="rect">
            <a:avLst/>
          </a:prstGeom>
          <a:noFill/>
          <a:ln/>
        </p:spPr>
        <p:txBody>
          <a:bodyPr wrap="square" lIns="0" tIns="0" rIns="0" bIns="0" rtlCol="0" anchor="t"/>
          <a:lstStyle/>
          <a:p>
            <a:pPr indent="0" marL="0">
              <a:buNone/>
            </a:pPr>
            <a:r>
              <a:rPr lang="en-US" sz="1600" b="1" dirty="0">
                <a:solidFill>
                  <a:schemeClr val="bg1"/>
                </a:solidFill>
              </a:rPr>
              <a:t>Pedestrian fatality</a:t>
            </a:r>
            <a:endParaRPr lang="en-US" sz="1600" dirty="0"/>
          </a:p>
          <a:p>
            <a:pPr indent="0" marL="0">
              <a:buNone/>
            </a:pPr>
            <a:r>
              <a:rPr lang="en-US" sz="1100" dirty="0">
                <a:solidFill>
                  <a:schemeClr val="accent1"/>
                </a:solidFill>
              </a:rPr>
              <a:t>Rosén &amp; Sander (2009)</a:t>
            </a:r>
            <a:endParaRPr lang="en-US" sz="1600" dirty="0"/>
          </a:p>
        </p:txBody>
      </p:sp>
      <p:sp>
        <p:nvSpPr>
          <p:cNvPr id="20" name="Flow formula box 4"/>
          <p:cNvSpPr/>
          <p:nvPr/>
        </p:nvSpPr>
        <p:spPr>
          <a:xfrm>
            <a:off x="749808" y="4471416"/>
            <a:ext cx="3112008" cy="731520"/>
          </a:xfrm>
          <a:prstGeom prst="roundRect">
            <a:avLst>
              <a:gd name="adj" fmla="val 10000"/>
            </a:avLst>
          </a:prstGeom>
          <a:solidFill>
            <a:schemeClr val="tx1"/>
          </a:solidFill>
          <a:ln/>
        </p:spPr>
      </p:sp>
      <p:pic>
        <p:nvPicPr>
          <p:cNvPr id="21" name="Flow formula 4" descr="P of v equals 1 over 1 plus e to the 6.9 minus 0.09 v">    </p:cNvPr>
          <p:cNvPicPr>
            <a:picLocks noChangeAspect="1"/>
          </p:cNvPicPr>
          <p:nvPr/>
        </p:nvPicPr>
        <p:blipFill>
          <a:blip r:embed="rId4"/>
          <a:stretch>
            <a:fillRect/>
          </a:stretch>
        </p:blipFill>
        <p:spPr>
          <a:xfrm>
            <a:off x="886968" y="4626478"/>
            <a:ext cx="1856630" cy="421397"/>
          </a:xfrm>
          <a:prstGeom prst="rect">
            <a:avLst/>
          </a:prstGeom>
        </p:spPr>
      </p:pic>
      <p:sp>
        <p:nvSpPr>
          <p:cNvPr id="22" name="Flow text 4"/>
          <p:cNvSpPr txBox="1"/>
          <p:nvPr/>
        </p:nvSpPr>
        <p:spPr>
          <a:xfrm>
            <a:off x="749808" y="5276088"/>
            <a:ext cx="3112008" cy="530352"/>
          </a:xfrm>
          <a:prstGeom prst="rect">
            <a:avLst/>
          </a:prstGeom>
          <a:noFill/>
          <a:ln/>
        </p:spPr>
        <p:txBody>
          <a:bodyPr wrap="square" lIns="0" tIns="0" rIns="0" bIns="0" rtlCol="0" anchor="t"/>
          <a:lstStyle/>
          <a:p>
            <a:pPr indent="0" marL="0">
              <a:buNone/>
            </a:pPr>
            <a:r>
              <a:rPr lang="en-US" sz="1200" dirty="0">
                <a:solidFill>
                  <a:schemeClr val="bg2"/>
                </a:solidFill>
              </a:rPr>
              <a:t>Chance a struck pedestrian dies: 1.5% at 30 km/h, 8% at 50, 18% at 60.</a:t>
            </a:r>
            <a:endParaRPr lang="en-US" sz="1200" dirty="0"/>
          </a:p>
        </p:txBody>
      </p:sp>
      <p:sp>
        <p:nvSpPr>
          <p:cNvPr id="23" name="Flow card 5"/>
          <p:cNvSpPr/>
          <p:nvPr/>
        </p:nvSpPr>
        <p:spPr>
          <a:xfrm>
            <a:off x="4337304" y="3721608"/>
            <a:ext cx="3514344" cy="2148840"/>
          </a:xfrm>
          <a:prstGeom prst="roundRect">
            <a:avLst>
              <a:gd name="adj" fmla="val 5106"/>
            </a:avLst>
          </a:prstGeom>
          <a:solidFill>
            <a:schemeClr val="tx2"/>
          </a:solidFill>
          <a:ln/>
        </p:spPr>
      </p:sp>
      <p:sp>
        <p:nvSpPr>
          <p:cNvPr id="24" name="Flow title 5"/>
          <p:cNvSpPr txBox="1"/>
          <p:nvPr/>
        </p:nvSpPr>
        <p:spPr>
          <a:xfrm>
            <a:off x="4538472" y="3849624"/>
            <a:ext cx="3112008" cy="566928"/>
          </a:xfrm>
          <a:prstGeom prst="rect">
            <a:avLst/>
          </a:prstGeom>
          <a:noFill/>
          <a:ln/>
        </p:spPr>
        <p:txBody>
          <a:bodyPr wrap="square" lIns="0" tIns="0" rIns="0" bIns="0" rtlCol="0" anchor="t"/>
          <a:lstStyle/>
          <a:p>
            <a:pPr indent="0" marL="0">
              <a:buNone/>
            </a:pPr>
            <a:r>
              <a:rPr lang="en-US" sz="1600" b="1" dirty="0">
                <a:solidFill>
                  <a:schemeClr val="bg1"/>
                </a:solidFill>
              </a:rPr>
              <a:t>Calibration to MoRTH</a:t>
            </a:r>
            <a:endParaRPr lang="en-US" sz="1600" dirty="0"/>
          </a:p>
          <a:p>
            <a:pPr indent="0" marL="0">
              <a:buNone/>
            </a:pPr>
            <a:r>
              <a:rPr lang="en-US" sz="1100" dirty="0">
                <a:solidFill>
                  <a:schemeClr val="accent1"/>
                </a:solidFill>
              </a:rPr>
              <a:t>City crash totals, 2022</a:t>
            </a:r>
            <a:endParaRPr lang="en-US" sz="1600" dirty="0"/>
          </a:p>
        </p:txBody>
      </p:sp>
      <p:sp>
        <p:nvSpPr>
          <p:cNvPr id="25" name="Flow formula box 5"/>
          <p:cNvSpPr/>
          <p:nvPr/>
        </p:nvSpPr>
        <p:spPr>
          <a:xfrm>
            <a:off x="4538472" y="4471416"/>
            <a:ext cx="3112008" cy="731520"/>
          </a:xfrm>
          <a:prstGeom prst="roundRect">
            <a:avLst>
              <a:gd name="adj" fmla="val 10000"/>
            </a:avLst>
          </a:prstGeom>
          <a:solidFill>
            <a:schemeClr val="tx1"/>
          </a:solidFill>
          <a:ln/>
        </p:spPr>
      </p:sp>
      <p:pic>
        <p:nvPicPr>
          <p:cNvPr id="26" name="Flow formula 5" descr="k equals N MoRTH over the sum of exposure over all road links">    </p:cNvPr>
          <p:cNvPicPr>
            <a:picLocks noChangeAspect="1"/>
          </p:cNvPicPr>
          <p:nvPr/>
        </p:nvPicPr>
        <p:blipFill>
          <a:blip r:embed="rId5"/>
          <a:stretch>
            <a:fillRect/>
          </a:stretch>
        </p:blipFill>
        <p:spPr>
          <a:xfrm>
            <a:off x="4675632" y="4605065"/>
            <a:ext cx="1602975" cy="464223"/>
          </a:xfrm>
          <a:prstGeom prst="rect">
            <a:avLst/>
          </a:prstGeom>
        </p:spPr>
      </p:pic>
      <p:sp>
        <p:nvSpPr>
          <p:cNvPr id="27" name="Flow text 5"/>
          <p:cNvSpPr txBox="1"/>
          <p:nvPr/>
        </p:nvSpPr>
        <p:spPr>
          <a:xfrm>
            <a:off x="4538472" y="5276088"/>
            <a:ext cx="3112008" cy="530352"/>
          </a:xfrm>
          <a:prstGeom prst="rect">
            <a:avLst/>
          </a:prstGeom>
          <a:noFill/>
          <a:ln/>
        </p:spPr>
        <p:txBody>
          <a:bodyPr wrap="square" lIns="0" tIns="0" rIns="0" bIns="0" rtlCol="0" anchor="t"/>
          <a:lstStyle/>
          <a:p>
            <a:pPr indent="0" marL="0">
              <a:buNone/>
            </a:pPr>
            <a:r>
              <a:rPr lang="en-US" sz="1200" dirty="0">
                <a:solidFill>
                  <a:schemeClr val="bg2"/>
                </a:solidFill>
              </a:rPr>
              <a:t>Scales the model so predicted yearly crashes equal the official total (Surat 683).</a:t>
            </a:r>
            <a:endParaRPr lang="en-US" sz="1200" dirty="0"/>
          </a:p>
        </p:txBody>
      </p:sp>
      <p:sp>
        <p:nvSpPr>
          <p:cNvPr id="28" name="Flow card 6"/>
          <p:cNvSpPr/>
          <p:nvPr/>
        </p:nvSpPr>
        <p:spPr>
          <a:xfrm>
            <a:off x="8125968" y="3721608"/>
            <a:ext cx="3514344" cy="2148840"/>
          </a:xfrm>
          <a:prstGeom prst="roundRect">
            <a:avLst>
              <a:gd name="adj" fmla="val 5106"/>
            </a:avLst>
          </a:prstGeom>
          <a:solidFill>
            <a:schemeClr val="tx2"/>
          </a:solidFill>
          <a:ln/>
        </p:spPr>
      </p:sp>
      <p:sp>
        <p:nvSpPr>
          <p:cNvPr id="29" name="Flow title 6"/>
          <p:cNvSpPr txBox="1"/>
          <p:nvPr/>
        </p:nvSpPr>
        <p:spPr>
          <a:xfrm>
            <a:off x="8327136" y="3849624"/>
            <a:ext cx="3112008" cy="566928"/>
          </a:xfrm>
          <a:prstGeom prst="rect">
            <a:avLst/>
          </a:prstGeom>
          <a:noFill/>
          <a:ln/>
        </p:spPr>
        <p:txBody>
          <a:bodyPr wrap="square" lIns="0" tIns="0" rIns="0" bIns="0" rtlCol="0" anchor="t"/>
          <a:lstStyle/>
          <a:p>
            <a:pPr indent="0" marL="0">
              <a:buNone/>
            </a:pPr>
            <a:r>
              <a:rPr lang="en-US" sz="1600" b="1" dirty="0">
                <a:solidFill>
                  <a:schemeClr val="bg1"/>
                </a:solidFill>
              </a:rPr>
              <a:t>Safety score (0–100)</a:t>
            </a:r>
            <a:endParaRPr lang="en-US" sz="1600" dirty="0"/>
          </a:p>
          <a:p>
            <a:pPr indent="0" marL="0">
              <a:buNone/>
            </a:pPr>
            <a:r>
              <a:rPr lang="en-US" sz="1100" dirty="0">
                <a:solidFill>
                  <a:schemeClr val="accent1"/>
                </a:solidFill>
              </a:rPr>
              <a:t>Route safety index</a:t>
            </a:r>
            <a:endParaRPr lang="en-US" sz="1600" dirty="0"/>
          </a:p>
        </p:txBody>
      </p:sp>
      <p:sp>
        <p:nvSpPr>
          <p:cNvPr id="30" name="Flow formula box 6"/>
          <p:cNvSpPr/>
          <p:nvPr/>
        </p:nvSpPr>
        <p:spPr>
          <a:xfrm>
            <a:off x="8327136" y="4471416"/>
            <a:ext cx="3112008" cy="731520"/>
          </a:xfrm>
          <a:prstGeom prst="roundRect">
            <a:avLst>
              <a:gd name="adj" fmla="val 10000"/>
            </a:avLst>
          </a:prstGeom>
          <a:solidFill>
            <a:schemeClr val="tx1"/>
          </a:solidFill>
          <a:ln/>
        </p:spPr>
      </p:sp>
      <p:pic>
        <p:nvPicPr>
          <p:cNvPr id="31" name="Flow formula 6" descr="Score equals 100 times exp of minus ln of 100 over 70 times r over r bar">    </p:cNvPr>
          <p:cNvPicPr>
            <a:picLocks noChangeAspect="1"/>
          </p:cNvPicPr>
          <p:nvPr/>
        </p:nvPicPr>
        <p:blipFill>
          <a:blip r:embed="rId6"/>
          <a:stretch>
            <a:fillRect/>
          </a:stretch>
        </p:blipFill>
        <p:spPr>
          <a:xfrm>
            <a:off x="8464296" y="4601416"/>
            <a:ext cx="2751805" cy="471520"/>
          </a:xfrm>
          <a:prstGeom prst="rect">
            <a:avLst/>
          </a:prstGeom>
        </p:spPr>
      </p:pic>
      <p:sp>
        <p:nvSpPr>
          <p:cNvPr id="32" name="Flow text 6"/>
          <p:cNvSpPr txBox="1"/>
          <p:nvPr/>
        </p:nvSpPr>
        <p:spPr>
          <a:xfrm>
            <a:off x="8327136" y="5276088"/>
            <a:ext cx="3112008" cy="530352"/>
          </a:xfrm>
          <a:prstGeom prst="rect">
            <a:avLst/>
          </a:prstGeom>
          <a:noFill/>
          <a:ln/>
        </p:spPr>
        <p:txBody>
          <a:bodyPr wrap="square" lIns="0" tIns="0" rIns="0" bIns="0" rtlCol="0" anchor="t"/>
          <a:lstStyle/>
          <a:p>
            <a:pPr indent="0" marL="0">
              <a:buNone/>
            </a:pPr>
            <a:r>
              <a:rPr lang="en-US" sz="1200" dirty="0">
                <a:solidFill>
                  <a:schemeClr val="bg2"/>
                </a:solidFill>
              </a:rPr>
              <a:t>r = route risk per km, r̄ = average road. 70 = average road, higher is safer.</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The risk model, step by step</a:t>
            </a:r>
            <a:endParaRPr lang="en-US" sz="3200" dirty="0"/>
          </a:p>
        </p:txBody>
      </p:sp>
      <p:sp>
        <p:nvSpPr>
          <p:cNvPr id="3" name="Step card 1"/>
          <p:cNvSpPr/>
          <p:nvPr/>
        </p:nvSpPr>
        <p:spPr>
          <a:xfrm>
            <a:off x="548640" y="1463040"/>
            <a:ext cx="1691640" cy="2148840"/>
          </a:xfrm>
          <a:prstGeom prst="roundRect">
            <a:avLst>
              <a:gd name="adj" fmla="val 6486"/>
            </a:avLst>
          </a:prstGeom>
          <a:solidFill>
            <a:schemeClr val="tx2"/>
          </a:solidFill>
          <a:ln/>
        </p:spPr>
      </p:sp>
      <p:sp>
        <p:nvSpPr>
          <p:cNvPr id="4" name="Step 1 circle"/>
          <p:cNvSpPr/>
          <p:nvPr/>
        </p:nvSpPr>
        <p:spPr>
          <a:xfrm>
            <a:off x="1110996" y="1645920"/>
            <a:ext cx="566928" cy="566928"/>
          </a:xfrm>
          <a:prstGeom prst="ellipse">
            <a:avLst/>
          </a:prstGeom>
          <a:solidFill>
            <a:schemeClr val="accent2"/>
          </a:solidFill>
          <a:ln/>
        </p:spPr>
      </p:sp>
      <p:pic>
        <p:nvPicPr>
          <p:cNvPr id="5" name="Step 1 icon" descr="preencoded.png">    </p:cNvPr>
          <p:cNvPicPr>
            <a:picLocks noChangeAspect="1"/>
          </p:cNvPicPr>
          <p:nvPr/>
        </p:nvPicPr>
        <p:blipFill>
          <a:blip r:embed="rId1"/>
          <a:stretch>
            <a:fillRect/>
          </a:stretch>
        </p:blipFill>
        <p:spPr>
          <a:xfrm>
            <a:off x="1252728" y="1787652"/>
            <a:ext cx="283464" cy="283464"/>
          </a:xfrm>
          <a:prstGeom prst="rect">
            <a:avLst/>
          </a:prstGeom>
        </p:spPr>
      </p:pic>
      <p:sp>
        <p:nvSpPr>
          <p:cNvPr id="6" name="Step title 1"/>
          <p:cNvSpPr txBox="1"/>
          <p:nvPr/>
        </p:nvSpPr>
        <p:spPr>
          <a:xfrm>
            <a:off x="658368" y="2304288"/>
            <a:ext cx="1472184" cy="365760"/>
          </a:xfrm>
          <a:prstGeom prst="rect">
            <a:avLst/>
          </a:prstGeom>
          <a:noFill/>
          <a:ln/>
        </p:spPr>
        <p:txBody>
          <a:bodyPr wrap="square" lIns="0" tIns="0" rIns="0" bIns="0" rtlCol="0" anchor="ctr"/>
          <a:lstStyle/>
          <a:p>
            <a:pPr algn="ctr" indent="0" marL="0">
              <a:buNone/>
            </a:pPr>
            <a:r>
              <a:rPr lang="en-US" sz="1500" b="1" dirty="0">
                <a:solidFill>
                  <a:schemeClr val="bg1"/>
                </a:solidFill>
              </a:rPr>
              <a:t>Road graph</a:t>
            </a:r>
            <a:endParaRPr lang="en-US" sz="1500" dirty="0"/>
          </a:p>
        </p:txBody>
      </p:sp>
      <p:sp>
        <p:nvSpPr>
          <p:cNvPr id="7" name="Step text 1"/>
          <p:cNvSpPr txBox="1"/>
          <p:nvPr/>
        </p:nvSpPr>
        <p:spPr>
          <a:xfrm>
            <a:off x="658368" y="2670048"/>
            <a:ext cx="1472184" cy="822960"/>
          </a:xfrm>
          <a:prstGeom prst="rect">
            <a:avLst/>
          </a:prstGeom>
          <a:noFill/>
          <a:ln/>
        </p:spPr>
        <p:txBody>
          <a:bodyPr wrap="square" lIns="0" tIns="0" rIns="0" bIns="0" rtlCol="0" anchor="t"/>
          <a:lstStyle/>
          <a:p>
            <a:pPr algn="ctr" indent="0" marL="0">
              <a:buNone/>
            </a:pPr>
            <a:r>
              <a:rPr lang="en-US" sz="1200" dirty="0">
                <a:solidFill>
                  <a:schemeClr val="bg2"/>
                </a:solidFill>
              </a:rPr>
              <a:t>OSM roads become a directed graph</a:t>
            </a:r>
            <a:endParaRPr lang="en-US" sz="1200" dirty="0"/>
          </a:p>
        </p:txBody>
      </p:sp>
      <p:sp>
        <p:nvSpPr>
          <p:cNvPr id="8" name="Arrow 1"/>
          <p:cNvSpPr txBox="1"/>
          <p:nvPr/>
        </p:nvSpPr>
        <p:spPr>
          <a:xfrm>
            <a:off x="2221992" y="2240280"/>
            <a:ext cx="219456"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9" name="Step card 2"/>
          <p:cNvSpPr/>
          <p:nvPr/>
        </p:nvSpPr>
        <p:spPr>
          <a:xfrm>
            <a:off x="2423160" y="1463040"/>
            <a:ext cx="1691640" cy="2148840"/>
          </a:xfrm>
          <a:prstGeom prst="roundRect">
            <a:avLst>
              <a:gd name="adj" fmla="val 6486"/>
            </a:avLst>
          </a:prstGeom>
          <a:solidFill>
            <a:schemeClr val="tx2"/>
          </a:solidFill>
          <a:ln/>
        </p:spPr>
      </p:sp>
      <p:sp>
        <p:nvSpPr>
          <p:cNvPr id="10" name="Step 2 circle"/>
          <p:cNvSpPr/>
          <p:nvPr/>
        </p:nvSpPr>
        <p:spPr>
          <a:xfrm>
            <a:off x="2985516" y="1645920"/>
            <a:ext cx="566928" cy="566928"/>
          </a:xfrm>
          <a:prstGeom prst="ellipse">
            <a:avLst/>
          </a:prstGeom>
          <a:solidFill>
            <a:schemeClr val="accent2"/>
          </a:solidFill>
          <a:ln/>
        </p:spPr>
      </p:sp>
      <p:pic>
        <p:nvPicPr>
          <p:cNvPr id="11" name="Step 2 icon" descr="preencoded.png">    </p:cNvPr>
          <p:cNvPicPr>
            <a:picLocks noChangeAspect="1"/>
          </p:cNvPicPr>
          <p:nvPr/>
        </p:nvPicPr>
        <p:blipFill>
          <a:blip r:embed="rId2"/>
          <a:stretch>
            <a:fillRect/>
          </a:stretch>
        </p:blipFill>
        <p:spPr>
          <a:xfrm>
            <a:off x="3127248" y="1787652"/>
            <a:ext cx="283464" cy="283464"/>
          </a:xfrm>
          <a:prstGeom prst="rect">
            <a:avLst/>
          </a:prstGeom>
        </p:spPr>
      </p:pic>
      <p:sp>
        <p:nvSpPr>
          <p:cNvPr id="12" name="Step title 2"/>
          <p:cNvSpPr txBox="1"/>
          <p:nvPr/>
        </p:nvSpPr>
        <p:spPr>
          <a:xfrm>
            <a:off x="2532888" y="2304288"/>
            <a:ext cx="1472184" cy="365760"/>
          </a:xfrm>
          <a:prstGeom prst="rect">
            <a:avLst/>
          </a:prstGeom>
          <a:noFill/>
          <a:ln/>
        </p:spPr>
        <p:txBody>
          <a:bodyPr wrap="square" lIns="0" tIns="0" rIns="0" bIns="0" rtlCol="0" anchor="ctr"/>
          <a:lstStyle/>
          <a:p>
            <a:pPr algn="ctr" indent="0" marL="0">
              <a:buNone/>
            </a:pPr>
            <a:r>
              <a:rPr lang="en-US" sz="1500" b="1" dirty="0">
                <a:solidFill>
                  <a:schemeClr val="bg1"/>
                </a:solidFill>
              </a:rPr>
              <a:t>Features</a:t>
            </a:r>
            <a:endParaRPr lang="en-US" sz="1500" dirty="0"/>
          </a:p>
        </p:txBody>
      </p:sp>
      <p:sp>
        <p:nvSpPr>
          <p:cNvPr id="13" name="Step text 2"/>
          <p:cNvSpPr txBox="1"/>
          <p:nvPr/>
        </p:nvSpPr>
        <p:spPr>
          <a:xfrm>
            <a:off x="2532888" y="2670048"/>
            <a:ext cx="1472184" cy="822960"/>
          </a:xfrm>
          <a:prstGeom prst="rect">
            <a:avLst/>
          </a:prstGeom>
          <a:noFill/>
          <a:ln/>
        </p:spPr>
        <p:txBody>
          <a:bodyPr wrap="square" lIns="0" tIns="0" rIns="0" bIns="0" rtlCol="0" anchor="t"/>
          <a:lstStyle/>
          <a:p>
            <a:pPr algn="ctr" indent="0" marL="0">
              <a:buNone/>
            </a:pPr>
            <a:r>
              <a:rPr lang="en-US" sz="1200" dirty="0">
                <a:solidFill>
                  <a:schemeClr val="bg2"/>
                </a:solidFill>
              </a:rPr>
              <a:t>Speed, class, lighting, signals, bridges</a:t>
            </a:r>
            <a:endParaRPr lang="en-US" sz="1200" dirty="0"/>
          </a:p>
        </p:txBody>
      </p:sp>
      <p:sp>
        <p:nvSpPr>
          <p:cNvPr id="14" name="Arrow 2"/>
          <p:cNvSpPr txBox="1"/>
          <p:nvPr/>
        </p:nvSpPr>
        <p:spPr>
          <a:xfrm>
            <a:off x="4096512" y="2240280"/>
            <a:ext cx="219456"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15" name="Step card 3"/>
          <p:cNvSpPr/>
          <p:nvPr/>
        </p:nvSpPr>
        <p:spPr>
          <a:xfrm>
            <a:off x="4297680" y="1463040"/>
            <a:ext cx="1691640" cy="2148840"/>
          </a:xfrm>
          <a:prstGeom prst="roundRect">
            <a:avLst>
              <a:gd name="adj" fmla="val 6486"/>
            </a:avLst>
          </a:prstGeom>
          <a:solidFill>
            <a:schemeClr val="tx2"/>
          </a:solidFill>
          <a:ln/>
        </p:spPr>
      </p:sp>
      <p:sp>
        <p:nvSpPr>
          <p:cNvPr id="16" name="Step 3 circle"/>
          <p:cNvSpPr/>
          <p:nvPr/>
        </p:nvSpPr>
        <p:spPr>
          <a:xfrm>
            <a:off x="4860036" y="1645920"/>
            <a:ext cx="566928" cy="566928"/>
          </a:xfrm>
          <a:prstGeom prst="ellipse">
            <a:avLst/>
          </a:prstGeom>
          <a:solidFill>
            <a:schemeClr val="accent2"/>
          </a:solidFill>
          <a:ln/>
        </p:spPr>
      </p:sp>
      <p:pic>
        <p:nvPicPr>
          <p:cNvPr id="17" name="Step 3 icon" descr="preencoded.png">    </p:cNvPr>
          <p:cNvPicPr>
            <a:picLocks noChangeAspect="1"/>
          </p:cNvPicPr>
          <p:nvPr/>
        </p:nvPicPr>
        <p:blipFill>
          <a:blip r:embed="rId3"/>
          <a:stretch>
            <a:fillRect/>
          </a:stretch>
        </p:blipFill>
        <p:spPr>
          <a:xfrm>
            <a:off x="5001768" y="1787652"/>
            <a:ext cx="283464" cy="283464"/>
          </a:xfrm>
          <a:prstGeom prst="rect">
            <a:avLst/>
          </a:prstGeom>
        </p:spPr>
      </p:pic>
      <p:sp>
        <p:nvSpPr>
          <p:cNvPr id="18" name="Step title 3"/>
          <p:cNvSpPr txBox="1"/>
          <p:nvPr/>
        </p:nvSpPr>
        <p:spPr>
          <a:xfrm>
            <a:off x="4407408" y="2304288"/>
            <a:ext cx="1472184" cy="365760"/>
          </a:xfrm>
          <a:prstGeom prst="rect">
            <a:avLst/>
          </a:prstGeom>
          <a:noFill/>
          <a:ln/>
        </p:spPr>
        <p:txBody>
          <a:bodyPr wrap="square" lIns="0" tIns="0" rIns="0" bIns="0" rtlCol="0" anchor="ctr"/>
          <a:lstStyle/>
          <a:p>
            <a:pPr algn="ctr" indent="0" marL="0">
              <a:buNone/>
            </a:pPr>
            <a:r>
              <a:rPr lang="en-US" sz="1500" b="1" dirty="0">
                <a:solidFill>
                  <a:schemeClr val="bg1"/>
                </a:solidFill>
              </a:rPr>
              <a:t>Risk per edge</a:t>
            </a:r>
            <a:endParaRPr lang="en-US" sz="1500" dirty="0"/>
          </a:p>
        </p:txBody>
      </p:sp>
      <p:sp>
        <p:nvSpPr>
          <p:cNvPr id="19" name="Step text 3"/>
          <p:cNvSpPr txBox="1"/>
          <p:nvPr/>
        </p:nvSpPr>
        <p:spPr>
          <a:xfrm>
            <a:off x="4407408" y="2670048"/>
            <a:ext cx="1472184" cy="822960"/>
          </a:xfrm>
          <a:prstGeom prst="rect">
            <a:avLst/>
          </a:prstGeom>
          <a:noFill/>
          <a:ln/>
        </p:spPr>
        <p:txBody>
          <a:bodyPr wrap="square" lIns="0" tIns="0" rIns="0" bIns="0" rtlCol="0" anchor="t"/>
          <a:lstStyle/>
          <a:p>
            <a:pPr algn="ctr" indent="0" marL="0">
              <a:buNone/>
            </a:pPr>
            <a:r>
              <a:rPr lang="en-US" sz="1200" dirty="0">
                <a:solidFill>
                  <a:schemeClr val="bg2"/>
                </a:solidFill>
              </a:rPr>
              <a:t>Crash frequency × severity × time of day</a:t>
            </a:r>
            <a:endParaRPr lang="en-US" sz="1200" dirty="0"/>
          </a:p>
        </p:txBody>
      </p:sp>
      <p:sp>
        <p:nvSpPr>
          <p:cNvPr id="20" name="Arrow 3"/>
          <p:cNvSpPr txBox="1"/>
          <p:nvPr/>
        </p:nvSpPr>
        <p:spPr>
          <a:xfrm>
            <a:off x="5971032" y="2240280"/>
            <a:ext cx="219456"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21" name="Step card 4"/>
          <p:cNvSpPr/>
          <p:nvPr/>
        </p:nvSpPr>
        <p:spPr>
          <a:xfrm>
            <a:off x="6172200" y="1463040"/>
            <a:ext cx="1691640" cy="2148840"/>
          </a:xfrm>
          <a:prstGeom prst="roundRect">
            <a:avLst>
              <a:gd name="adj" fmla="val 6486"/>
            </a:avLst>
          </a:prstGeom>
          <a:solidFill>
            <a:schemeClr val="tx2"/>
          </a:solidFill>
          <a:ln/>
        </p:spPr>
      </p:sp>
      <p:sp>
        <p:nvSpPr>
          <p:cNvPr id="22" name="Step 4 circle"/>
          <p:cNvSpPr/>
          <p:nvPr/>
        </p:nvSpPr>
        <p:spPr>
          <a:xfrm>
            <a:off x="6734556" y="1645920"/>
            <a:ext cx="566928" cy="566928"/>
          </a:xfrm>
          <a:prstGeom prst="ellipse">
            <a:avLst/>
          </a:prstGeom>
          <a:solidFill>
            <a:schemeClr val="accent2"/>
          </a:solidFill>
          <a:ln/>
        </p:spPr>
      </p:sp>
      <p:pic>
        <p:nvPicPr>
          <p:cNvPr id="23" name="Step 4 icon" descr="preencoded.png">    </p:cNvPr>
          <p:cNvPicPr>
            <a:picLocks noChangeAspect="1"/>
          </p:cNvPicPr>
          <p:nvPr/>
        </p:nvPicPr>
        <p:blipFill>
          <a:blip r:embed="rId4"/>
          <a:stretch>
            <a:fillRect/>
          </a:stretch>
        </p:blipFill>
        <p:spPr>
          <a:xfrm>
            <a:off x="6876288" y="1787652"/>
            <a:ext cx="283464" cy="283464"/>
          </a:xfrm>
          <a:prstGeom prst="rect">
            <a:avLst/>
          </a:prstGeom>
        </p:spPr>
      </p:pic>
      <p:sp>
        <p:nvSpPr>
          <p:cNvPr id="24" name="Step title 4"/>
          <p:cNvSpPr txBox="1"/>
          <p:nvPr/>
        </p:nvSpPr>
        <p:spPr>
          <a:xfrm>
            <a:off x="6281928" y="2304288"/>
            <a:ext cx="1472184" cy="365760"/>
          </a:xfrm>
          <a:prstGeom prst="rect">
            <a:avLst/>
          </a:prstGeom>
          <a:noFill/>
          <a:ln/>
        </p:spPr>
        <p:txBody>
          <a:bodyPr wrap="square" lIns="0" tIns="0" rIns="0" bIns="0" rtlCol="0" anchor="ctr"/>
          <a:lstStyle/>
          <a:p>
            <a:pPr algn="ctr" indent="0" marL="0">
              <a:buNone/>
            </a:pPr>
            <a:r>
              <a:rPr lang="en-US" sz="1500" b="1" dirty="0">
                <a:solidFill>
                  <a:schemeClr val="bg1"/>
                </a:solidFill>
              </a:rPr>
              <a:t>Calibrate</a:t>
            </a:r>
            <a:endParaRPr lang="en-US" sz="1500" dirty="0"/>
          </a:p>
        </p:txBody>
      </p:sp>
      <p:sp>
        <p:nvSpPr>
          <p:cNvPr id="25" name="Step text 4"/>
          <p:cNvSpPr txBox="1"/>
          <p:nvPr/>
        </p:nvSpPr>
        <p:spPr>
          <a:xfrm>
            <a:off x="6281928" y="2670048"/>
            <a:ext cx="1472184" cy="822960"/>
          </a:xfrm>
          <a:prstGeom prst="rect">
            <a:avLst/>
          </a:prstGeom>
          <a:noFill/>
          <a:ln/>
        </p:spPr>
        <p:txBody>
          <a:bodyPr wrap="square" lIns="0" tIns="0" rIns="0" bIns="0" rtlCol="0" anchor="t"/>
          <a:lstStyle/>
          <a:p>
            <a:pPr algn="ctr" indent="0" marL="0">
              <a:buNone/>
            </a:pPr>
            <a:r>
              <a:rPr lang="en-US" sz="1200" dirty="0">
                <a:solidFill>
                  <a:schemeClr val="bg2"/>
                </a:solidFill>
              </a:rPr>
              <a:t>Totals match MoRTH 2022 crashes</a:t>
            </a:r>
            <a:endParaRPr lang="en-US" sz="1200" dirty="0"/>
          </a:p>
        </p:txBody>
      </p:sp>
      <p:sp>
        <p:nvSpPr>
          <p:cNvPr id="26" name="Arrow 4"/>
          <p:cNvSpPr txBox="1"/>
          <p:nvPr/>
        </p:nvSpPr>
        <p:spPr>
          <a:xfrm>
            <a:off x="7845552" y="2240280"/>
            <a:ext cx="219456"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27" name="Step card 5"/>
          <p:cNvSpPr/>
          <p:nvPr/>
        </p:nvSpPr>
        <p:spPr>
          <a:xfrm>
            <a:off x="8046720" y="1463040"/>
            <a:ext cx="1691640" cy="2148840"/>
          </a:xfrm>
          <a:prstGeom prst="roundRect">
            <a:avLst>
              <a:gd name="adj" fmla="val 6486"/>
            </a:avLst>
          </a:prstGeom>
          <a:solidFill>
            <a:schemeClr val="tx2"/>
          </a:solidFill>
          <a:ln/>
        </p:spPr>
      </p:sp>
      <p:sp>
        <p:nvSpPr>
          <p:cNvPr id="28" name="Step 5 circle"/>
          <p:cNvSpPr/>
          <p:nvPr/>
        </p:nvSpPr>
        <p:spPr>
          <a:xfrm>
            <a:off x="8609076" y="1645920"/>
            <a:ext cx="566928" cy="566928"/>
          </a:xfrm>
          <a:prstGeom prst="ellipse">
            <a:avLst/>
          </a:prstGeom>
          <a:solidFill>
            <a:schemeClr val="accent2"/>
          </a:solidFill>
          <a:ln/>
        </p:spPr>
      </p:sp>
      <p:pic>
        <p:nvPicPr>
          <p:cNvPr id="29" name="Step 5 icon" descr="preencoded.png">    </p:cNvPr>
          <p:cNvPicPr>
            <a:picLocks noChangeAspect="1"/>
          </p:cNvPicPr>
          <p:nvPr/>
        </p:nvPicPr>
        <p:blipFill>
          <a:blip r:embed="rId5"/>
          <a:stretch>
            <a:fillRect/>
          </a:stretch>
        </p:blipFill>
        <p:spPr>
          <a:xfrm>
            <a:off x="8750808" y="1787652"/>
            <a:ext cx="283464" cy="283464"/>
          </a:xfrm>
          <a:prstGeom prst="rect">
            <a:avLst/>
          </a:prstGeom>
        </p:spPr>
      </p:pic>
      <p:sp>
        <p:nvSpPr>
          <p:cNvPr id="30" name="Step title 5"/>
          <p:cNvSpPr txBox="1"/>
          <p:nvPr/>
        </p:nvSpPr>
        <p:spPr>
          <a:xfrm>
            <a:off x="8156448" y="2304288"/>
            <a:ext cx="1472184" cy="365760"/>
          </a:xfrm>
          <a:prstGeom prst="rect">
            <a:avLst/>
          </a:prstGeom>
          <a:noFill/>
          <a:ln/>
        </p:spPr>
        <p:txBody>
          <a:bodyPr wrap="square" lIns="0" tIns="0" rIns="0" bIns="0" rtlCol="0" anchor="ctr"/>
          <a:lstStyle/>
          <a:p>
            <a:pPr algn="ctr" indent="0" marL="0">
              <a:buNone/>
            </a:pPr>
            <a:r>
              <a:rPr lang="en-US" sz="1500" b="1" dirty="0">
                <a:solidFill>
                  <a:schemeClr val="bg1"/>
                </a:solidFill>
              </a:rPr>
              <a:t>Add history</a:t>
            </a:r>
            <a:endParaRPr lang="en-US" sz="1500" dirty="0"/>
          </a:p>
        </p:txBody>
      </p:sp>
      <p:sp>
        <p:nvSpPr>
          <p:cNvPr id="31" name="Step text 5"/>
          <p:cNvSpPr txBox="1"/>
          <p:nvPr/>
        </p:nvSpPr>
        <p:spPr>
          <a:xfrm>
            <a:off x="8156448" y="2670048"/>
            <a:ext cx="1472184" cy="822960"/>
          </a:xfrm>
          <a:prstGeom prst="rect">
            <a:avLst/>
          </a:prstGeom>
          <a:noFill/>
          <a:ln/>
        </p:spPr>
        <p:txBody>
          <a:bodyPr wrap="square" lIns="0" tIns="0" rIns="0" bIns="0" rtlCol="0" anchor="t"/>
          <a:lstStyle/>
          <a:p>
            <a:pPr algn="ctr" indent="0" marL="0">
              <a:buNone/>
            </a:pPr>
            <a:r>
              <a:rPr lang="en-US" sz="1200" dirty="0">
                <a:solidFill>
                  <a:schemeClr val="bg2"/>
                </a:solidFill>
              </a:rPr>
              <a:t>Empirical Bayes at 22 blackspots</a:t>
            </a:r>
            <a:endParaRPr lang="en-US" sz="1200" dirty="0"/>
          </a:p>
        </p:txBody>
      </p:sp>
      <p:sp>
        <p:nvSpPr>
          <p:cNvPr id="32" name="Arrow 5"/>
          <p:cNvSpPr txBox="1"/>
          <p:nvPr/>
        </p:nvSpPr>
        <p:spPr>
          <a:xfrm>
            <a:off x="9720072" y="2240280"/>
            <a:ext cx="219456"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33" name="Step card 6"/>
          <p:cNvSpPr/>
          <p:nvPr/>
        </p:nvSpPr>
        <p:spPr>
          <a:xfrm>
            <a:off x="9921240" y="1463040"/>
            <a:ext cx="1691640" cy="2148840"/>
          </a:xfrm>
          <a:prstGeom prst="roundRect">
            <a:avLst>
              <a:gd name="adj" fmla="val 6486"/>
            </a:avLst>
          </a:prstGeom>
          <a:solidFill>
            <a:schemeClr val="tx2"/>
          </a:solidFill>
          <a:ln/>
        </p:spPr>
      </p:sp>
      <p:sp>
        <p:nvSpPr>
          <p:cNvPr id="34" name="Step 6 circle"/>
          <p:cNvSpPr/>
          <p:nvPr/>
        </p:nvSpPr>
        <p:spPr>
          <a:xfrm>
            <a:off x="10483596" y="1645920"/>
            <a:ext cx="566928" cy="566928"/>
          </a:xfrm>
          <a:prstGeom prst="ellipse">
            <a:avLst/>
          </a:prstGeom>
          <a:solidFill>
            <a:schemeClr val="accent2"/>
          </a:solidFill>
          <a:ln/>
        </p:spPr>
      </p:sp>
      <p:pic>
        <p:nvPicPr>
          <p:cNvPr id="35" name="Step 6 icon" descr="preencoded.png">    </p:cNvPr>
          <p:cNvPicPr>
            <a:picLocks noChangeAspect="1"/>
          </p:cNvPicPr>
          <p:nvPr/>
        </p:nvPicPr>
        <p:blipFill>
          <a:blip r:embed="rId6"/>
          <a:stretch>
            <a:fillRect/>
          </a:stretch>
        </p:blipFill>
        <p:spPr>
          <a:xfrm>
            <a:off x="10625328" y="1787652"/>
            <a:ext cx="283464" cy="283464"/>
          </a:xfrm>
          <a:prstGeom prst="rect">
            <a:avLst/>
          </a:prstGeom>
        </p:spPr>
      </p:pic>
      <p:sp>
        <p:nvSpPr>
          <p:cNvPr id="36" name="Step title 6"/>
          <p:cNvSpPr txBox="1"/>
          <p:nvPr/>
        </p:nvSpPr>
        <p:spPr>
          <a:xfrm>
            <a:off x="10030968" y="2304288"/>
            <a:ext cx="1472184" cy="365760"/>
          </a:xfrm>
          <a:prstGeom prst="rect">
            <a:avLst/>
          </a:prstGeom>
          <a:noFill/>
          <a:ln/>
        </p:spPr>
        <p:txBody>
          <a:bodyPr wrap="square" lIns="0" tIns="0" rIns="0" bIns="0" rtlCol="0" anchor="ctr"/>
          <a:lstStyle/>
          <a:p>
            <a:pPr algn="ctr" indent="0" marL="0">
              <a:buNone/>
            </a:pPr>
            <a:r>
              <a:rPr lang="en-US" sz="1500" b="1" dirty="0">
                <a:solidFill>
                  <a:schemeClr val="bg1"/>
                </a:solidFill>
              </a:rPr>
              <a:t>Safety score</a:t>
            </a:r>
            <a:endParaRPr lang="en-US" sz="1500" dirty="0"/>
          </a:p>
        </p:txBody>
      </p:sp>
      <p:sp>
        <p:nvSpPr>
          <p:cNvPr id="37" name="Step text 6"/>
          <p:cNvSpPr txBox="1"/>
          <p:nvPr/>
        </p:nvSpPr>
        <p:spPr>
          <a:xfrm>
            <a:off x="10030968" y="2670048"/>
            <a:ext cx="1472184" cy="822960"/>
          </a:xfrm>
          <a:prstGeom prst="rect">
            <a:avLst/>
          </a:prstGeom>
          <a:noFill/>
          <a:ln/>
        </p:spPr>
        <p:txBody>
          <a:bodyPr wrap="square" lIns="0" tIns="0" rIns="0" bIns="0" rtlCol="0" anchor="t"/>
          <a:lstStyle/>
          <a:p>
            <a:pPr algn="ctr" indent="0" marL="0">
              <a:buNone/>
            </a:pPr>
            <a:r>
              <a:rPr lang="en-US" sz="1200" dirty="0">
                <a:solidFill>
                  <a:schemeClr val="bg2"/>
                </a:solidFill>
              </a:rPr>
              <a:t>0–100 per route; 70 = average road</a:t>
            </a:r>
            <a:endParaRPr lang="en-US" sz="1200" dirty="0"/>
          </a:p>
        </p:txBody>
      </p:sp>
      <p:sp>
        <p:nvSpPr>
          <p:cNvPr id="38" name="Model number 1"/>
          <p:cNvSpPr/>
          <p:nvPr/>
        </p:nvSpPr>
        <p:spPr>
          <a:xfrm>
            <a:off x="548640" y="3840480"/>
            <a:ext cx="2606040" cy="1143000"/>
          </a:xfrm>
          <a:prstGeom prst="roundRect">
            <a:avLst>
              <a:gd name="adj" fmla="val 9600"/>
            </a:avLst>
          </a:prstGeom>
          <a:solidFill>
            <a:schemeClr val="tx2"/>
          </a:solidFill>
          <a:ln/>
        </p:spPr>
      </p:sp>
      <p:sp>
        <p:nvSpPr>
          <p:cNvPr id="39" name="Model value 1"/>
          <p:cNvSpPr txBox="1"/>
          <p:nvPr/>
        </p:nvSpPr>
        <p:spPr>
          <a:xfrm>
            <a:off x="731520" y="3904488"/>
            <a:ext cx="2286000" cy="548640"/>
          </a:xfrm>
          <a:prstGeom prst="rect">
            <a:avLst/>
          </a:prstGeom>
          <a:noFill/>
          <a:ln/>
        </p:spPr>
        <p:txBody>
          <a:bodyPr wrap="square" lIns="0" tIns="0" rIns="0" bIns="0" rtlCol="0" anchor="ctr"/>
          <a:lstStyle/>
          <a:p>
            <a:pPr indent="0" marL="0">
              <a:buNone/>
            </a:pPr>
            <a:r>
              <a:rPr lang="en-US" sz="2600" b="1" dirty="0">
                <a:solidFill>
                  <a:schemeClr val="accent1"/>
                </a:solidFill>
              </a:rPr>
              <a:t>2.3 lakh</a:t>
            </a:r>
            <a:endParaRPr lang="en-US" sz="2600" dirty="0"/>
          </a:p>
        </p:txBody>
      </p:sp>
      <p:sp>
        <p:nvSpPr>
          <p:cNvPr id="40" name="Model label 1"/>
          <p:cNvSpPr txBox="1"/>
          <p:nvPr/>
        </p:nvSpPr>
        <p:spPr>
          <a:xfrm>
            <a:off x="731520" y="4434840"/>
            <a:ext cx="2286000" cy="365760"/>
          </a:xfrm>
          <a:prstGeom prst="rect">
            <a:avLst/>
          </a:prstGeom>
          <a:noFill/>
          <a:ln/>
        </p:spPr>
        <p:txBody>
          <a:bodyPr wrap="square" lIns="0" tIns="0" rIns="0" bIns="0" rtlCol="0" anchor="ctr"/>
          <a:lstStyle/>
          <a:p>
            <a:pPr indent="0" marL="0">
              <a:buNone/>
            </a:pPr>
            <a:r>
              <a:rPr lang="en-US" sz="1300" dirty="0">
                <a:solidFill>
                  <a:schemeClr val="bg2"/>
                </a:solidFill>
              </a:rPr>
              <a:t>junctions modelled</a:t>
            </a:r>
            <a:endParaRPr lang="en-US" sz="1300" dirty="0"/>
          </a:p>
        </p:txBody>
      </p:sp>
      <p:sp>
        <p:nvSpPr>
          <p:cNvPr id="41" name="Model number 2"/>
          <p:cNvSpPr/>
          <p:nvPr/>
        </p:nvSpPr>
        <p:spPr>
          <a:xfrm>
            <a:off x="3383280" y="3840480"/>
            <a:ext cx="2606040" cy="1143000"/>
          </a:xfrm>
          <a:prstGeom prst="roundRect">
            <a:avLst>
              <a:gd name="adj" fmla="val 9600"/>
            </a:avLst>
          </a:prstGeom>
          <a:solidFill>
            <a:schemeClr val="tx2"/>
          </a:solidFill>
          <a:ln/>
        </p:spPr>
      </p:sp>
      <p:sp>
        <p:nvSpPr>
          <p:cNvPr id="42" name="Model value 2"/>
          <p:cNvSpPr txBox="1"/>
          <p:nvPr/>
        </p:nvSpPr>
        <p:spPr>
          <a:xfrm>
            <a:off x="3566160" y="3904488"/>
            <a:ext cx="2286000" cy="548640"/>
          </a:xfrm>
          <a:prstGeom prst="rect">
            <a:avLst/>
          </a:prstGeom>
          <a:noFill/>
          <a:ln/>
        </p:spPr>
        <p:txBody>
          <a:bodyPr wrap="square" lIns="0" tIns="0" rIns="0" bIns="0" rtlCol="0" anchor="ctr"/>
          <a:lstStyle/>
          <a:p>
            <a:pPr indent="0" marL="0">
              <a:buNone/>
            </a:pPr>
            <a:r>
              <a:rPr lang="en-US" sz="2600" b="1" dirty="0">
                <a:solidFill>
                  <a:schemeClr val="accent1"/>
                </a:solidFill>
              </a:rPr>
              <a:t>6.0 lakh</a:t>
            </a:r>
            <a:endParaRPr lang="en-US" sz="2600" dirty="0"/>
          </a:p>
        </p:txBody>
      </p:sp>
      <p:sp>
        <p:nvSpPr>
          <p:cNvPr id="43" name="Model label 2"/>
          <p:cNvSpPr txBox="1"/>
          <p:nvPr/>
        </p:nvSpPr>
        <p:spPr>
          <a:xfrm>
            <a:off x="3566160" y="4434840"/>
            <a:ext cx="2286000" cy="365760"/>
          </a:xfrm>
          <a:prstGeom prst="rect">
            <a:avLst/>
          </a:prstGeom>
          <a:noFill/>
          <a:ln/>
        </p:spPr>
        <p:txBody>
          <a:bodyPr wrap="square" lIns="0" tIns="0" rIns="0" bIns="0" rtlCol="0" anchor="ctr"/>
          <a:lstStyle/>
          <a:p>
            <a:pPr indent="0" marL="0">
              <a:buNone/>
            </a:pPr>
            <a:r>
              <a:rPr lang="en-US" sz="1300" dirty="0">
                <a:solidFill>
                  <a:schemeClr val="bg2"/>
                </a:solidFill>
              </a:rPr>
              <a:t>directed road links</a:t>
            </a:r>
            <a:endParaRPr lang="en-US" sz="1300" dirty="0"/>
          </a:p>
        </p:txBody>
      </p:sp>
      <p:sp>
        <p:nvSpPr>
          <p:cNvPr id="44" name="Model number 3"/>
          <p:cNvSpPr/>
          <p:nvPr/>
        </p:nvSpPr>
        <p:spPr>
          <a:xfrm>
            <a:off x="6217920" y="3840480"/>
            <a:ext cx="2606040" cy="1143000"/>
          </a:xfrm>
          <a:prstGeom prst="roundRect">
            <a:avLst>
              <a:gd name="adj" fmla="val 9600"/>
            </a:avLst>
          </a:prstGeom>
          <a:solidFill>
            <a:schemeClr val="tx2"/>
          </a:solidFill>
          <a:ln/>
        </p:spPr>
      </p:sp>
      <p:sp>
        <p:nvSpPr>
          <p:cNvPr id="45" name="Model value 3"/>
          <p:cNvSpPr txBox="1"/>
          <p:nvPr/>
        </p:nvSpPr>
        <p:spPr>
          <a:xfrm>
            <a:off x="6400800" y="3904488"/>
            <a:ext cx="2286000" cy="548640"/>
          </a:xfrm>
          <a:prstGeom prst="rect">
            <a:avLst/>
          </a:prstGeom>
          <a:noFill/>
          <a:ln/>
        </p:spPr>
        <p:txBody>
          <a:bodyPr wrap="square" lIns="0" tIns="0" rIns="0" bIns="0" rtlCol="0" anchor="ctr"/>
          <a:lstStyle/>
          <a:p>
            <a:pPr indent="0" marL="0">
              <a:buNone/>
            </a:pPr>
            <a:r>
              <a:rPr lang="en-US" sz="2600" b="1" dirty="0">
                <a:solidFill>
                  <a:schemeClr val="accent1"/>
                </a:solidFill>
              </a:rPr>
              <a:t>4 regions</a:t>
            </a:r>
            <a:endParaRPr lang="en-US" sz="2600" dirty="0"/>
          </a:p>
        </p:txBody>
      </p:sp>
      <p:sp>
        <p:nvSpPr>
          <p:cNvPr id="46" name="Model label 3"/>
          <p:cNvSpPr txBox="1"/>
          <p:nvPr/>
        </p:nvSpPr>
        <p:spPr>
          <a:xfrm>
            <a:off x="6400800" y="4434840"/>
            <a:ext cx="2286000" cy="365760"/>
          </a:xfrm>
          <a:prstGeom prst="rect">
            <a:avLst/>
          </a:prstGeom>
          <a:noFill/>
          <a:ln/>
        </p:spPr>
        <p:txBody>
          <a:bodyPr wrap="square" lIns="0" tIns="0" rIns="0" bIns="0" rtlCol="0" anchor="ctr"/>
          <a:lstStyle/>
          <a:p>
            <a:pPr indent="0" marL="0">
              <a:buNone/>
            </a:pPr>
            <a:r>
              <a:rPr lang="en-US" sz="1300" dirty="0">
                <a:solidFill>
                  <a:schemeClr val="bg2"/>
                </a:solidFill>
              </a:rPr>
              <a:t>5 cities, 23,273 km</a:t>
            </a:r>
            <a:endParaRPr lang="en-US" sz="1300" dirty="0"/>
          </a:p>
        </p:txBody>
      </p:sp>
      <p:sp>
        <p:nvSpPr>
          <p:cNvPr id="47" name="Model number 4"/>
          <p:cNvSpPr/>
          <p:nvPr/>
        </p:nvSpPr>
        <p:spPr>
          <a:xfrm>
            <a:off x="9052560" y="3840480"/>
            <a:ext cx="2606040" cy="1143000"/>
          </a:xfrm>
          <a:prstGeom prst="roundRect">
            <a:avLst>
              <a:gd name="adj" fmla="val 9600"/>
            </a:avLst>
          </a:prstGeom>
          <a:solidFill>
            <a:schemeClr val="tx2"/>
          </a:solidFill>
          <a:ln/>
        </p:spPr>
      </p:sp>
      <p:sp>
        <p:nvSpPr>
          <p:cNvPr id="48" name="Model value 4"/>
          <p:cNvSpPr txBox="1"/>
          <p:nvPr/>
        </p:nvSpPr>
        <p:spPr>
          <a:xfrm>
            <a:off x="9235440" y="3904488"/>
            <a:ext cx="2286000" cy="548640"/>
          </a:xfrm>
          <a:prstGeom prst="rect">
            <a:avLst/>
          </a:prstGeom>
          <a:noFill/>
          <a:ln/>
        </p:spPr>
        <p:txBody>
          <a:bodyPr wrap="square" lIns="0" tIns="0" rIns="0" bIns="0" rtlCol="0" anchor="ctr"/>
          <a:lstStyle/>
          <a:p>
            <a:pPr indent="0" marL="0">
              <a:buNone/>
            </a:pPr>
            <a:r>
              <a:rPr lang="en-US" sz="2600" b="1" dirty="0">
                <a:solidFill>
                  <a:schemeClr val="accent1"/>
                </a:solidFill>
              </a:rPr>
              <a:t>3 modes</a:t>
            </a:r>
            <a:endParaRPr lang="en-US" sz="2600" dirty="0"/>
          </a:p>
        </p:txBody>
      </p:sp>
      <p:sp>
        <p:nvSpPr>
          <p:cNvPr id="49" name="Model label 4"/>
          <p:cNvSpPr txBox="1"/>
          <p:nvPr/>
        </p:nvSpPr>
        <p:spPr>
          <a:xfrm>
            <a:off x="9235440" y="4434840"/>
            <a:ext cx="2286000" cy="365760"/>
          </a:xfrm>
          <a:prstGeom prst="rect">
            <a:avLst/>
          </a:prstGeom>
          <a:noFill/>
          <a:ln/>
        </p:spPr>
        <p:txBody>
          <a:bodyPr wrap="square" lIns="0" tIns="0" rIns="0" bIns="0" rtlCol="0" anchor="ctr"/>
          <a:lstStyle/>
          <a:p>
            <a:pPr indent="0" marL="0">
              <a:buNone/>
            </a:pPr>
            <a:r>
              <a:rPr lang="en-US" sz="1300" dirty="0">
                <a:solidFill>
                  <a:schemeClr val="bg2"/>
                </a:solidFill>
              </a:rPr>
              <a:t>car, two-wheeler, walk</a:t>
            </a:r>
            <a:endParaRPr lang="en-US" sz="1300" dirty="0"/>
          </a:p>
        </p:txBody>
      </p:sp>
      <p:sp>
        <p:nvSpPr>
          <p:cNvPr id="50" name="Model note"/>
          <p:cNvSpPr txBox="1"/>
          <p:nvPr/>
        </p:nvSpPr>
        <p:spPr>
          <a:xfrm>
            <a:off x="548640" y="5212080"/>
            <a:ext cx="11064240" cy="548640"/>
          </a:xfrm>
          <a:prstGeom prst="rect">
            <a:avLst/>
          </a:prstGeom>
          <a:noFill/>
          <a:ln/>
        </p:spPr>
        <p:txBody>
          <a:bodyPr wrap="square" lIns="0" tIns="0" rIns="0" bIns="0" rtlCol="0" anchor="t"/>
          <a:lstStyle/>
          <a:p>
            <a:pPr indent="0" marL="0">
              <a:buNone/>
            </a:pPr>
            <a:r>
              <a:rPr lang="en-US" sz="1400" b="1" dirty="0">
                <a:solidFill>
                  <a:schemeClr val="bg1"/>
                </a:solidFill>
              </a:rPr>
              <a:t>Statistical model, calibrated to official totals. </a:t>
            </a:r>
            <a:pPr indent="0" marL="0">
              <a:buNone/>
            </a:pPr>
            <a:r>
              <a:rPr lang="en-US" sz="1400" dirty="0">
                <a:solidFill>
                  <a:schemeClr val="bg2"/>
                </a:solidFill>
              </a:rPr>
              <a:t>It is not a trained machine-learning model: Gujarat has no public geo-coded crash records to train one on.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Routing engine: turn-aware A* search</a:t>
            </a:r>
            <a:endParaRPr lang="en-US" sz="3200" dirty="0"/>
          </a:p>
        </p:txBody>
      </p:sp>
      <p:sp>
        <p:nvSpPr>
          <p:cNvPr id="3" name="Cost card"/>
          <p:cNvSpPr/>
          <p:nvPr/>
        </p:nvSpPr>
        <p:spPr>
          <a:xfrm>
            <a:off x="548640" y="1417320"/>
            <a:ext cx="6675120" cy="1417320"/>
          </a:xfrm>
          <a:prstGeom prst="roundRect">
            <a:avLst>
              <a:gd name="adj" fmla="val 7742"/>
            </a:avLst>
          </a:prstGeom>
          <a:solidFill>
            <a:schemeClr val="tx2"/>
          </a:solidFill>
          <a:ln/>
        </p:spPr>
      </p:sp>
      <p:sp>
        <p:nvSpPr>
          <p:cNvPr id="4" name="Cost label"/>
          <p:cNvSpPr txBox="1"/>
          <p:nvPr/>
        </p:nvSpPr>
        <p:spPr>
          <a:xfrm>
            <a:off x="777240" y="1508760"/>
            <a:ext cx="6217920" cy="320040"/>
          </a:xfrm>
          <a:prstGeom prst="rect">
            <a:avLst/>
          </a:prstGeom>
          <a:noFill/>
          <a:ln/>
        </p:spPr>
        <p:txBody>
          <a:bodyPr wrap="square" lIns="0" tIns="0" rIns="0" bIns="0" rtlCol="0" anchor="ctr"/>
          <a:lstStyle/>
          <a:p>
            <a:pPr indent="0" marL="0">
              <a:buNone/>
            </a:pPr>
            <a:r>
              <a:rPr lang="en-US" sz="1400" b="1" dirty="0">
                <a:solidFill>
                  <a:schemeClr val="accent1"/>
                </a:solidFill>
              </a:rPr>
              <a:t>Cost of a route</a:t>
            </a:r>
            <a:endParaRPr lang="en-US" sz="1400" dirty="0"/>
          </a:p>
        </p:txBody>
      </p:sp>
      <p:pic>
        <p:nvPicPr>
          <p:cNvPr id="5" name="Cost formula" descr="C equals lambda R over R zero plus one minus lambda T over T zero">    </p:cNvPr>
          <p:cNvPicPr>
            <a:picLocks noChangeAspect="1"/>
          </p:cNvPicPr>
          <p:nvPr/>
        </p:nvPicPr>
        <p:blipFill>
          <a:blip r:embed="rId1"/>
          <a:stretch>
            <a:fillRect/>
          </a:stretch>
        </p:blipFill>
        <p:spPr>
          <a:xfrm>
            <a:off x="777240" y="1820743"/>
            <a:ext cx="2660367" cy="564755"/>
          </a:xfrm>
          <a:prstGeom prst="rect">
            <a:avLst/>
          </a:prstGeom>
        </p:spPr>
      </p:pic>
      <p:sp>
        <p:nvSpPr>
          <p:cNvPr id="6" name="Cost legend"/>
          <p:cNvSpPr txBox="1"/>
          <p:nvPr/>
        </p:nvSpPr>
        <p:spPr>
          <a:xfrm>
            <a:off x="777240" y="2395728"/>
            <a:ext cx="6217920" cy="320040"/>
          </a:xfrm>
          <a:prstGeom prst="rect">
            <a:avLst/>
          </a:prstGeom>
          <a:noFill/>
          <a:ln/>
        </p:spPr>
        <p:txBody>
          <a:bodyPr wrap="square" lIns="0" tIns="0" rIns="0" bIns="0" rtlCol="0" anchor="ctr"/>
          <a:lstStyle/>
          <a:p>
            <a:pPr indent="0" marL="0">
              <a:buNone/>
            </a:pPr>
            <a:r>
              <a:rPr lang="en-US" sz="1200" dirty="0">
                <a:solidFill>
                  <a:schemeClr val="bg2"/>
                </a:solidFill>
              </a:rPr>
              <a:t>R = risk, T = time; R₀, T₀ = the fastest route's values; λ = the user's safety slider</a:t>
            </a:r>
            <a:endParaRPr lang="en-US" sz="1200" dirty="0"/>
          </a:p>
        </p:txBody>
      </p:sp>
      <p:sp>
        <p:nvSpPr>
          <p:cNvPr id="7" name="Engine point 1 circle"/>
          <p:cNvSpPr/>
          <p:nvPr/>
        </p:nvSpPr>
        <p:spPr>
          <a:xfrm>
            <a:off x="594360" y="3063240"/>
            <a:ext cx="457200" cy="457200"/>
          </a:xfrm>
          <a:prstGeom prst="ellipse">
            <a:avLst/>
          </a:prstGeom>
          <a:solidFill>
            <a:schemeClr val="accent2"/>
          </a:solidFill>
          <a:ln/>
        </p:spPr>
      </p:sp>
      <p:pic>
        <p:nvPicPr>
          <p:cNvPr id="8" name="Engine point 1 icon" descr="preencoded.png">    </p:cNvPr>
          <p:cNvPicPr>
            <a:picLocks noChangeAspect="1"/>
          </p:cNvPicPr>
          <p:nvPr/>
        </p:nvPicPr>
        <p:blipFill>
          <a:blip r:embed="rId2"/>
          <a:stretch>
            <a:fillRect/>
          </a:stretch>
        </p:blipFill>
        <p:spPr>
          <a:xfrm>
            <a:off x="708660" y="3177540"/>
            <a:ext cx="228600" cy="228600"/>
          </a:xfrm>
          <a:prstGeom prst="rect">
            <a:avLst/>
          </a:prstGeom>
        </p:spPr>
      </p:pic>
      <p:sp>
        <p:nvSpPr>
          <p:cNvPr id="9" name="Engine text 1"/>
          <p:cNvSpPr txBox="1"/>
          <p:nvPr/>
        </p:nvSpPr>
        <p:spPr>
          <a:xfrm>
            <a:off x="1188720" y="3017520"/>
            <a:ext cx="6035040" cy="685800"/>
          </a:xfrm>
          <a:prstGeom prst="rect">
            <a:avLst/>
          </a:prstGeom>
          <a:noFill/>
          <a:ln/>
        </p:spPr>
        <p:txBody>
          <a:bodyPr wrap="square" lIns="0" tIns="0" rIns="0" bIns="0" rtlCol="0" anchor="t"/>
          <a:lstStyle/>
          <a:p>
            <a:pPr indent="0" marL="0">
              <a:buNone/>
            </a:pPr>
            <a:r>
              <a:rPr lang="en-US" sz="1300" b="1" dirty="0">
                <a:solidFill>
                  <a:schemeClr val="bg1"/>
                </a:solidFill>
              </a:rPr>
              <a:t>Searches turns, not just roads  </a:t>
            </a:r>
            <a:pPr indent="0" marL="0">
              <a:buNone/>
            </a:pPr>
            <a:r>
              <a:rPr lang="en-US" sz="1300" dirty="0">
                <a:solidFill>
                  <a:schemeClr val="bg2"/>
                </a:solidFill>
              </a:rPr>
              <a:t>Each move between two roads is costed, so right turns and U-turns are penalised. Stops zig-zag routes through lanes.</a:t>
            </a:r>
            <a:endParaRPr lang="en-US" sz="1300" dirty="0"/>
          </a:p>
        </p:txBody>
      </p:sp>
      <p:sp>
        <p:nvSpPr>
          <p:cNvPr id="10" name="Engine point 2 circle"/>
          <p:cNvSpPr/>
          <p:nvPr/>
        </p:nvSpPr>
        <p:spPr>
          <a:xfrm>
            <a:off x="594360" y="3794760"/>
            <a:ext cx="457200" cy="457200"/>
          </a:xfrm>
          <a:prstGeom prst="ellipse">
            <a:avLst/>
          </a:prstGeom>
          <a:solidFill>
            <a:schemeClr val="accent2"/>
          </a:solidFill>
          <a:ln/>
        </p:spPr>
      </p:sp>
      <p:pic>
        <p:nvPicPr>
          <p:cNvPr id="11" name="Engine point 2 icon" descr="preencoded.png">    </p:cNvPr>
          <p:cNvPicPr>
            <a:picLocks noChangeAspect="1"/>
          </p:cNvPicPr>
          <p:nvPr/>
        </p:nvPicPr>
        <p:blipFill>
          <a:blip r:embed="rId3"/>
          <a:stretch>
            <a:fillRect/>
          </a:stretch>
        </p:blipFill>
        <p:spPr>
          <a:xfrm>
            <a:off x="708660" y="3909060"/>
            <a:ext cx="228600" cy="228600"/>
          </a:xfrm>
          <a:prstGeom prst="rect">
            <a:avLst/>
          </a:prstGeom>
        </p:spPr>
      </p:pic>
      <p:sp>
        <p:nvSpPr>
          <p:cNvPr id="12" name="Engine text 2"/>
          <p:cNvSpPr txBox="1"/>
          <p:nvPr/>
        </p:nvSpPr>
        <p:spPr>
          <a:xfrm>
            <a:off x="1188720" y="3749040"/>
            <a:ext cx="6035040" cy="685800"/>
          </a:xfrm>
          <a:prstGeom prst="rect">
            <a:avLst/>
          </a:prstGeom>
          <a:noFill/>
          <a:ln/>
        </p:spPr>
        <p:txBody>
          <a:bodyPr wrap="square" lIns="0" tIns="0" rIns="0" bIns="0" rtlCol="0" anchor="t"/>
          <a:lstStyle/>
          <a:p>
            <a:pPr indent="0" marL="0">
              <a:buNone/>
            </a:pPr>
            <a:r>
              <a:rPr lang="en-US" sz="1300" b="1" dirty="0">
                <a:solidFill>
                  <a:schemeClr val="bg1"/>
                </a:solidFill>
              </a:rPr>
              <a:t>Guaranteed optimal  </a:t>
            </a:r>
            <a:pPr indent="0" marL="0">
              <a:buNone/>
            </a:pPr>
            <a:r>
              <a:rPr lang="en-US" sz="1300" dirty="0">
                <a:solidFill>
                  <a:schemeClr val="bg2"/>
                </a:solidFill>
              </a:rPr>
              <a:t>The heuristic never overestimates, so A* finds the true best route; checked against Dijkstra.</a:t>
            </a:r>
            <a:endParaRPr lang="en-US" sz="1300" dirty="0"/>
          </a:p>
        </p:txBody>
      </p:sp>
      <p:sp>
        <p:nvSpPr>
          <p:cNvPr id="13" name="Engine point 3 circle"/>
          <p:cNvSpPr/>
          <p:nvPr/>
        </p:nvSpPr>
        <p:spPr>
          <a:xfrm>
            <a:off x="594360" y="4526280"/>
            <a:ext cx="457200" cy="457200"/>
          </a:xfrm>
          <a:prstGeom prst="ellipse">
            <a:avLst/>
          </a:prstGeom>
          <a:solidFill>
            <a:schemeClr val="accent2"/>
          </a:solidFill>
          <a:ln/>
        </p:spPr>
      </p:sp>
      <p:pic>
        <p:nvPicPr>
          <p:cNvPr id="14" name="Engine point 3 icon" descr="preencoded.png">    </p:cNvPr>
          <p:cNvPicPr>
            <a:picLocks noChangeAspect="1"/>
          </p:cNvPicPr>
          <p:nvPr/>
        </p:nvPicPr>
        <p:blipFill>
          <a:blip r:embed="rId4"/>
          <a:stretch>
            <a:fillRect/>
          </a:stretch>
        </p:blipFill>
        <p:spPr>
          <a:xfrm>
            <a:off x="708660" y="4640580"/>
            <a:ext cx="228600" cy="228600"/>
          </a:xfrm>
          <a:prstGeom prst="rect">
            <a:avLst/>
          </a:prstGeom>
        </p:spPr>
      </p:pic>
      <p:sp>
        <p:nvSpPr>
          <p:cNvPr id="15" name="Engine text 3"/>
          <p:cNvSpPr txBox="1"/>
          <p:nvPr/>
        </p:nvSpPr>
        <p:spPr>
          <a:xfrm>
            <a:off x="1188720" y="4480560"/>
            <a:ext cx="6035040" cy="685800"/>
          </a:xfrm>
          <a:prstGeom prst="rect">
            <a:avLst/>
          </a:prstGeom>
          <a:noFill/>
          <a:ln/>
        </p:spPr>
        <p:txBody>
          <a:bodyPr wrap="square" lIns="0" tIns="0" rIns="0" bIns="0" rtlCol="0" anchor="t"/>
          <a:lstStyle/>
          <a:p>
            <a:pPr indent="0" marL="0">
              <a:buNone/>
            </a:pPr>
            <a:r>
              <a:rPr lang="en-US" sz="1300" b="1" dirty="0">
                <a:solidFill>
                  <a:schemeClr val="bg1"/>
                </a:solidFill>
              </a:rPr>
              <a:t>Detour cap  </a:t>
            </a:r>
            <a:pPr indent="0" marL="0">
              <a:buNone/>
            </a:pPr>
            <a:r>
              <a:rPr lang="en-US" sz="1300" dirty="0">
                <a:solidFill>
                  <a:schemeClr val="bg2"/>
                </a:solidFill>
              </a:rPr>
              <a:t>If the safest route is more than 25% slower, λ is lowered step by step until it fits.</a:t>
            </a:r>
            <a:endParaRPr lang="en-US" sz="1300" dirty="0"/>
          </a:p>
        </p:txBody>
      </p:sp>
      <p:sp>
        <p:nvSpPr>
          <p:cNvPr id="16" name="Engine point 4 circle"/>
          <p:cNvSpPr/>
          <p:nvPr/>
        </p:nvSpPr>
        <p:spPr>
          <a:xfrm>
            <a:off x="594360" y="5257800"/>
            <a:ext cx="457200" cy="457200"/>
          </a:xfrm>
          <a:prstGeom prst="ellipse">
            <a:avLst/>
          </a:prstGeom>
          <a:solidFill>
            <a:schemeClr val="accent2"/>
          </a:solidFill>
          <a:ln/>
        </p:spPr>
      </p:sp>
      <p:pic>
        <p:nvPicPr>
          <p:cNvPr id="17" name="Engine point 4 icon" descr="preencoded.png">    </p:cNvPr>
          <p:cNvPicPr>
            <a:picLocks noChangeAspect="1"/>
          </p:cNvPicPr>
          <p:nvPr/>
        </p:nvPicPr>
        <p:blipFill>
          <a:blip r:embed="rId5"/>
          <a:stretch>
            <a:fillRect/>
          </a:stretch>
        </p:blipFill>
        <p:spPr>
          <a:xfrm>
            <a:off x="708660" y="5372100"/>
            <a:ext cx="228600" cy="228600"/>
          </a:xfrm>
          <a:prstGeom prst="rect">
            <a:avLst/>
          </a:prstGeom>
        </p:spPr>
      </p:pic>
      <p:sp>
        <p:nvSpPr>
          <p:cNvPr id="18" name="Engine text 4"/>
          <p:cNvSpPr txBox="1"/>
          <p:nvPr/>
        </p:nvSpPr>
        <p:spPr>
          <a:xfrm>
            <a:off x="1188720" y="5212080"/>
            <a:ext cx="6035040" cy="685800"/>
          </a:xfrm>
          <a:prstGeom prst="rect">
            <a:avLst/>
          </a:prstGeom>
          <a:noFill/>
          <a:ln/>
        </p:spPr>
        <p:txBody>
          <a:bodyPr wrap="square" lIns="0" tIns="0" rIns="0" bIns="0" rtlCol="0" anchor="t"/>
          <a:lstStyle/>
          <a:p>
            <a:pPr indent="0" marL="0">
              <a:buNone/>
            </a:pPr>
            <a:r>
              <a:rPr lang="en-US" sz="1300" b="1" dirty="0">
                <a:solidFill>
                  <a:schemeClr val="bg1"/>
                </a:solidFill>
              </a:rPr>
              <a:t>Pareto front → Balanced route  </a:t>
            </a:r>
            <a:pPr indent="0" marL="0">
              <a:buNone/>
            </a:pPr>
            <a:r>
              <a:rPr lang="en-US" sz="1300" dirty="0">
                <a:solidFill>
                  <a:schemeClr val="bg2"/>
                </a:solidFill>
              </a:rPr>
              <a:t>We solve for several λ values and pick the knee: the most risk removed per extra minute.</a:t>
            </a:r>
            <a:endParaRPr lang="en-US" sz="1300" dirty="0"/>
          </a:p>
        </p:txBody>
      </p:sp>
      <p:sp>
        <p:nvSpPr>
          <p:cNvPr id="19" name="Routes card"/>
          <p:cNvSpPr/>
          <p:nvPr/>
        </p:nvSpPr>
        <p:spPr>
          <a:xfrm>
            <a:off x="7498080" y="1417320"/>
            <a:ext cx="4142232" cy="2423160"/>
          </a:xfrm>
          <a:prstGeom prst="roundRect">
            <a:avLst>
              <a:gd name="adj" fmla="val 4528"/>
            </a:avLst>
          </a:prstGeom>
          <a:solidFill>
            <a:schemeClr val="tx2"/>
          </a:solidFill>
          <a:ln/>
        </p:spPr>
      </p:sp>
      <p:sp>
        <p:nvSpPr>
          <p:cNvPr id="20" name="Routes title"/>
          <p:cNvSpPr txBox="1"/>
          <p:nvPr/>
        </p:nvSpPr>
        <p:spPr>
          <a:xfrm>
            <a:off x="7726680" y="1536192"/>
            <a:ext cx="3749040" cy="365760"/>
          </a:xfrm>
          <a:prstGeom prst="rect">
            <a:avLst/>
          </a:prstGeom>
          <a:noFill/>
          <a:ln/>
        </p:spPr>
        <p:txBody>
          <a:bodyPr wrap="square" lIns="0" tIns="0" rIns="0" bIns="0" rtlCol="0" anchor="ctr"/>
          <a:lstStyle/>
          <a:p>
            <a:pPr indent="0" marL="0">
              <a:buNone/>
            </a:pPr>
            <a:r>
              <a:rPr lang="en-US" sz="1500" b="1" dirty="0">
                <a:solidFill>
                  <a:schemeClr val="accent1"/>
                </a:solidFill>
              </a:rPr>
              <a:t>Every query returns</a:t>
            </a:r>
            <a:endParaRPr lang="en-US" sz="1500" dirty="0"/>
          </a:p>
        </p:txBody>
      </p:sp>
      <p:sp>
        <p:nvSpPr>
          <p:cNvPr id="21" name="Fastest swatch"/>
          <p:cNvSpPr/>
          <p:nvPr/>
        </p:nvSpPr>
        <p:spPr>
          <a:xfrm>
            <a:off x="7726680" y="2121408"/>
            <a:ext cx="502920" cy="201168"/>
          </a:xfrm>
          <a:prstGeom prst="roundRect">
            <a:avLst>
              <a:gd name="adj" fmla="val 50000"/>
            </a:avLst>
          </a:prstGeom>
          <a:solidFill>
            <a:schemeClr val="accent4"/>
          </a:solidFill>
          <a:ln/>
        </p:spPr>
      </p:sp>
      <p:sp>
        <p:nvSpPr>
          <p:cNvPr id="22" name="Fastest text"/>
          <p:cNvSpPr txBox="1"/>
          <p:nvPr/>
        </p:nvSpPr>
        <p:spPr>
          <a:xfrm>
            <a:off x="8366760" y="2011680"/>
            <a:ext cx="3154680" cy="457200"/>
          </a:xfrm>
          <a:prstGeom prst="rect">
            <a:avLst/>
          </a:prstGeom>
          <a:noFill/>
          <a:ln/>
        </p:spPr>
        <p:txBody>
          <a:bodyPr wrap="square" lIns="0" tIns="0" rIns="0" bIns="0" rtlCol="0" anchor="ctr"/>
          <a:lstStyle/>
          <a:p>
            <a:pPr indent="0" marL="0">
              <a:buNone/>
            </a:pPr>
            <a:r>
              <a:rPr lang="en-US" sz="1300" b="1" dirty="0">
                <a:solidFill>
                  <a:schemeClr val="bg1"/>
                </a:solidFill>
              </a:rPr>
              <a:t>Fastest  </a:t>
            </a:r>
            <a:pPr indent="0" marL="0">
              <a:buNone/>
            </a:pPr>
            <a:r>
              <a:rPr lang="en-US" sz="1300" dirty="0">
                <a:solidFill>
                  <a:schemeClr val="bg2"/>
                </a:solidFill>
              </a:rPr>
              <a:t>the normal Google-Maps-style route</a:t>
            </a:r>
            <a:endParaRPr lang="en-US" sz="1300" dirty="0"/>
          </a:p>
        </p:txBody>
      </p:sp>
      <p:sp>
        <p:nvSpPr>
          <p:cNvPr id="23" name="Balanced swatch"/>
          <p:cNvSpPr/>
          <p:nvPr/>
        </p:nvSpPr>
        <p:spPr>
          <a:xfrm>
            <a:off x="7726680" y="2688336"/>
            <a:ext cx="502920" cy="201168"/>
          </a:xfrm>
          <a:prstGeom prst="roundRect">
            <a:avLst>
              <a:gd name="adj" fmla="val 50000"/>
            </a:avLst>
          </a:prstGeom>
          <a:solidFill>
            <a:schemeClr val="accent3"/>
          </a:solidFill>
          <a:ln/>
        </p:spPr>
      </p:sp>
      <p:sp>
        <p:nvSpPr>
          <p:cNvPr id="24" name="Balanced text"/>
          <p:cNvSpPr txBox="1"/>
          <p:nvPr/>
        </p:nvSpPr>
        <p:spPr>
          <a:xfrm>
            <a:off x="8366760" y="2578608"/>
            <a:ext cx="3154680" cy="457200"/>
          </a:xfrm>
          <a:prstGeom prst="rect">
            <a:avLst/>
          </a:prstGeom>
          <a:noFill/>
          <a:ln/>
        </p:spPr>
        <p:txBody>
          <a:bodyPr wrap="square" lIns="0" tIns="0" rIns="0" bIns="0" rtlCol="0" anchor="ctr"/>
          <a:lstStyle/>
          <a:p>
            <a:pPr indent="0" marL="0">
              <a:buNone/>
            </a:pPr>
            <a:r>
              <a:rPr lang="en-US" sz="1300" b="1" dirty="0">
                <a:solidFill>
                  <a:schemeClr val="bg1"/>
                </a:solidFill>
              </a:rPr>
              <a:t>Balanced  </a:t>
            </a:r>
            <a:pPr indent="0" marL="0">
              <a:buNone/>
            </a:pPr>
            <a:r>
              <a:rPr lang="en-US" sz="1300" dirty="0">
                <a:solidFill>
                  <a:schemeClr val="bg2"/>
                </a:solidFill>
              </a:rPr>
              <a:t>best trade-off point</a:t>
            </a:r>
            <a:endParaRPr lang="en-US" sz="1300" dirty="0"/>
          </a:p>
        </p:txBody>
      </p:sp>
      <p:sp>
        <p:nvSpPr>
          <p:cNvPr id="25" name="Safest swatch"/>
          <p:cNvSpPr/>
          <p:nvPr/>
        </p:nvSpPr>
        <p:spPr>
          <a:xfrm>
            <a:off x="7726680" y="3255264"/>
            <a:ext cx="502920" cy="201168"/>
          </a:xfrm>
          <a:prstGeom prst="roundRect">
            <a:avLst>
              <a:gd name="adj" fmla="val 50000"/>
            </a:avLst>
          </a:prstGeom>
          <a:solidFill>
            <a:schemeClr val="accent2"/>
          </a:solidFill>
          <a:ln/>
        </p:spPr>
      </p:sp>
      <p:sp>
        <p:nvSpPr>
          <p:cNvPr id="26" name="Safest text"/>
          <p:cNvSpPr txBox="1"/>
          <p:nvPr/>
        </p:nvSpPr>
        <p:spPr>
          <a:xfrm>
            <a:off x="8366760" y="3145536"/>
            <a:ext cx="3154680" cy="457200"/>
          </a:xfrm>
          <a:prstGeom prst="rect">
            <a:avLst/>
          </a:prstGeom>
          <a:noFill/>
          <a:ln/>
        </p:spPr>
        <p:txBody>
          <a:bodyPr wrap="square" lIns="0" tIns="0" rIns="0" bIns="0" rtlCol="0" anchor="ctr"/>
          <a:lstStyle/>
          <a:p>
            <a:pPr indent="0" marL="0">
              <a:buNone/>
            </a:pPr>
            <a:r>
              <a:rPr lang="en-US" sz="1300" b="1" dirty="0">
                <a:solidFill>
                  <a:schemeClr val="bg1"/>
                </a:solidFill>
              </a:rPr>
              <a:t>Safest  </a:t>
            </a:r>
            <a:pPr indent="0" marL="0">
              <a:buNone/>
            </a:pPr>
            <a:r>
              <a:rPr lang="en-US" sz="1300" dirty="0">
                <a:solidFill>
                  <a:schemeClr val="bg2"/>
                </a:solidFill>
              </a:rPr>
              <a:t>lowest risk within the detour cap</a:t>
            </a:r>
            <a:endParaRPr lang="en-US" sz="1300" dirty="0"/>
          </a:p>
        </p:txBody>
      </p:sp>
      <p:sp>
        <p:nvSpPr>
          <p:cNvPr id="27" name="Check card 1"/>
          <p:cNvSpPr/>
          <p:nvPr/>
        </p:nvSpPr>
        <p:spPr>
          <a:xfrm>
            <a:off x="7498080" y="4069080"/>
            <a:ext cx="2011680" cy="1737360"/>
          </a:xfrm>
          <a:prstGeom prst="roundRect">
            <a:avLst>
              <a:gd name="adj" fmla="val 6316"/>
            </a:avLst>
          </a:prstGeom>
          <a:solidFill>
            <a:schemeClr val="tx2"/>
          </a:solidFill>
          <a:ln/>
        </p:spPr>
      </p:sp>
      <p:sp>
        <p:nvSpPr>
          <p:cNvPr id="28" name="Check value 1"/>
          <p:cNvSpPr txBox="1"/>
          <p:nvPr/>
        </p:nvSpPr>
        <p:spPr>
          <a:xfrm>
            <a:off x="7635240" y="4251960"/>
            <a:ext cx="1737360" cy="594360"/>
          </a:xfrm>
          <a:prstGeom prst="rect">
            <a:avLst/>
          </a:prstGeom>
          <a:noFill/>
          <a:ln/>
        </p:spPr>
        <p:txBody>
          <a:bodyPr wrap="square" lIns="0" tIns="0" rIns="0" bIns="0" rtlCol="0" anchor="ctr"/>
          <a:lstStyle/>
          <a:p>
            <a:pPr algn="ctr" indent="0" marL="0">
              <a:buNone/>
            </a:pPr>
            <a:r>
              <a:rPr lang="en-US" sz="2800" b="1" dirty="0">
                <a:solidFill>
                  <a:schemeClr val="bg1"/>
                </a:solidFill>
              </a:rPr>
              <a:t>48 / 48</a:t>
            </a:r>
            <a:endParaRPr lang="en-US" sz="2800" dirty="0"/>
          </a:p>
        </p:txBody>
      </p:sp>
      <p:sp>
        <p:nvSpPr>
          <p:cNvPr id="29" name="Check label 1"/>
          <p:cNvSpPr txBox="1"/>
          <p:nvPr/>
        </p:nvSpPr>
        <p:spPr>
          <a:xfrm>
            <a:off x="7635240" y="4892040"/>
            <a:ext cx="1737360" cy="640080"/>
          </a:xfrm>
          <a:prstGeom prst="rect">
            <a:avLst/>
          </a:prstGeom>
          <a:noFill/>
          <a:ln/>
        </p:spPr>
        <p:txBody>
          <a:bodyPr wrap="square" lIns="0" tIns="0" rIns="0" bIns="0" rtlCol="0" anchor="t"/>
          <a:lstStyle/>
          <a:p>
            <a:pPr algn="ctr" indent="0" marL="0">
              <a:buNone/>
            </a:pPr>
            <a:r>
              <a:rPr lang="en-US" sz="1300" dirty="0">
                <a:solidFill>
                  <a:schemeClr val="bg2"/>
                </a:solidFill>
              </a:rPr>
              <a:t>A* = Dijkstra optimum</a:t>
            </a:r>
            <a:endParaRPr lang="en-US" sz="1300" dirty="0"/>
          </a:p>
        </p:txBody>
      </p:sp>
      <p:sp>
        <p:nvSpPr>
          <p:cNvPr id="30" name="Check card 2"/>
          <p:cNvSpPr/>
          <p:nvPr/>
        </p:nvSpPr>
        <p:spPr>
          <a:xfrm>
            <a:off x="9628632" y="4069080"/>
            <a:ext cx="2011680" cy="1737360"/>
          </a:xfrm>
          <a:prstGeom prst="roundRect">
            <a:avLst>
              <a:gd name="adj" fmla="val 6316"/>
            </a:avLst>
          </a:prstGeom>
          <a:solidFill>
            <a:schemeClr val="tx2"/>
          </a:solidFill>
          <a:ln/>
        </p:spPr>
      </p:sp>
      <p:sp>
        <p:nvSpPr>
          <p:cNvPr id="31" name="Check value 2"/>
          <p:cNvSpPr txBox="1"/>
          <p:nvPr/>
        </p:nvSpPr>
        <p:spPr>
          <a:xfrm>
            <a:off x="9765792" y="4251960"/>
            <a:ext cx="1737360" cy="594360"/>
          </a:xfrm>
          <a:prstGeom prst="rect">
            <a:avLst/>
          </a:prstGeom>
          <a:noFill/>
          <a:ln/>
        </p:spPr>
        <p:txBody>
          <a:bodyPr wrap="square" lIns="0" tIns="0" rIns="0" bIns="0" rtlCol="0" anchor="ctr"/>
          <a:lstStyle/>
          <a:p>
            <a:pPr algn="ctr" indent="0" marL="0">
              <a:buNone/>
            </a:pPr>
            <a:r>
              <a:rPr lang="en-US" sz="2800" b="1" dirty="0">
                <a:solidFill>
                  <a:schemeClr val="bg1"/>
                </a:solidFill>
              </a:rPr>
              <a:t>~0.25 s</a:t>
            </a:r>
            <a:endParaRPr lang="en-US" sz="2800" dirty="0"/>
          </a:p>
        </p:txBody>
      </p:sp>
      <p:sp>
        <p:nvSpPr>
          <p:cNvPr id="32" name="Check label 2"/>
          <p:cNvSpPr txBox="1"/>
          <p:nvPr/>
        </p:nvSpPr>
        <p:spPr>
          <a:xfrm>
            <a:off x="9765792" y="4892040"/>
            <a:ext cx="1737360" cy="640080"/>
          </a:xfrm>
          <a:prstGeom prst="rect">
            <a:avLst/>
          </a:prstGeom>
          <a:noFill/>
          <a:ln/>
        </p:spPr>
        <p:txBody>
          <a:bodyPr wrap="square" lIns="0" tIns="0" rIns="0" bIns="0" rtlCol="0" anchor="t"/>
          <a:lstStyle/>
          <a:p>
            <a:pPr algn="ctr" indent="0" marL="0">
              <a:buNone/>
            </a:pPr>
            <a:r>
              <a:rPr lang="en-US" sz="1300" dirty="0">
                <a:solidFill>
                  <a:schemeClr val="bg2"/>
                </a:solidFill>
              </a:rPr>
              <a:t>median full plan</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System architecture</a:t>
            </a:r>
            <a:endParaRPr lang="en-US" sz="3200" dirty="0"/>
          </a:p>
        </p:txBody>
      </p:sp>
      <p:sp>
        <p:nvSpPr>
          <p:cNvPr id="3" name="Arch card 1"/>
          <p:cNvSpPr/>
          <p:nvPr/>
        </p:nvSpPr>
        <p:spPr>
          <a:xfrm>
            <a:off x="548640" y="1417320"/>
            <a:ext cx="2514600" cy="3429000"/>
          </a:xfrm>
          <a:prstGeom prst="roundRect">
            <a:avLst>
              <a:gd name="adj" fmla="val 4364"/>
            </a:avLst>
          </a:prstGeom>
          <a:solidFill>
            <a:schemeClr val="tx2"/>
          </a:solidFill>
          <a:ln/>
        </p:spPr>
      </p:sp>
      <p:sp>
        <p:nvSpPr>
          <p:cNvPr id="4" name="Arch 1 circle"/>
          <p:cNvSpPr/>
          <p:nvPr/>
        </p:nvSpPr>
        <p:spPr>
          <a:xfrm>
            <a:off x="777240" y="1645920"/>
            <a:ext cx="566928" cy="566928"/>
          </a:xfrm>
          <a:prstGeom prst="ellipse">
            <a:avLst/>
          </a:prstGeom>
          <a:solidFill>
            <a:schemeClr val="accent5"/>
          </a:solidFill>
          <a:ln/>
        </p:spPr>
      </p:sp>
      <p:pic>
        <p:nvPicPr>
          <p:cNvPr id="5" name="Arch 1 icon" descr="preencoded.png">    </p:cNvPr>
          <p:cNvPicPr>
            <a:picLocks noChangeAspect="1"/>
          </p:cNvPicPr>
          <p:nvPr/>
        </p:nvPicPr>
        <p:blipFill>
          <a:blip r:embed="rId1"/>
          <a:stretch>
            <a:fillRect/>
          </a:stretch>
        </p:blipFill>
        <p:spPr>
          <a:xfrm>
            <a:off x="918972" y="1787652"/>
            <a:ext cx="283464" cy="283464"/>
          </a:xfrm>
          <a:prstGeom prst="rect">
            <a:avLst/>
          </a:prstGeom>
        </p:spPr>
      </p:pic>
      <p:sp>
        <p:nvSpPr>
          <p:cNvPr id="6" name="Arch title 1"/>
          <p:cNvSpPr txBox="1"/>
          <p:nvPr/>
        </p:nvSpPr>
        <p:spPr>
          <a:xfrm>
            <a:off x="777240" y="2331720"/>
            <a:ext cx="2148840" cy="640080"/>
          </a:xfrm>
          <a:prstGeom prst="rect">
            <a:avLst/>
          </a:prstGeom>
          <a:noFill/>
          <a:ln/>
        </p:spPr>
        <p:txBody>
          <a:bodyPr wrap="square" lIns="0" tIns="0" rIns="0" bIns="0" rtlCol="0" anchor="t"/>
          <a:lstStyle/>
          <a:p>
            <a:pPr indent="0" marL="0">
              <a:buNone/>
            </a:pPr>
            <a:r>
              <a:rPr lang="en-US" sz="1700" b="1" dirty="0">
                <a:solidFill>
                  <a:schemeClr val="bg1"/>
                </a:solidFill>
              </a:rPr>
              <a:t>Data pipeline</a:t>
            </a:r>
            <a:endParaRPr lang="en-US" sz="1700" dirty="0"/>
          </a:p>
          <a:p>
            <a:pPr indent="0" marL="0">
              <a:buNone/>
            </a:pPr>
            <a:r>
              <a:rPr lang="en-US" sz="1200" dirty="0">
                <a:solidFill>
                  <a:schemeClr val="accent1"/>
                </a:solidFill>
              </a:rPr>
              <a:t>Python, run once</a:t>
            </a:r>
            <a:endParaRPr lang="en-US" sz="1700" dirty="0"/>
          </a:p>
        </p:txBody>
      </p:sp>
      <p:sp>
        <p:nvSpPr>
          <p:cNvPr id="7" name="Arch items 1"/>
          <p:cNvSpPr txBox="1"/>
          <p:nvPr/>
        </p:nvSpPr>
        <p:spPr>
          <a:xfrm>
            <a:off x="777240" y="3063240"/>
            <a:ext cx="2148840" cy="16459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2"/>
                </a:solidFill>
              </a:rPr>
              <a:t>Download OSM &amp; satellite data</a:t>
            </a:r>
            <a:endParaRPr lang="en-US" sz="1300" dirty="0"/>
          </a:p>
          <a:p>
            <a:pPr marL="342900" indent="-342900">
              <a:spcAft>
                <a:spcPts val="400"/>
              </a:spcAft>
              <a:buSzPct val="100000"/>
              <a:buChar char="•"/>
            </a:pPr>
            <a:r>
              <a:rPr lang="en-US" sz="1300" dirty="0">
                <a:solidFill>
                  <a:schemeClr val="bg2"/>
                </a:solidFill>
              </a:rPr>
              <a:t>Geocode blackspots</a:t>
            </a:r>
            <a:endParaRPr lang="en-US" sz="1300" dirty="0"/>
          </a:p>
          <a:p>
            <a:pPr marL="342900" indent="-342900">
              <a:spcAft>
                <a:spcPts val="400"/>
              </a:spcAft>
              <a:buSzPct val="100000"/>
              <a:buChar char="•"/>
            </a:pPr>
            <a:r>
              <a:rPr lang="en-US" sz="1300" dirty="0">
                <a:solidFill>
                  <a:schemeClr val="bg2"/>
                </a:solidFill>
              </a:rPr>
              <a:t>Build risk graph per city</a:t>
            </a:r>
            <a:endParaRPr lang="en-US" sz="1300" dirty="0"/>
          </a:p>
          <a:p>
            <a:pPr marL="342900" indent="-342900">
              <a:spcAft>
                <a:spcPts val="400"/>
              </a:spcAft>
              <a:buSzPct val="100000"/>
              <a:buChar char="•"/>
            </a:pPr>
            <a:r>
              <a:rPr lang="en-US" sz="1300" dirty="0">
                <a:solidFill>
                  <a:schemeClr val="bg2"/>
                </a:solidFill>
              </a:rPr>
              <a:t>Takes about 1 minute</a:t>
            </a:r>
            <a:endParaRPr lang="en-US" sz="1300" dirty="0"/>
          </a:p>
        </p:txBody>
      </p:sp>
      <p:sp>
        <p:nvSpPr>
          <p:cNvPr id="8" name="Arch arrow 1"/>
          <p:cNvSpPr txBox="1"/>
          <p:nvPr/>
        </p:nvSpPr>
        <p:spPr>
          <a:xfrm>
            <a:off x="3063240" y="2788920"/>
            <a:ext cx="338328"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9" name="Arch card 2"/>
          <p:cNvSpPr/>
          <p:nvPr/>
        </p:nvSpPr>
        <p:spPr>
          <a:xfrm>
            <a:off x="3401568" y="1417320"/>
            <a:ext cx="2514600" cy="3429000"/>
          </a:xfrm>
          <a:prstGeom prst="roundRect">
            <a:avLst>
              <a:gd name="adj" fmla="val 4364"/>
            </a:avLst>
          </a:prstGeom>
          <a:solidFill>
            <a:schemeClr val="tx2"/>
          </a:solidFill>
          <a:ln/>
        </p:spPr>
      </p:sp>
      <p:sp>
        <p:nvSpPr>
          <p:cNvPr id="10" name="Arch 2 circle"/>
          <p:cNvSpPr/>
          <p:nvPr/>
        </p:nvSpPr>
        <p:spPr>
          <a:xfrm>
            <a:off x="3630168" y="1645920"/>
            <a:ext cx="566928" cy="566928"/>
          </a:xfrm>
          <a:prstGeom prst="ellipse">
            <a:avLst/>
          </a:prstGeom>
          <a:solidFill>
            <a:schemeClr val="accent1"/>
          </a:solidFill>
          <a:ln/>
        </p:spPr>
      </p:sp>
      <p:pic>
        <p:nvPicPr>
          <p:cNvPr id="11" name="Arch 2 icon" descr="preencoded.png">    </p:cNvPr>
          <p:cNvPicPr>
            <a:picLocks noChangeAspect="1"/>
          </p:cNvPicPr>
          <p:nvPr/>
        </p:nvPicPr>
        <p:blipFill>
          <a:blip r:embed="rId2"/>
          <a:stretch>
            <a:fillRect/>
          </a:stretch>
        </p:blipFill>
        <p:spPr>
          <a:xfrm>
            <a:off x="3771900" y="1787652"/>
            <a:ext cx="283464" cy="283464"/>
          </a:xfrm>
          <a:prstGeom prst="rect">
            <a:avLst/>
          </a:prstGeom>
        </p:spPr>
      </p:pic>
      <p:sp>
        <p:nvSpPr>
          <p:cNvPr id="12" name="Arch title 2"/>
          <p:cNvSpPr txBox="1"/>
          <p:nvPr/>
        </p:nvSpPr>
        <p:spPr>
          <a:xfrm>
            <a:off x="3630168" y="2331720"/>
            <a:ext cx="2148840" cy="640080"/>
          </a:xfrm>
          <a:prstGeom prst="rect">
            <a:avLst/>
          </a:prstGeom>
          <a:noFill/>
          <a:ln/>
        </p:spPr>
        <p:txBody>
          <a:bodyPr wrap="square" lIns="0" tIns="0" rIns="0" bIns="0" rtlCol="0" anchor="t"/>
          <a:lstStyle/>
          <a:p>
            <a:pPr indent="0" marL="0">
              <a:buNone/>
            </a:pPr>
            <a:r>
              <a:rPr lang="en-US" sz="1700" b="1" dirty="0">
                <a:solidFill>
                  <a:schemeClr val="bg1"/>
                </a:solidFill>
              </a:rPr>
              <a:t>Prebuilt graphs</a:t>
            </a:r>
            <a:endParaRPr lang="en-US" sz="1700" dirty="0"/>
          </a:p>
          <a:p>
            <a:pPr indent="0" marL="0">
              <a:buNone/>
            </a:pPr>
            <a:r>
              <a:rPr lang="en-US" sz="1200" dirty="0">
                <a:solidFill>
                  <a:schemeClr val="accent1"/>
                </a:solidFill>
              </a:rPr>
              <a:t>NumPy files</a:t>
            </a:r>
            <a:endParaRPr lang="en-US" sz="1700" dirty="0"/>
          </a:p>
        </p:txBody>
      </p:sp>
      <p:sp>
        <p:nvSpPr>
          <p:cNvPr id="13" name="Arch items 2"/>
          <p:cNvSpPr txBox="1"/>
          <p:nvPr/>
        </p:nvSpPr>
        <p:spPr>
          <a:xfrm>
            <a:off x="3630168" y="3063240"/>
            <a:ext cx="2148840" cy="16459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2"/>
                </a:solidFill>
              </a:rPr>
              <a:t>~28 MB for 5 cities</a:t>
            </a:r>
            <a:endParaRPr lang="en-US" sz="1300" dirty="0"/>
          </a:p>
          <a:p>
            <a:pPr marL="342900" indent="-342900">
              <a:spcAft>
                <a:spcPts val="400"/>
              </a:spcAft>
              <a:buSzPct val="100000"/>
              <a:buChar char="•"/>
            </a:pPr>
            <a:r>
              <a:rPr lang="en-US" sz="1300" dirty="0">
                <a:solidFill>
                  <a:schemeClr val="bg2"/>
                </a:solidFill>
              </a:rPr>
              <a:t>Works offline once built</a:t>
            </a:r>
            <a:endParaRPr lang="en-US" sz="1300" dirty="0"/>
          </a:p>
          <a:p>
            <a:pPr marL="342900" indent="-342900">
              <a:spcAft>
                <a:spcPts val="400"/>
              </a:spcAft>
              <a:buSzPct val="100000"/>
              <a:buChar char="•"/>
            </a:pPr>
            <a:r>
              <a:rPr lang="en-US" sz="1300" dirty="0">
                <a:solidFill>
                  <a:schemeClr val="bg2"/>
                </a:solidFill>
              </a:rPr>
              <a:t>No live API needed to route</a:t>
            </a:r>
            <a:endParaRPr lang="en-US" sz="1300" dirty="0"/>
          </a:p>
        </p:txBody>
      </p:sp>
      <p:sp>
        <p:nvSpPr>
          <p:cNvPr id="14" name="Arch arrow 2"/>
          <p:cNvSpPr txBox="1"/>
          <p:nvPr/>
        </p:nvSpPr>
        <p:spPr>
          <a:xfrm>
            <a:off x="5916168" y="2788920"/>
            <a:ext cx="338328"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15" name="Arch card 3"/>
          <p:cNvSpPr/>
          <p:nvPr/>
        </p:nvSpPr>
        <p:spPr>
          <a:xfrm>
            <a:off x="6254496" y="1417320"/>
            <a:ext cx="2514600" cy="3429000"/>
          </a:xfrm>
          <a:prstGeom prst="roundRect">
            <a:avLst>
              <a:gd name="adj" fmla="val 4364"/>
            </a:avLst>
          </a:prstGeom>
          <a:solidFill>
            <a:schemeClr val="tx2"/>
          </a:solidFill>
          <a:ln/>
        </p:spPr>
      </p:sp>
      <p:sp>
        <p:nvSpPr>
          <p:cNvPr id="16" name="Arch 3 circle"/>
          <p:cNvSpPr/>
          <p:nvPr/>
        </p:nvSpPr>
        <p:spPr>
          <a:xfrm>
            <a:off x="6483096" y="1645920"/>
            <a:ext cx="566928" cy="566928"/>
          </a:xfrm>
          <a:prstGeom prst="ellipse">
            <a:avLst/>
          </a:prstGeom>
          <a:solidFill>
            <a:schemeClr val="accent2"/>
          </a:solidFill>
          <a:ln/>
        </p:spPr>
      </p:sp>
      <p:pic>
        <p:nvPicPr>
          <p:cNvPr id="17" name="Arch 3 icon" descr="preencoded.png">    </p:cNvPr>
          <p:cNvPicPr>
            <a:picLocks noChangeAspect="1"/>
          </p:cNvPicPr>
          <p:nvPr/>
        </p:nvPicPr>
        <p:blipFill>
          <a:blip r:embed="rId3"/>
          <a:stretch>
            <a:fillRect/>
          </a:stretch>
        </p:blipFill>
        <p:spPr>
          <a:xfrm>
            <a:off x="6624828" y="1787652"/>
            <a:ext cx="283464" cy="283464"/>
          </a:xfrm>
          <a:prstGeom prst="rect">
            <a:avLst/>
          </a:prstGeom>
        </p:spPr>
      </p:pic>
      <p:sp>
        <p:nvSpPr>
          <p:cNvPr id="18" name="Arch title 3"/>
          <p:cNvSpPr txBox="1"/>
          <p:nvPr/>
        </p:nvSpPr>
        <p:spPr>
          <a:xfrm>
            <a:off x="6483096" y="2331720"/>
            <a:ext cx="2148840" cy="640080"/>
          </a:xfrm>
          <a:prstGeom prst="rect">
            <a:avLst/>
          </a:prstGeom>
          <a:noFill/>
          <a:ln/>
        </p:spPr>
        <p:txBody>
          <a:bodyPr wrap="square" lIns="0" tIns="0" rIns="0" bIns="0" rtlCol="0" anchor="t"/>
          <a:lstStyle/>
          <a:p>
            <a:pPr indent="0" marL="0">
              <a:buNone/>
            </a:pPr>
            <a:r>
              <a:rPr lang="en-US" sz="1700" b="1" dirty="0">
                <a:solidFill>
                  <a:schemeClr val="bg1"/>
                </a:solidFill>
              </a:rPr>
              <a:t>Backend API</a:t>
            </a:r>
            <a:endParaRPr lang="en-US" sz="1700" dirty="0"/>
          </a:p>
          <a:p>
            <a:pPr indent="0" marL="0">
              <a:buNone/>
            </a:pPr>
            <a:r>
              <a:rPr lang="en-US" sz="1200" dirty="0">
                <a:solidFill>
                  <a:schemeClr val="accent1"/>
                </a:solidFill>
              </a:rPr>
              <a:t>FastAPI</a:t>
            </a:r>
            <a:endParaRPr lang="en-US" sz="1700" dirty="0"/>
          </a:p>
        </p:txBody>
      </p:sp>
      <p:sp>
        <p:nvSpPr>
          <p:cNvPr id="19" name="Arch items 3"/>
          <p:cNvSpPr txBox="1"/>
          <p:nvPr/>
        </p:nvSpPr>
        <p:spPr>
          <a:xfrm>
            <a:off x="6483096" y="3063240"/>
            <a:ext cx="2148840" cy="16459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2"/>
                </a:solidFill>
              </a:rPr>
              <a:t>/route  /search  /reverse</a:t>
            </a:r>
            <a:endParaRPr lang="en-US" sz="1300" dirty="0"/>
          </a:p>
          <a:p>
            <a:pPr marL="342900" indent="-342900">
              <a:spcAft>
                <a:spcPts val="400"/>
              </a:spcAft>
              <a:buSzPct val="100000"/>
              <a:buChar char="•"/>
            </a:pPr>
            <a:r>
              <a:rPr lang="en-US" sz="1300" dirty="0">
                <a:solidFill>
                  <a:schemeClr val="bg2"/>
                </a:solidFill>
              </a:rPr>
              <a:t>/layers  /network (heatmap)</a:t>
            </a:r>
            <a:endParaRPr lang="en-US" sz="1300" dirty="0"/>
          </a:p>
          <a:p>
            <a:pPr marL="342900" indent="-342900">
              <a:spcAft>
                <a:spcPts val="400"/>
              </a:spcAft>
              <a:buSzPct val="100000"/>
              <a:buChar char="•"/>
            </a:pPr>
            <a:r>
              <a:rPr lang="en-US" sz="1300" dirty="0">
                <a:solidFill>
                  <a:schemeClr val="bg2"/>
                </a:solidFill>
              </a:rPr>
              <a:t>Validates every input</a:t>
            </a:r>
            <a:endParaRPr lang="en-US" sz="1300" dirty="0"/>
          </a:p>
          <a:p>
            <a:pPr marL="342900" indent="-342900">
              <a:spcAft>
                <a:spcPts val="400"/>
              </a:spcAft>
              <a:buSzPct val="100000"/>
              <a:buChar char="•"/>
            </a:pPr>
            <a:r>
              <a:rPr lang="en-US" sz="1300" dirty="0">
                <a:solidFill>
                  <a:schemeClr val="bg2"/>
                </a:solidFill>
              </a:rPr>
              <a:t>Caches costs per hour</a:t>
            </a:r>
            <a:endParaRPr lang="en-US" sz="1300" dirty="0"/>
          </a:p>
        </p:txBody>
      </p:sp>
      <p:sp>
        <p:nvSpPr>
          <p:cNvPr id="20" name="Arch arrow 3"/>
          <p:cNvSpPr txBox="1"/>
          <p:nvPr/>
        </p:nvSpPr>
        <p:spPr>
          <a:xfrm>
            <a:off x="8769096" y="2788920"/>
            <a:ext cx="338328"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21" name="Arch card 4"/>
          <p:cNvSpPr/>
          <p:nvPr/>
        </p:nvSpPr>
        <p:spPr>
          <a:xfrm>
            <a:off x="9107424" y="1417320"/>
            <a:ext cx="2514600" cy="3429000"/>
          </a:xfrm>
          <a:prstGeom prst="roundRect">
            <a:avLst>
              <a:gd name="adj" fmla="val 4364"/>
            </a:avLst>
          </a:prstGeom>
          <a:solidFill>
            <a:schemeClr val="tx2"/>
          </a:solidFill>
          <a:ln/>
        </p:spPr>
      </p:sp>
      <p:sp>
        <p:nvSpPr>
          <p:cNvPr id="22" name="Arch 4 circle"/>
          <p:cNvSpPr/>
          <p:nvPr/>
        </p:nvSpPr>
        <p:spPr>
          <a:xfrm>
            <a:off x="9336024" y="1645920"/>
            <a:ext cx="566928" cy="566928"/>
          </a:xfrm>
          <a:prstGeom prst="ellipse">
            <a:avLst/>
          </a:prstGeom>
          <a:solidFill>
            <a:schemeClr val="accent3"/>
          </a:solidFill>
          <a:ln/>
        </p:spPr>
      </p:sp>
      <p:pic>
        <p:nvPicPr>
          <p:cNvPr id="23" name="Arch 4 icon" descr="preencoded.png">    </p:cNvPr>
          <p:cNvPicPr>
            <a:picLocks noChangeAspect="1"/>
          </p:cNvPicPr>
          <p:nvPr/>
        </p:nvPicPr>
        <p:blipFill>
          <a:blip r:embed="rId4"/>
          <a:stretch>
            <a:fillRect/>
          </a:stretch>
        </p:blipFill>
        <p:spPr>
          <a:xfrm>
            <a:off x="9477756" y="1787652"/>
            <a:ext cx="283464" cy="283464"/>
          </a:xfrm>
          <a:prstGeom prst="rect">
            <a:avLst/>
          </a:prstGeom>
        </p:spPr>
      </p:pic>
      <p:sp>
        <p:nvSpPr>
          <p:cNvPr id="24" name="Arch title 4"/>
          <p:cNvSpPr txBox="1"/>
          <p:nvPr/>
        </p:nvSpPr>
        <p:spPr>
          <a:xfrm>
            <a:off x="9336024" y="2331720"/>
            <a:ext cx="2148840" cy="640080"/>
          </a:xfrm>
          <a:prstGeom prst="rect">
            <a:avLst/>
          </a:prstGeom>
          <a:noFill/>
          <a:ln/>
        </p:spPr>
        <p:txBody>
          <a:bodyPr wrap="square" lIns="0" tIns="0" rIns="0" bIns="0" rtlCol="0" anchor="t"/>
          <a:lstStyle/>
          <a:p>
            <a:pPr indent="0" marL="0">
              <a:buNone/>
            </a:pPr>
            <a:r>
              <a:rPr lang="en-US" sz="1700" b="1" dirty="0">
                <a:solidFill>
                  <a:schemeClr val="bg1"/>
                </a:solidFill>
              </a:rPr>
              <a:t>Web interface</a:t>
            </a:r>
            <a:endParaRPr lang="en-US" sz="1700" dirty="0"/>
          </a:p>
          <a:p>
            <a:pPr indent="0" marL="0">
              <a:buNone/>
            </a:pPr>
            <a:r>
              <a:rPr lang="en-US" sz="1200" dirty="0">
                <a:solidFill>
                  <a:schemeClr val="accent1"/>
                </a:solidFill>
              </a:rPr>
              <a:t>MapLibre + JavaScript</a:t>
            </a:r>
            <a:endParaRPr lang="en-US" sz="1700" dirty="0"/>
          </a:p>
        </p:txBody>
      </p:sp>
      <p:sp>
        <p:nvSpPr>
          <p:cNvPr id="25" name="Arch items 4"/>
          <p:cNvSpPr txBox="1"/>
          <p:nvPr/>
        </p:nvSpPr>
        <p:spPr>
          <a:xfrm>
            <a:off x="9336024" y="3063240"/>
            <a:ext cx="2148840" cy="16459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2"/>
                </a:solidFill>
              </a:rPr>
              <a:t>Google-Maps-style map</a:t>
            </a:r>
            <a:endParaRPr lang="en-US" sz="1300" dirty="0"/>
          </a:p>
          <a:p>
            <a:pPr marL="342900" indent="-342900">
              <a:spcAft>
                <a:spcPts val="400"/>
              </a:spcAft>
              <a:buSzPct val="100000"/>
              <a:buChar char="•"/>
            </a:pPr>
            <a:r>
              <a:rPr lang="en-US" sz="1300" dirty="0">
                <a:solidFill>
                  <a:schemeClr val="bg2"/>
                </a:solidFill>
              </a:rPr>
              <a:t>Route cards &amp; charts</a:t>
            </a:r>
            <a:endParaRPr lang="en-US" sz="1300" dirty="0"/>
          </a:p>
          <a:p>
            <a:pPr marL="342900" indent="-342900">
              <a:spcAft>
                <a:spcPts val="400"/>
              </a:spcAft>
              <a:buSzPct val="100000"/>
              <a:buChar char="•"/>
            </a:pPr>
            <a:r>
              <a:rPr lang="en-US" sz="1300" dirty="0">
                <a:solidFill>
                  <a:schemeClr val="bg2"/>
                </a:solidFill>
              </a:rPr>
              <a:t>Desktop, mobile, dark mode</a:t>
            </a:r>
            <a:endParaRPr lang="en-US" sz="1300" dirty="0"/>
          </a:p>
        </p:txBody>
      </p:sp>
      <p:sp>
        <p:nvSpPr>
          <p:cNvPr id="26" name="Quality card 1"/>
          <p:cNvSpPr/>
          <p:nvPr/>
        </p:nvSpPr>
        <p:spPr>
          <a:xfrm>
            <a:off x="548640" y="5029200"/>
            <a:ext cx="3547872" cy="777240"/>
          </a:xfrm>
          <a:prstGeom prst="roundRect">
            <a:avLst>
              <a:gd name="adj" fmla="val 14118"/>
            </a:avLst>
          </a:prstGeom>
          <a:solidFill>
            <a:schemeClr val="tx2"/>
          </a:solidFill>
          <a:ln/>
        </p:spPr>
      </p:sp>
      <p:sp>
        <p:nvSpPr>
          <p:cNvPr id="27" name="Quality text 1"/>
          <p:cNvSpPr txBox="1"/>
          <p:nvPr/>
        </p:nvSpPr>
        <p:spPr>
          <a:xfrm>
            <a:off x="777240" y="5029200"/>
            <a:ext cx="3200400" cy="777240"/>
          </a:xfrm>
          <a:prstGeom prst="rect">
            <a:avLst/>
          </a:prstGeom>
          <a:noFill/>
          <a:ln/>
        </p:spPr>
        <p:txBody>
          <a:bodyPr wrap="square" lIns="0" tIns="0" rIns="0" bIns="0" rtlCol="0" anchor="ctr"/>
          <a:lstStyle/>
          <a:p>
            <a:pPr indent="0" marL="0">
              <a:buNone/>
            </a:pPr>
            <a:r>
              <a:rPr lang="en-US" sz="2200" b="1" dirty="0">
                <a:solidFill>
                  <a:schemeClr val="accent1"/>
                </a:solidFill>
              </a:rPr>
              <a:t>57  </a:t>
            </a:r>
            <a:pPr indent="0" marL="0">
              <a:buNone/>
            </a:pPr>
            <a:r>
              <a:rPr lang="en-US" sz="1400" dirty="0">
                <a:solidFill>
                  <a:schemeClr val="bg2"/>
                </a:solidFill>
              </a:rPr>
              <a:t>automated tests passing</a:t>
            </a:r>
            <a:endParaRPr lang="en-US" sz="2200" dirty="0"/>
          </a:p>
        </p:txBody>
      </p:sp>
      <p:sp>
        <p:nvSpPr>
          <p:cNvPr id="28" name="Quality card 2"/>
          <p:cNvSpPr/>
          <p:nvPr/>
        </p:nvSpPr>
        <p:spPr>
          <a:xfrm>
            <a:off x="4315968" y="5029200"/>
            <a:ext cx="3547872" cy="777240"/>
          </a:xfrm>
          <a:prstGeom prst="roundRect">
            <a:avLst>
              <a:gd name="adj" fmla="val 14118"/>
            </a:avLst>
          </a:prstGeom>
          <a:solidFill>
            <a:schemeClr val="tx2"/>
          </a:solidFill>
          <a:ln/>
        </p:spPr>
      </p:sp>
      <p:sp>
        <p:nvSpPr>
          <p:cNvPr id="29" name="Quality text 2"/>
          <p:cNvSpPr txBox="1"/>
          <p:nvPr/>
        </p:nvSpPr>
        <p:spPr>
          <a:xfrm>
            <a:off x="4544568" y="5029200"/>
            <a:ext cx="3200400" cy="777240"/>
          </a:xfrm>
          <a:prstGeom prst="rect">
            <a:avLst/>
          </a:prstGeom>
          <a:noFill/>
          <a:ln/>
        </p:spPr>
        <p:txBody>
          <a:bodyPr wrap="square" lIns="0" tIns="0" rIns="0" bIns="0" rtlCol="0" anchor="ctr"/>
          <a:lstStyle/>
          <a:p>
            <a:pPr indent="0" marL="0">
              <a:buNone/>
            </a:pPr>
            <a:r>
              <a:rPr lang="en-US" sz="2200" b="1" dirty="0">
                <a:solidFill>
                  <a:schemeClr val="accent1"/>
                </a:solidFill>
              </a:rPr>
              <a:t>400  </a:t>
            </a:r>
            <a:pPr indent="0" marL="0">
              <a:buNone/>
            </a:pPr>
            <a:r>
              <a:rPr lang="en-US" sz="1400" dirty="0">
                <a:solidFill>
                  <a:schemeClr val="bg2"/>
                </a:solidFill>
              </a:rPr>
              <a:t>simulated trips in validation</a:t>
            </a:r>
            <a:endParaRPr lang="en-US" sz="2200" dirty="0"/>
          </a:p>
        </p:txBody>
      </p:sp>
      <p:sp>
        <p:nvSpPr>
          <p:cNvPr id="30" name="Quality card 3"/>
          <p:cNvSpPr/>
          <p:nvPr/>
        </p:nvSpPr>
        <p:spPr>
          <a:xfrm>
            <a:off x="8083296" y="5029200"/>
            <a:ext cx="3547872" cy="777240"/>
          </a:xfrm>
          <a:prstGeom prst="roundRect">
            <a:avLst>
              <a:gd name="adj" fmla="val 14118"/>
            </a:avLst>
          </a:prstGeom>
          <a:solidFill>
            <a:schemeClr val="tx2"/>
          </a:solidFill>
          <a:ln/>
        </p:spPr>
      </p:sp>
      <p:sp>
        <p:nvSpPr>
          <p:cNvPr id="31" name="Quality text 3"/>
          <p:cNvSpPr txBox="1"/>
          <p:nvPr/>
        </p:nvSpPr>
        <p:spPr>
          <a:xfrm>
            <a:off x="8311896" y="5029200"/>
            <a:ext cx="3200400" cy="777240"/>
          </a:xfrm>
          <a:prstGeom prst="rect">
            <a:avLst/>
          </a:prstGeom>
          <a:noFill/>
          <a:ln/>
        </p:spPr>
        <p:txBody>
          <a:bodyPr wrap="square" lIns="0" tIns="0" rIns="0" bIns="0" rtlCol="0" anchor="ctr"/>
          <a:lstStyle/>
          <a:p>
            <a:pPr indent="0" marL="0">
              <a:buNone/>
            </a:pPr>
            <a:r>
              <a:rPr lang="en-US" sz="2200" b="1" dirty="0">
                <a:solidFill>
                  <a:schemeClr val="accent1"/>
                </a:solidFill>
              </a:rPr>
              <a:t>Open  </a:t>
            </a:r>
            <a:pPr indent="0" marL="0">
              <a:buNone/>
            </a:pPr>
            <a:r>
              <a:rPr lang="en-US" sz="1400" dirty="0">
                <a:solidFill>
                  <a:schemeClr val="bg2"/>
                </a:solidFill>
              </a:rPr>
              <a:t>data only, all sources cited</a:t>
            </a:r>
            <a:endParaRPr lang="en-US" sz="2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The interface</a:t>
            </a:r>
            <a:endParaRPr lang="en-US" sz="3200" dirty="0"/>
          </a:p>
        </p:txBody>
      </p:sp>
      <p:pic>
        <p:nvPicPr>
          <p:cNvPr id="3" name="App overview screenshot" descr="C:\Users\Arnav\AppData\Local\Temp\claude\c--Users-Arnav-Desktop-Route-Optimization---Safety-\5f9f9559-a1a4-4c99-88e6-31b7de64909c\scratchpad\deck\img\app_overview.png">    </p:cNvPr>
          <p:cNvPicPr>
            <a:picLocks noChangeAspect="1"/>
          </p:cNvPicPr>
          <p:nvPr/>
        </p:nvPicPr>
        <p:blipFill>
          <a:blip r:embed="rId1"/>
          <a:stretch>
            <a:fillRect/>
          </a:stretch>
        </p:blipFill>
        <p:spPr>
          <a:xfrm>
            <a:off x="548640" y="1417320"/>
            <a:ext cx="7315200" cy="4114800"/>
          </a:xfrm>
          <a:prstGeom prst="rect">
            <a:avLst/>
          </a:prstGeom>
          <a:effectLst>
            <a:outerShdw sx="100000" sy="100000" kx="0" ky="0" algn="bl" rotWithShape="0" blurRad="127000" dist="38100" dir="5400000">
              <a:srgbClr val="000000">
                <a:alpha val="45000"/>
              </a:srgbClr>
            </a:outerShdw>
          </a:effectLst>
        </p:spPr>
      </p:pic>
      <p:sp>
        <p:nvSpPr>
          <p:cNvPr id="4" name="UI caption"/>
          <p:cNvSpPr txBox="1"/>
          <p:nvPr/>
        </p:nvSpPr>
        <p:spPr>
          <a:xfrm>
            <a:off x="548640" y="5596128"/>
            <a:ext cx="7315200" cy="320040"/>
          </a:xfrm>
          <a:prstGeom prst="rect">
            <a:avLst/>
          </a:prstGeom>
          <a:noFill/>
          <a:ln/>
        </p:spPr>
        <p:txBody>
          <a:bodyPr wrap="square" lIns="0" tIns="0" rIns="0" bIns="0" rtlCol="0" anchor="ctr"/>
          <a:lstStyle/>
          <a:p>
            <a:pPr indent="0" marL="0">
              <a:buNone/>
            </a:pPr>
            <a:r>
              <a:rPr lang="en-US" sz="1200" i="1" dirty="0">
                <a:solidFill>
                  <a:schemeClr val="bg2"/>
                </a:solidFill>
              </a:rPr>
              <a:t>Live prototype: SVNIT → Surat Railway Station by car at 9 pm</a:t>
            </a:r>
            <a:endParaRPr lang="en-US" sz="1200" dirty="0"/>
          </a:p>
        </p:txBody>
      </p:sp>
      <p:sp>
        <p:nvSpPr>
          <p:cNvPr id="5" name="UI feature 1 circle"/>
          <p:cNvSpPr/>
          <p:nvPr/>
        </p:nvSpPr>
        <p:spPr>
          <a:xfrm>
            <a:off x="8183880" y="1463040"/>
            <a:ext cx="475488" cy="475488"/>
          </a:xfrm>
          <a:prstGeom prst="ellipse">
            <a:avLst/>
          </a:prstGeom>
          <a:solidFill>
            <a:schemeClr val="accent3"/>
          </a:solidFill>
          <a:ln/>
        </p:spPr>
      </p:sp>
      <p:pic>
        <p:nvPicPr>
          <p:cNvPr id="6" name="UI feature 1 icon" descr="preencoded.png">    </p:cNvPr>
          <p:cNvPicPr>
            <a:picLocks noChangeAspect="1"/>
          </p:cNvPicPr>
          <p:nvPr/>
        </p:nvPicPr>
        <p:blipFill>
          <a:blip r:embed="rId2"/>
          <a:stretch>
            <a:fillRect/>
          </a:stretch>
        </p:blipFill>
        <p:spPr>
          <a:xfrm>
            <a:off x="8302752" y="1581912"/>
            <a:ext cx="237744" cy="237744"/>
          </a:xfrm>
          <a:prstGeom prst="rect">
            <a:avLst/>
          </a:prstGeom>
        </p:spPr>
      </p:pic>
      <p:sp>
        <p:nvSpPr>
          <p:cNvPr id="7" name="UI feature text 1"/>
          <p:cNvSpPr txBox="1"/>
          <p:nvPr/>
        </p:nvSpPr>
        <p:spPr>
          <a:xfrm>
            <a:off x="8778240" y="1417320"/>
            <a:ext cx="2862072" cy="804672"/>
          </a:xfrm>
          <a:prstGeom prst="rect">
            <a:avLst/>
          </a:prstGeom>
          <a:noFill/>
          <a:ln/>
        </p:spPr>
        <p:txBody>
          <a:bodyPr wrap="square" lIns="0" tIns="0" rIns="0" bIns="0" rtlCol="0" anchor="t"/>
          <a:lstStyle/>
          <a:p>
            <a:pPr indent="0" marL="0">
              <a:buNone/>
            </a:pPr>
            <a:r>
              <a:rPr lang="en-US" sz="1500" b="1" dirty="0">
                <a:solidFill>
                  <a:schemeClr val="bg1"/>
                </a:solidFill>
              </a:rPr>
              <a:t>Search, click or locate</a:t>
            </a:r>
            <a:endParaRPr lang="en-US" sz="1500" dirty="0"/>
          </a:p>
          <a:p>
            <a:pPr indent="0" marL="0">
              <a:buNone/>
            </a:pPr>
            <a:r>
              <a:rPr lang="en-US" sz="1200" dirty="0">
                <a:solidFill>
                  <a:schemeClr val="bg2"/>
                </a:solidFill>
              </a:rPr>
              <a:t>Places, landmarks, map clicks or GPS</a:t>
            </a:r>
            <a:endParaRPr lang="en-US" sz="1500" dirty="0"/>
          </a:p>
        </p:txBody>
      </p:sp>
      <p:sp>
        <p:nvSpPr>
          <p:cNvPr id="8" name="UI feature 2 circle"/>
          <p:cNvSpPr/>
          <p:nvPr/>
        </p:nvSpPr>
        <p:spPr>
          <a:xfrm>
            <a:off x="8183880" y="2304288"/>
            <a:ext cx="475488" cy="475488"/>
          </a:xfrm>
          <a:prstGeom prst="ellipse">
            <a:avLst/>
          </a:prstGeom>
          <a:solidFill>
            <a:schemeClr val="accent3"/>
          </a:solidFill>
          <a:ln/>
        </p:spPr>
      </p:sp>
      <p:pic>
        <p:nvPicPr>
          <p:cNvPr id="9" name="UI feature 2 icon" descr="preencoded.png">    </p:cNvPr>
          <p:cNvPicPr>
            <a:picLocks noChangeAspect="1"/>
          </p:cNvPicPr>
          <p:nvPr/>
        </p:nvPicPr>
        <p:blipFill>
          <a:blip r:embed="rId3"/>
          <a:stretch>
            <a:fillRect/>
          </a:stretch>
        </p:blipFill>
        <p:spPr>
          <a:xfrm>
            <a:off x="8302752" y="2423160"/>
            <a:ext cx="237744" cy="237744"/>
          </a:xfrm>
          <a:prstGeom prst="rect">
            <a:avLst/>
          </a:prstGeom>
        </p:spPr>
      </p:pic>
      <p:sp>
        <p:nvSpPr>
          <p:cNvPr id="10" name="UI feature text 2"/>
          <p:cNvSpPr txBox="1"/>
          <p:nvPr/>
        </p:nvSpPr>
        <p:spPr>
          <a:xfrm>
            <a:off x="8778240" y="2258568"/>
            <a:ext cx="2862072" cy="804672"/>
          </a:xfrm>
          <a:prstGeom prst="rect">
            <a:avLst/>
          </a:prstGeom>
          <a:noFill/>
          <a:ln/>
        </p:spPr>
        <p:txBody>
          <a:bodyPr wrap="square" lIns="0" tIns="0" rIns="0" bIns="0" rtlCol="0" anchor="t"/>
          <a:lstStyle/>
          <a:p>
            <a:pPr indent="0" marL="0">
              <a:buNone/>
            </a:pPr>
            <a:r>
              <a:rPr lang="en-US" sz="1500" b="1" dirty="0">
                <a:solidFill>
                  <a:schemeClr val="bg1"/>
                </a:solidFill>
              </a:rPr>
              <a:t>Mode, time and priority</a:t>
            </a:r>
            <a:endParaRPr lang="en-US" sz="1500" dirty="0"/>
          </a:p>
          <a:p>
            <a:pPr indent="0" marL="0">
              <a:buNone/>
            </a:pPr>
            <a:r>
              <a:rPr lang="en-US" sz="1200" dirty="0">
                <a:solidFill>
                  <a:schemeClr val="bg2"/>
                </a:solidFill>
              </a:rPr>
              <a:t>Car, two-wheeler or walk; departure hour; safety slider; detour limit</a:t>
            </a:r>
            <a:endParaRPr lang="en-US" sz="1500" dirty="0"/>
          </a:p>
        </p:txBody>
      </p:sp>
      <p:sp>
        <p:nvSpPr>
          <p:cNvPr id="11" name="UI feature 3 circle"/>
          <p:cNvSpPr/>
          <p:nvPr/>
        </p:nvSpPr>
        <p:spPr>
          <a:xfrm>
            <a:off x="8183880" y="3145536"/>
            <a:ext cx="475488" cy="475488"/>
          </a:xfrm>
          <a:prstGeom prst="ellipse">
            <a:avLst/>
          </a:prstGeom>
          <a:solidFill>
            <a:schemeClr val="accent3"/>
          </a:solidFill>
          <a:ln/>
        </p:spPr>
      </p:sp>
      <p:pic>
        <p:nvPicPr>
          <p:cNvPr id="12" name="UI feature 3 icon" descr="preencoded.png">    </p:cNvPr>
          <p:cNvPicPr>
            <a:picLocks noChangeAspect="1"/>
          </p:cNvPicPr>
          <p:nvPr/>
        </p:nvPicPr>
        <p:blipFill>
          <a:blip r:embed="rId4"/>
          <a:stretch>
            <a:fillRect/>
          </a:stretch>
        </p:blipFill>
        <p:spPr>
          <a:xfrm>
            <a:off x="8302752" y="3264408"/>
            <a:ext cx="237744" cy="237744"/>
          </a:xfrm>
          <a:prstGeom prst="rect">
            <a:avLst/>
          </a:prstGeom>
        </p:spPr>
      </p:pic>
      <p:sp>
        <p:nvSpPr>
          <p:cNvPr id="13" name="UI feature text 3"/>
          <p:cNvSpPr txBox="1"/>
          <p:nvPr/>
        </p:nvSpPr>
        <p:spPr>
          <a:xfrm>
            <a:off x="8778240" y="3099816"/>
            <a:ext cx="2862072" cy="804672"/>
          </a:xfrm>
          <a:prstGeom prst="rect">
            <a:avLst/>
          </a:prstGeom>
          <a:noFill/>
          <a:ln/>
        </p:spPr>
        <p:txBody>
          <a:bodyPr wrap="square" lIns="0" tIns="0" rIns="0" bIns="0" rtlCol="0" anchor="t"/>
          <a:lstStyle/>
          <a:p>
            <a:pPr indent="0" marL="0">
              <a:buNone/>
            </a:pPr>
            <a:r>
              <a:rPr lang="en-US" sz="1500" b="1" dirty="0">
                <a:solidFill>
                  <a:schemeClr val="bg1"/>
                </a:solidFill>
              </a:rPr>
              <a:t>Three routes, one glance</a:t>
            </a:r>
            <a:endParaRPr lang="en-US" sz="1500" dirty="0"/>
          </a:p>
          <a:p>
            <a:pPr indent="0" marL="0">
              <a:buNone/>
            </a:pPr>
            <a:r>
              <a:rPr lang="en-US" sz="1200" dirty="0">
                <a:solidFill>
                  <a:schemeClr val="bg2"/>
                </a:solidFill>
              </a:rPr>
              <a:t>Score, extra minutes and % lower risk on each card</a:t>
            </a:r>
            <a:endParaRPr lang="en-US" sz="1500" dirty="0"/>
          </a:p>
        </p:txBody>
      </p:sp>
      <p:sp>
        <p:nvSpPr>
          <p:cNvPr id="14" name="UI feature 4 circle"/>
          <p:cNvSpPr/>
          <p:nvPr/>
        </p:nvSpPr>
        <p:spPr>
          <a:xfrm>
            <a:off x="8183880" y="3986784"/>
            <a:ext cx="475488" cy="475488"/>
          </a:xfrm>
          <a:prstGeom prst="ellipse">
            <a:avLst/>
          </a:prstGeom>
          <a:solidFill>
            <a:schemeClr val="accent3"/>
          </a:solidFill>
          <a:ln/>
        </p:spPr>
      </p:sp>
      <p:pic>
        <p:nvPicPr>
          <p:cNvPr id="15" name="UI feature 4 icon" descr="preencoded.png">    </p:cNvPr>
          <p:cNvPicPr>
            <a:picLocks noChangeAspect="1"/>
          </p:cNvPicPr>
          <p:nvPr/>
        </p:nvPicPr>
        <p:blipFill>
          <a:blip r:embed="rId5"/>
          <a:stretch>
            <a:fillRect/>
          </a:stretch>
        </p:blipFill>
        <p:spPr>
          <a:xfrm>
            <a:off x="8302752" y="4105656"/>
            <a:ext cx="237744" cy="237744"/>
          </a:xfrm>
          <a:prstGeom prst="rect">
            <a:avLst/>
          </a:prstGeom>
        </p:spPr>
      </p:pic>
      <p:sp>
        <p:nvSpPr>
          <p:cNvPr id="16" name="UI feature text 4"/>
          <p:cNvSpPr txBox="1"/>
          <p:nvPr/>
        </p:nvSpPr>
        <p:spPr>
          <a:xfrm>
            <a:off x="8778240" y="3941064"/>
            <a:ext cx="2862072" cy="804672"/>
          </a:xfrm>
          <a:prstGeom prst="rect">
            <a:avLst/>
          </a:prstGeom>
          <a:noFill/>
          <a:ln/>
        </p:spPr>
        <p:txBody>
          <a:bodyPr wrap="square" lIns="0" tIns="0" rIns="0" bIns="0" rtlCol="0" anchor="t"/>
          <a:lstStyle/>
          <a:p>
            <a:pPr indent="0" marL="0">
              <a:buNone/>
            </a:pPr>
            <a:r>
              <a:rPr lang="en-US" sz="1500" b="1" dirty="0">
                <a:solidFill>
                  <a:schemeClr val="bg1"/>
                </a:solidFill>
              </a:rPr>
              <a:t>Explains the choice</a:t>
            </a:r>
            <a:endParaRPr lang="en-US" sz="1500" dirty="0"/>
          </a:p>
          <a:p>
            <a:pPr indent="0" marL="0">
              <a:buNone/>
            </a:pPr>
            <a:r>
              <a:rPr lang="en-US" sz="1200" dirty="0">
                <a:solidFill>
                  <a:schemeClr val="bg2"/>
                </a:solidFill>
              </a:rPr>
              <a:t>Blackspots, dark stretches, risky turns and a risk-along-route chart</a:t>
            </a:r>
            <a:endParaRPr lang="en-US" sz="1500" dirty="0"/>
          </a:p>
        </p:txBody>
      </p:sp>
      <p:sp>
        <p:nvSpPr>
          <p:cNvPr id="17" name="UI feature 5 circle"/>
          <p:cNvSpPr/>
          <p:nvPr/>
        </p:nvSpPr>
        <p:spPr>
          <a:xfrm>
            <a:off x="8183880" y="4828032"/>
            <a:ext cx="475488" cy="475488"/>
          </a:xfrm>
          <a:prstGeom prst="ellipse">
            <a:avLst/>
          </a:prstGeom>
          <a:solidFill>
            <a:schemeClr val="accent3"/>
          </a:solidFill>
          <a:ln/>
        </p:spPr>
      </p:sp>
      <p:pic>
        <p:nvPicPr>
          <p:cNvPr id="18" name="UI feature 5 icon" descr="preencoded.png">    </p:cNvPr>
          <p:cNvPicPr>
            <a:picLocks noChangeAspect="1"/>
          </p:cNvPicPr>
          <p:nvPr/>
        </p:nvPicPr>
        <p:blipFill>
          <a:blip r:embed="rId6"/>
          <a:stretch>
            <a:fillRect/>
          </a:stretch>
        </p:blipFill>
        <p:spPr>
          <a:xfrm>
            <a:off x="8302752" y="4946904"/>
            <a:ext cx="237744" cy="237744"/>
          </a:xfrm>
          <a:prstGeom prst="rect">
            <a:avLst/>
          </a:prstGeom>
        </p:spPr>
      </p:pic>
      <p:sp>
        <p:nvSpPr>
          <p:cNvPr id="19" name="UI feature text 5"/>
          <p:cNvSpPr txBox="1"/>
          <p:nvPr/>
        </p:nvSpPr>
        <p:spPr>
          <a:xfrm>
            <a:off x="8778240" y="4782312"/>
            <a:ext cx="2862072" cy="804672"/>
          </a:xfrm>
          <a:prstGeom prst="rect">
            <a:avLst/>
          </a:prstGeom>
          <a:noFill/>
          <a:ln/>
        </p:spPr>
        <p:txBody>
          <a:bodyPr wrap="square" lIns="0" tIns="0" rIns="0" bIns="0" rtlCol="0" anchor="t"/>
          <a:lstStyle/>
          <a:p>
            <a:pPr indent="0" marL="0">
              <a:buNone/>
            </a:pPr>
            <a:r>
              <a:rPr lang="en-US" sz="1500" b="1" dirty="0">
                <a:solidFill>
                  <a:schemeClr val="bg1"/>
                </a:solidFill>
              </a:rPr>
              <a:t>Works everywhere</a:t>
            </a:r>
            <a:endParaRPr lang="en-US" sz="1500" dirty="0"/>
          </a:p>
          <a:p>
            <a:pPr indent="0" marL="0">
              <a:buNone/>
            </a:pPr>
            <a:r>
              <a:rPr lang="en-US" sz="1200" dirty="0">
                <a:solidFill>
                  <a:schemeClr val="bg2"/>
                </a:solidFill>
              </a:rPr>
              <a:t>Mobile bottom sheet, dark mode, shareable trip links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Case study: SVNIT → Surat Station</a:t>
            </a:r>
            <a:endParaRPr lang="en-US" sz="3200" dirty="0"/>
          </a:p>
        </p:txBody>
      </p:sp>
      <p:graphicFrame>
        <p:nvGraphicFramePr>
          <p:cNvPr id="15" name="Case study table"/>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1828800"/>
                <a:gridCol w="1280160"/>
                <a:gridCol w="1188720"/>
                <a:gridCol w="1005840"/>
                <a:gridCol w="1645920"/>
              </a:tblGrid>
              <a:tr h="56692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Route (car, 9 pm)</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24304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Time</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24304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Extra</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24304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Score</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24304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Risk vs fastest</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243049"/>
                    </a:solidFill>
                  </a:tcPr>
                </a:tc>
              </a:tr>
              <a:tr h="566928">
                <a:tc>
                  <a:txBody>
                    <a:bodyPr/>
                    <a:lstStyle/>
                    <a:p>
                      <a:pPr indent="0" marL="0">
                        <a:buNone/>
                      </a:pPr>
                      <a:r>
                        <a:rPr lang="en-US" sz="1500" b="1" dirty="0">
                          <a:solidFill>
                            <a:srgbClr val="EB6834"/>
                          </a:solidFill>
                          <a:latin typeface="Calibri" pitchFamily="34" charset="0"/>
                          <a:ea typeface="Calibri" pitchFamily="34" charset="-122"/>
                          <a:cs typeface="Calibri" pitchFamily="34" charset="-120"/>
                        </a:rPr>
                        <a:t>Fastest</a:t>
                      </a:r>
                      <a:endParaRPr lang="en-US" sz="15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22.5 min</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66</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r h="566928">
                <a:tc>
                  <a:txBody>
                    <a:bodyPr/>
                    <a:lstStyle/>
                    <a:p>
                      <a:pPr indent="0" marL="0">
                        <a:buNone/>
                      </a:pPr>
                      <a:r>
                        <a:rPr lang="en-US" sz="1500" b="1" dirty="0">
                          <a:solidFill>
                            <a:srgbClr val="1BAF7A"/>
                          </a:solidFill>
                          <a:latin typeface="Calibri" pitchFamily="34" charset="0"/>
                          <a:ea typeface="Calibri" pitchFamily="34" charset="-122"/>
                          <a:cs typeface="Calibri" pitchFamily="34" charset="-120"/>
                        </a:rPr>
                        <a:t>Balanced</a:t>
                      </a:r>
                      <a:endParaRPr lang="en-US" sz="15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25.0 min</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+2.5 min</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76</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−37%</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r h="566928">
                <a:tc>
                  <a:txBody>
                    <a:bodyPr/>
                    <a:lstStyle/>
                    <a:p>
                      <a:pPr indent="0" marL="0">
                        <a:buNone/>
                      </a:pPr>
                      <a:r>
                        <a:rPr lang="en-US" sz="1500" b="1" dirty="0">
                          <a:solidFill>
                            <a:srgbClr val="3987E5"/>
                          </a:solidFill>
                          <a:latin typeface="Calibri" pitchFamily="34" charset="0"/>
                          <a:ea typeface="Calibri" pitchFamily="34" charset="-122"/>
                          <a:cs typeface="Calibri" pitchFamily="34" charset="-120"/>
                        </a:rPr>
                        <a:t>Safest</a:t>
                      </a:r>
                      <a:endParaRPr lang="en-US" sz="15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28.0 min</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+5.5 min</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algn="ctr" indent="0" marL="0">
                        <a:buNone/>
                      </a:pPr>
                      <a:r>
                        <a:rPr lang="en-US" sz="1400" dirty="0">
                          <a:solidFill>
                            <a:srgbClr val="CBD5E1"/>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−46%</a:t>
                      </a:r>
                      <a:endParaRPr lang="en-US" sz="1400" dirty="0">
                        <a:latin typeface="Calibri" charset="0"/>
                        <a:ea typeface="Calibri" charset="0"/>
                        <a:cs typeface="Calibri" charset="0"/>
                      </a:endParaRPr>
                    </a:p>
                  </a:txBody>
                  <a:tcPr marL="137160" marR="137160" marT="54864" marB="54864" anchor="ctr">
                    <a:lnL w="12700" cap="flat" cmpd="sng" algn="ctr">
                      <a:solidFill>
                        <a:srgbClr val="0E1627"/>
                      </a:solidFill>
                      <a:prstDash val="solid"/>
                      <a:round/>
                      <a:headEnd type="none" w="med" len="med"/>
                      <a:tailEnd type="none" w="med" len="med"/>
                    </a:lnL>
                    <a:lnR w="12700" cap="flat" cmpd="sng" algn="ctr">
                      <a:solidFill>
                        <a:srgbClr val="0E1627"/>
                      </a:solidFill>
                      <a:prstDash val="solid"/>
                      <a:round/>
                      <a:headEnd type="none" w="med" len="med"/>
                      <a:tailEnd type="none" w="med" len="med"/>
                    </a:lnR>
                    <a:lnT w="12700" cap="flat" cmpd="sng" algn="ctr">
                      <a:solidFill>
                        <a:srgbClr val="0E1627"/>
                      </a:solidFill>
                      <a:prstDash val="solid"/>
                      <a:round/>
                      <a:headEnd type="none" w="med" len="med"/>
                      <a:tailEnd type="none" w="med" len="med"/>
                    </a:lnT>
                    <a:lnB w="12700" cap="flat" cmpd="sng" algn="ctr">
                      <a:solidFill>
                        <a:srgbClr val="0E1627"/>
                      </a:solidFill>
                      <a:prstDash val="solid"/>
                      <a:round/>
                      <a:headEnd type="none" w="med" len="med"/>
                      <a:tailEnd type="none" w="med" len="med"/>
                    </a:lnB>
                    <a:solidFill>
                      <a:srgbClr val="1B2539"/>
                    </a:solidFill>
                  </a:tcPr>
                </a:tc>
              </a:tr>
            </a:tbl>
          </a:graphicData>
        </a:graphic>
      </p:graphicFrame>
      <p:sp>
        <p:nvSpPr>
          <p:cNvPr id="4" name="Why card"/>
          <p:cNvSpPr/>
          <p:nvPr/>
        </p:nvSpPr>
        <p:spPr>
          <a:xfrm>
            <a:off x="548640" y="3886200"/>
            <a:ext cx="6949440" cy="1965960"/>
          </a:xfrm>
          <a:prstGeom prst="roundRect">
            <a:avLst>
              <a:gd name="adj" fmla="val 5581"/>
            </a:avLst>
          </a:prstGeom>
          <a:solidFill>
            <a:schemeClr val="tx2"/>
          </a:solidFill>
          <a:ln/>
        </p:spPr>
      </p:sp>
      <p:sp>
        <p:nvSpPr>
          <p:cNvPr id="5" name="Why title"/>
          <p:cNvSpPr txBox="1"/>
          <p:nvPr/>
        </p:nvSpPr>
        <p:spPr>
          <a:xfrm>
            <a:off x="777240" y="4005072"/>
            <a:ext cx="6492240" cy="365760"/>
          </a:xfrm>
          <a:prstGeom prst="rect">
            <a:avLst/>
          </a:prstGeom>
          <a:noFill/>
          <a:ln/>
        </p:spPr>
        <p:txBody>
          <a:bodyPr wrap="square" lIns="0" tIns="0" rIns="0" bIns="0" rtlCol="0" anchor="ctr"/>
          <a:lstStyle/>
          <a:p>
            <a:pPr indent="0" marL="0">
              <a:buNone/>
            </a:pPr>
            <a:r>
              <a:rPr lang="en-US" sz="1500" b="1" dirty="0">
                <a:solidFill>
                  <a:schemeClr val="accent1"/>
                </a:solidFill>
              </a:rPr>
              <a:t>Why the routes differ</a:t>
            </a:r>
            <a:endParaRPr lang="en-US" sz="1500" dirty="0"/>
          </a:p>
        </p:txBody>
      </p:sp>
      <p:sp>
        <p:nvSpPr>
          <p:cNvPr id="6" name="Why bullets"/>
          <p:cNvSpPr txBox="1"/>
          <p:nvPr/>
        </p:nvSpPr>
        <p:spPr>
          <a:xfrm>
            <a:off x="777240" y="4389120"/>
            <a:ext cx="6537960"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bg2"/>
                </a:solidFill>
              </a:rPr>
              <a:t>Fastest stays on high-speed flyovers (Majura Gate, Udhna Darwaja, Ring Road): 91% on arterials</a:t>
            </a:r>
            <a:endParaRPr lang="en-US" sz="1300" dirty="0"/>
          </a:p>
          <a:p>
            <a:pPr marL="342900" indent="-342900">
              <a:spcAft>
                <a:spcPts val="400"/>
              </a:spcAft>
              <a:buSzPct val="100000"/>
              <a:buChar char="•"/>
            </a:pPr>
            <a:r>
              <a:rPr lang="en-US" sz="1300" dirty="0">
                <a:solidFill>
                  <a:schemeClr val="bg2"/>
                </a:solidFill>
              </a:rPr>
              <a:t>Balanced leaves the flyover chain and uses Nanawat Main Road: only 42% on arterials</a:t>
            </a:r>
            <a:endParaRPr lang="en-US" sz="1300" dirty="0"/>
          </a:p>
          <a:p>
            <a:pPr marL="342900" indent="-342900">
              <a:spcAft>
                <a:spcPts val="400"/>
              </a:spcAft>
              <a:buSzPct val="100000"/>
              <a:buChar char="•"/>
            </a:pPr>
            <a:r>
              <a:rPr lang="en-US" sz="1300" dirty="0">
                <a:solidFill>
                  <a:schemeClr val="bg2"/>
                </a:solidFill>
              </a:rPr>
              <a:t>Same pattern at 9 am and for two-wheelers: 40–48% lower risk for the safest route</a:t>
            </a:r>
            <a:endParaRPr lang="en-US" sz="1300" dirty="0"/>
          </a:p>
        </p:txBody>
      </p:sp>
      <p:sp>
        <p:nvSpPr>
          <p:cNvPr id="7" name="Survey link card"/>
          <p:cNvSpPr/>
          <p:nvPr/>
        </p:nvSpPr>
        <p:spPr>
          <a:xfrm>
            <a:off x="7772400" y="1417320"/>
            <a:ext cx="3867912" cy="4434840"/>
          </a:xfrm>
          <a:prstGeom prst="roundRect">
            <a:avLst>
              <a:gd name="adj" fmla="val 2837"/>
            </a:avLst>
          </a:prstGeom>
          <a:solidFill>
            <a:schemeClr val="tx2"/>
          </a:solidFill>
          <a:ln/>
        </p:spPr>
      </p:sp>
      <p:sp>
        <p:nvSpPr>
          <p:cNvPr id="8" name="Survey link circle"/>
          <p:cNvSpPr/>
          <p:nvPr/>
        </p:nvSpPr>
        <p:spPr>
          <a:xfrm>
            <a:off x="8001000" y="1645920"/>
            <a:ext cx="566928" cy="566928"/>
          </a:xfrm>
          <a:prstGeom prst="ellipse">
            <a:avLst/>
          </a:prstGeom>
          <a:solidFill>
            <a:schemeClr val="accent3"/>
          </a:solidFill>
          <a:ln/>
        </p:spPr>
      </p:sp>
      <p:pic>
        <p:nvPicPr>
          <p:cNvPr id="9" name="Survey link icon" descr="preencoded.png">    </p:cNvPr>
          <p:cNvPicPr>
            <a:picLocks noChangeAspect="1"/>
          </p:cNvPicPr>
          <p:nvPr/>
        </p:nvPicPr>
        <p:blipFill>
          <a:blip r:embed="rId1"/>
          <a:stretch>
            <a:fillRect/>
          </a:stretch>
        </p:blipFill>
        <p:spPr>
          <a:xfrm>
            <a:off x="8142732" y="1787652"/>
            <a:ext cx="283464" cy="283464"/>
          </a:xfrm>
          <a:prstGeom prst="rect">
            <a:avLst/>
          </a:prstGeom>
        </p:spPr>
      </p:pic>
      <p:sp>
        <p:nvSpPr>
          <p:cNvPr id="10" name="Survey link title"/>
          <p:cNvSpPr txBox="1"/>
          <p:nvPr/>
        </p:nvSpPr>
        <p:spPr>
          <a:xfrm>
            <a:off x="8732520" y="1691640"/>
            <a:ext cx="2743200" cy="457200"/>
          </a:xfrm>
          <a:prstGeom prst="rect">
            <a:avLst/>
          </a:prstGeom>
          <a:noFill/>
          <a:ln/>
        </p:spPr>
        <p:txBody>
          <a:bodyPr wrap="square" lIns="0" tIns="0" rIns="0" bIns="0" rtlCol="0" anchor="ctr"/>
          <a:lstStyle/>
          <a:p>
            <a:pPr indent="0" marL="0">
              <a:buNone/>
            </a:pPr>
            <a:r>
              <a:rPr lang="en-US" sz="1800" b="1" dirty="0">
                <a:solidFill>
                  <a:schemeClr val="bg1"/>
                </a:solidFill>
              </a:rPr>
              <a:t>Survey meets model</a:t>
            </a:r>
            <a:endParaRPr lang="en-US" sz="1800" dirty="0"/>
          </a:p>
        </p:txBody>
      </p:sp>
      <p:sp>
        <p:nvSpPr>
          <p:cNvPr id="11" name="Survey link text"/>
          <p:cNvSpPr txBox="1"/>
          <p:nvPr/>
        </p:nvSpPr>
        <p:spPr>
          <a:xfrm>
            <a:off x="8001000" y="2377440"/>
            <a:ext cx="3429000" cy="3291840"/>
          </a:xfrm>
          <a:prstGeom prst="rect">
            <a:avLst/>
          </a:prstGeom>
          <a:noFill/>
          <a:ln/>
        </p:spPr>
        <p:txBody>
          <a:bodyPr wrap="square" lIns="0" tIns="0" rIns="0" bIns="0" rtlCol="0" anchor="t"/>
          <a:lstStyle/>
          <a:p>
            <a:pPr indent="0" marL="0">
              <a:buNone/>
            </a:pPr>
            <a:r>
              <a:rPr lang="en-US" sz="3200" b="1" dirty="0">
                <a:solidFill>
                  <a:schemeClr val="accent3"/>
                </a:solidFill>
              </a:rPr>
              <a:t>57.9%</a:t>
            </a:r>
            <a:endParaRPr lang="en-US" sz="3200" dirty="0"/>
          </a:p>
          <a:p>
            <a:pPr indent="0" marL="0">
              <a:buNone/>
            </a:pPr>
            <a:r>
              <a:rPr lang="en-US" sz="1400" dirty="0">
                <a:solidFill>
                  <a:schemeClr val="bg2"/>
                </a:solidFill>
              </a:rPr>
              <a:t>of commuters would accept 2–3 extra minutes</a:t>
            </a:r>
            <a:endParaRPr lang="en-US" sz="3200" dirty="0"/>
          </a:p>
          <a:p>
            <a:pPr indent="0" marL="0">
              <a:buNone/>
            </a:pPr>
            <a:r>
              <a:rPr lang="en-US" sz="800" dirty="0">
                <a:solidFill>
                  <a:srgbClr val="000000"/>
                </a:solidFill>
              </a:rPr>
              <a:t> </a:t>
            </a:r>
            <a:endParaRPr lang="en-US" sz="3200" dirty="0"/>
          </a:p>
          <a:p>
            <a:pPr indent="0" marL="0">
              <a:buNone/>
            </a:pPr>
            <a:r>
              <a:rPr lang="en-US" sz="3200" b="1" dirty="0">
                <a:solidFill>
                  <a:schemeClr val="accent1"/>
                </a:solidFill>
              </a:rPr>
              <a:t>+2.5 min</a:t>
            </a:r>
            <a:endParaRPr lang="en-US" sz="3200" dirty="0"/>
          </a:p>
          <a:p>
            <a:pPr indent="0" marL="0">
              <a:buNone/>
            </a:pPr>
            <a:r>
              <a:rPr lang="en-US" sz="1400" dirty="0">
                <a:solidFill>
                  <a:schemeClr val="bg2"/>
                </a:solidFill>
              </a:rPr>
              <a:t>is what the Balanced route costs here, for 37% lower modelled risk</a:t>
            </a:r>
            <a:endParaRPr lang="en-US" sz="3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Validation: 400 simulated trips</a:t>
            </a:r>
            <a:endParaRPr lang="en-US" sz="3200" dirty="0"/>
          </a:p>
        </p:txBody>
      </p:sp>
      <p:sp>
        <p:nvSpPr>
          <p:cNvPr id="3" name="Validation chart card"/>
          <p:cNvSpPr/>
          <p:nvPr/>
        </p:nvSpPr>
        <p:spPr>
          <a:xfrm>
            <a:off x="548640" y="1417320"/>
            <a:ext cx="6949440" cy="4434840"/>
          </a:xfrm>
          <a:prstGeom prst="roundRect">
            <a:avLst>
              <a:gd name="adj" fmla="val 2474"/>
            </a:avLst>
          </a:prstGeom>
          <a:solidFill>
            <a:schemeClr val="tx2"/>
          </a:solidFill>
          <a:ln/>
        </p:spPr>
      </p:sp>
      <p:graphicFrame>
        <p:nvGraphicFramePr>
          <p:cNvPr id="4" name="Validation chart" descr=""/>
          <p:cNvGraphicFramePr/>
          <p:nvPr/>
        </p:nvGraphicFramePr>
        <p:xfrm>
          <a:off x="731520" y="1554480"/>
          <a:ext cx="6583680" cy="4160520"/>
        </p:xfrm>
        <a:graphic xmlns:a="http://schemas.openxmlformats.org/drawingml/2006/main">
          <a:graphicData uri="http://schemas.openxmlformats.org/drawingml/2006/chart">
            <c:chart xmlns:c="http://schemas.openxmlformats.org/drawingml/2006/chart" r:id="rId1"/>
          </a:graphicData>
        </a:graphic>
      </p:graphicFrame>
      <p:sp>
        <p:nvSpPr>
          <p:cNvPr id="5" name="KPI card 1"/>
          <p:cNvSpPr/>
          <p:nvPr/>
        </p:nvSpPr>
        <p:spPr>
          <a:xfrm>
            <a:off x="7772400" y="1417320"/>
            <a:ext cx="1883664" cy="1463040"/>
          </a:xfrm>
          <a:prstGeom prst="roundRect">
            <a:avLst>
              <a:gd name="adj" fmla="val 7500"/>
            </a:avLst>
          </a:prstGeom>
          <a:solidFill>
            <a:schemeClr val="tx2"/>
          </a:solidFill>
          <a:ln/>
        </p:spPr>
      </p:sp>
      <p:sp>
        <p:nvSpPr>
          <p:cNvPr id="6" name="KPI value 1"/>
          <p:cNvSpPr txBox="1"/>
          <p:nvPr/>
        </p:nvSpPr>
        <p:spPr>
          <a:xfrm>
            <a:off x="7882128" y="1581912"/>
            <a:ext cx="1664208" cy="548640"/>
          </a:xfrm>
          <a:prstGeom prst="rect">
            <a:avLst/>
          </a:prstGeom>
          <a:noFill/>
          <a:ln/>
        </p:spPr>
        <p:txBody>
          <a:bodyPr wrap="square" lIns="0" tIns="0" rIns="0" bIns="0" rtlCol="0" anchor="ctr"/>
          <a:lstStyle/>
          <a:p>
            <a:pPr algn="ctr" indent="0" marL="0">
              <a:buNone/>
            </a:pPr>
            <a:r>
              <a:rPr lang="en-US" sz="2400" b="1" dirty="0">
                <a:solidFill>
                  <a:schemeClr val="accent3"/>
                </a:solidFill>
              </a:rPr>
              <a:t>−26.9%</a:t>
            </a:r>
            <a:endParaRPr lang="en-US" sz="2400" dirty="0"/>
          </a:p>
        </p:txBody>
      </p:sp>
      <p:sp>
        <p:nvSpPr>
          <p:cNvPr id="7" name="KPI label 1"/>
          <p:cNvSpPr txBox="1"/>
          <p:nvPr/>
        </p:nvSpPr>
        <p:spPr>
          <a:xfrm>
            <a:off x="7882128" y="2167128"/>
            <a:ext cx="1664208" cy="594360"/>
          </a:xfrm>
          <a:prstGeom prst="rect">
            <a:avLst/>
          </a:prstGeom>
          <a:noFill/>
          <a:ln/>
        </p:spPr>
        <p:txBody>
          <a:bodyPr wrap="square" lIns="0" tIns="0" rIns="0" bIns="0" rtlCol="0" anchor="t"/>
          <a:lstStyle/>
          <a:p>
            <a:pPr algn="ctr" indent="0" marL="0">
              <a:buNone/>
            </a:pPr>
            <a:r>
              <a:rPr lang="en-US" sz="1200" dirty="0">
                <a:solidFill>
                  <a:schemeClr val="bg2"/>
                </a:solidFill>
              </a:rPr>
              <a:t>average modelled risk</a:t>
            </a:r>
            <a:endParaRPr lang="en-US" sz="1200" dirty="0"/>
          </a:p>
        </p:txBody>
      </p:sp>
      <p:sp>
        <p:nvSpPr>
          <p:cNvPr id="8" name="KPI card 2"/>
          <p:cNvSpPr/>
          <p:nvPr/>
        </p:nvSpPr>
        <p:spPr>
          <a:xfrm>
            <a:off x="9756648" y="1417320"/>
            <a:ext cx="1883664" cy="1463040"/>
          </a:xfrm>
          <a:prstGeom prst="roundRect">
            <a:avLst>
              <a:gd name="adj" fmla="val 7500"/>
            </a:avLst>
          </a:prstGeom>
          <a:solidFill>
            <a:schemeClr val="tx2"/>
          </a:solidFill>
          <a:ln/>
        </p:spPr>
      </p:sp>
      <p:sp>
        <p:nvSpPr>
          <p:cNvPr id="9" name="KPI value 2"/>
          <p:cNvSpPr txBox="1"/>
          <p:nvPr/>
        </p:nvSpPr>
        <p:spPr>
          <a:xfrm>
            <a:off x="9866376" y="1581912"/>
            <a:ext cx="1664208" cy="548640"/>
          </a:xfrm>
          <a:prstGeom prst="rect">
            <a:avLst/>
          </a:prstGeom>
          <a:noFill/>
          <a:ln/>
        </p:spPr>
        <p:txBody>
          <a:bodyPr wrap="square" lIns="0" tIns="0" rIns="0" bIns="0" rtlCol="0" anchor="ctr"/>
          <a:lstStyle/>
          <a:p>
            <a:pPr algn="ctr" indent="0" marL="0">
              <a:buNone/>
            </a:pPr>
            <a:r>
              <a:rPr lang="en-US" sz="2400" b="1" dirty="0">
                <a:solidFill>
                  <a:schemeClr val="accent1"/>
                </a:solidFill>
              </a:rPr>
              <a:t>+3.5 min</a:t>
            </a:r>
            <a:endParaRPr lang="en-US" sz="2400" dirty="0"/>
          </a:p>
        </p:txBody>
      </p:sp>
      <p:sp>
        <p:nvSpPr>
          <p:cNvPr id="10" name="KPI label 2"/>
          <p:cNvSpPr txBox="1"/>
          <p:nvPr/>
        </p:nvSpPr>
        <p:spPr>
          <a:xfrm>
            <a:off x="9866376" y="2167128"/>
            <a:ext cx="1664208" cy="594360"/>
          </a:xfrm>
          <a:prstGeom prst="rect">
            <a:avLst/>
          </a:prstGeom>
          <a:noFill/>
          <a:ln/>
        </p:spPr>
        <p:txBody>
          <a:bodyPr wrap="square" lIns="0" tIns="0" rIns="0" bIns="0" rtlCol="0" anchor="t"/>
          <a:lstStyle/>
          <a:p>
            <a:pPr algn="ctr" indent="0" marL="0">
              <a:buNone/>
            </a:pPr>
            <a:r>
              <a:rPr lang="en-US" sz="1200" dirty="0">
                <a:solidFill>
                  <a:schemeClr val="bg2"/>
                </a:solidFill>
              </a:rPr>
              <a:t>average extra travel time</a:t>
            </a:r>
            <a:endParaRPr lang="en-US" sz="1200" dirty="0"/>
          </a:p>
        </p:txBody>
      </p:sp>
      <p:sp>
        <p:nvSpPr>
          <p:cNvPr id="11" name="KPI card 3"/>
          <p:cNvSpPr/>
          <p:nvPr/>
        </p:nvSpPr>
        <p:spPr>
          <a:xfrm>
            <a:off x="7772400" y="3017520"/>
            <a:ext cx="1883664" cy="1463040"/>
          </a:xfrm>
          <a:prstGeom prst="roundRect">
            <a:avLst>
              <a:gd name="adj" fmla="val 7500"/>
            </a:avLst>
          </a:prstGeom>
          <a:solidFill>
            <a:schemeClr val="tx2"/>
          </a:solidFill>
          <a:ln/>
        </p:spPr>
      </p:sp>
      <p:sp>
        <p:nvSpPr>
          <p:cNvPr id="12" name="KPI value 3"/>
          <p:cNvSpPr txBox="1"/>
          <p:nvPr/>
        </p:nvSpPr>
        <p:spPr>
          <a:xfrm>
            <a:off x="7882128" y="3182112"/>
            <a:ext cx="1664208" cy="548640"/>
          </a:xfrm>
          <a:prstGeom prst="rect">
            <a:avLst/>
          </a:prstGeom>
          <a:noFill/>
          <a:ln/>
        </p:spPr>
        <p:txBody>
          <a:bodyPr wrap="square" lIns="0" tIns="0" rIns="0" bIns="0" rtlCol="0" anchor="ctr"/>
          <a:lstStyle/>
          <a:p>
            <a:pPr algn="ctr" indent="0" marL="0">
              <a:buNone/>
            </a:pPr>
            <a:r>
              <a:rPr lang="en-US" sz="2400" b="1" dirty="0">
                <a:solidFill>
                  <a:schemeClr val="accent6"/>
                </a:solidFill>
              </a:rPr>
              <a:t>107 → 41</a:t>
            </a:r>
            <a:endParaRPr lang="en-US" sz="2400" dirty="0"/>
          </a:p>
        </p:txBody>
      </p:sp>
      <p:sp>
        <p:nvSpPr>
          <p:cNvPr id="13" name="KPI label 3"/>
          <p:cNvSpPr txBox="1"/>
          <p:nvPr/>
        </p:nvSpPr>
        <p:spPr>
          <a:xfrm>
            <a:off x="7882128" y="3767328"/>
            <a:ext cx="1664208" cy="594360"/>
          </a:xfrm>
          <a:prstGeom prst="rect">
            <a:avLst/>
          </a:prstGeom>
          <a:noFill/>
          <a:ln/>
        </p:spPr>
        <p:txBody>
          <a:bodyPr wrap="square" lIns="0" tIns="0" rIns="0" bIns="0" rtlCol="0" anchor="t"/>
          <a:lstStyle/>
          <a:p>
            <a:pPr algn="ctr" indent="0" marL="0">
              <a:buNone/>
            </a:pPr>
            <a:r>
              <a:rPr lang="en-US" sz="1200" dirty="0">
                <a:solidFill>
                  <a:schemeClr val="bg2"/>
                </a:solidFill>
              </a:rPr>
              <a:t>times a route passed a blackspot</a:t>
            </a:r>
            <a:endParaRPr lang="en-US" sz="1200" dirty="0"/>
          </a:p>
        </p:txBody>
      </p:sp>
      <p:sp>
        <p:nvSpPr>
          <p:cNvPr id="14" name="KPI card 4"/>
          <p:cNvSpPr/>
          <p:nvPr/>
        </p:nvSpPr>
        <p:spPr>
          <a:xfrm>
            <a:off x="9756648" y="3017520"/>
            <a:ext cx="1883664" cy="1463040"/>
          </a:xfrm>
          <a:prstGeom prst="roundRect">
            <a:avLst>
              <a:gd name="adj" fmla="val 7500"/>
            </a:avLst>
          </a:prstGeom>
          <a:solidFill>
            <a:schemeClr val="tx2"/>
          </a:solidFill>
          <a:ln/>
        </p:spPr>
      </p:sp>
      <p:sp>
        <p:nvSpPr>
          <p:cNvPr id="15" name="KPI value 4"/>
          <p:cNvSpPr txBox="1"/>
          <p:nvPr/>
        </p:nvSpPr>
        <p:spPr>
          <a:xfrm>
            <a:off x="9866376" y="3182112"/>
            <a:ext cx="1664208" cy="548640"/>
          </a:xfrm>
          <a:prstGeom prst="rect">
            <a:avLst/>
          </a:prstGeom>
          <a:noFill/>
          <a:ln/>
        </p:spPr>
        <p:txBody>
          <a:bodyPr wrap="square" lIns="0" tIns="0" rIns="0" bIns="0" rtlCol="0" anchor="ctr"/>
          <a:lstStyle/>
          <a:p>
            <a:pPr algn="ctr" indent="0" marL="0">
              <a:buNone/>
            </a:pPr>
            <a:r>
              <a:rPr lang="en-US" sz="2400" b="1" dirty="0">
                <a:solidFill>
                  <a:schemeClr val="accent2"/>
                </a:solidFill>
              </a:rPr>
              <a:t>70 → 78</a:t>
            </a:r>
            <a:endParaRPr lang="en-US" sz="2400" dirty="0"/>
          </a:p>
        </p:txBody>
      </p:sp>
      <p:sp>
        <p:nvSpPr>
          <p:cNvPr id="16" name="KPI label 4"/>
          <p:cNvSpPr txBox="1"/>
          <p:nvPr/>
        </p:nvSpPr>
        <p:spPr>
          <a:xfrm>
            <a:off x="9866376" y="3767328"/>
            <a:ext cx="1664208" cy="594360"/>
          </a:xfrm>
          <a:prstGeom prst="rect">
            <a:avLst/>
          </a:prstGeom>
          <a:noFill/>
          <a:ln/>
        </p:spPr>
        <p:txBody>
          <a:bodyPr wrap="square" lIns="0" tIns="0" rIns="0" bIns="0" rtlCol="0" anchor="t"/>
          <a:lstStyle/>
          <a:p>
            <a:pPr algn="ctr" indent="0" marL="0">
              <a:buNone/>
            </a:pPr>
            <a:r>
              <a:rPr lang="en-US" sz="1200" dirty="0">
                <a:solidFill>
                  <a:schemeClr val="bg2"/>
                </a:solidFill>
              </a:rPr>
              <a:t>average safety score</a:t>
            </a:r>
            <a:endParaRPr lang="en-US" sz="1200" dirty="0"/>
          </a:p>
        </p:txBody>
      </p:sp>
      <p:sp>
        <p:nvSpPr>
          <p:cNvPr id="17" name="Night card"/>
          <p:cNvSpPr/>
          <p:nvPr/>
        </p:nvSpPr>
        <p:spPr>
          <a:xfrm>
            <a:off x="7772400" y="4663440"/>
            <a:ext cx="3867912" cy="1188720"/>
          </a:xfrm>
          <a:prstGeom prst="roundRect">
            <a:avLst>
              <a:gd name="adj" fmla="val 9231"/>
            </a:avLst>
          </a:prstGeom>
          <a:solidFill>
            <a:schemeClr val="tx2"/>
          </a:solidFill>
          <a:ln/>
        </p:spPr>
      </p:sp>
      <p:sp>
        <p:nvSpPr>
          <p:cNvPr id="18" name="Night note"/>
          <p:cNvSpPr txBox="1"/>
          <p:nvPr/>
        </p:nvSpPr>
        <p:spPr>
          <a:xfrm>
            <a:off x="7955280" y="4709160"/>
            <a:ext cx="3566160" cy="1097280"/>
          </a:xfrm>
          <a:prstGeom prst="rect">
            <a:avLst/>
          </a:prstGeom>
          <a:noFill/>
          <a:ln/>
        </p:spPr>
        <p:txBody>
          <a:bodyPr wrap="square" lIns="0" tIns="0" rIns="0" bIns="0" rtlCol="0" anchor="ctr"/>
          <a:lstStyle/>
          <a:p>
            <a:pPr indent="0" marL="0">
              <a:buNone/>
            </a:pPr>
            <a:r>
              <a:rPr lang="en-US" sz="1300" b="1" dirty="0">
                <a:solidFill>
                  <a:schemeClr val="bg1"/>
                </a:solidFill>
              </a:rPr>
              <a:t>Night gains are larger: </a:t>
            </a:r>
            <a:pPr indent="0" marL="0">
              <a:buNone/>
            </a:pPr>
            <a:r>
              <a:rPr lang="en-US" sz="1300" dirty="0">
                <a:solidFill>
                  <a:schemeClr val="bg2"/>
                </a:solidFill>
              </a:rPr>
              <a:t>darkness and higher night-time speeds make the gap between routes bigger.</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indent="0" marL="0">
              <a:buNone/>
            </a:pPr>
            <a:r>
              <a:rPr lang="en-US" sz="3200" b="1" dirty="0">
                <a:solidFill>
                  <a:schemeClr val="bg1"/>
                </a:solidFill>
              </a:rPr>
              <a:t>Limitations and next steps</a:t>
            </a:r>
            <a:endParaRPr lang="en-US" sz="3200" dirty="0"/>
          </a:p>
        </p:txBody>
      </p:sp>
      <p:sp>
        <p:nvSpPr>
          <p:cNvPr id="3" name="Limits card"/>
          <p:cNvSpPr/>
          <p:nvPr/>
        </p:nvSpPr>
        <p:spPr>
          <a:xfrm>
            <a:off x="548640" y="1417320"/>
            <a:ext cx="5394960" cy="4434840"/>
          </a:xfrm>
          <a:prstGeom prst="roundRect">
            <a:avLst>
              <a:gd name="adj" fmla="val 2474"/>
            </a:avLst>
          </a:prstGeom>
          <a:solidFill>
            <a:schemeClr val="tx2"/>
          </a:solidFill>
          <a:ln/>
        </p:spPr>
      </p:sp>
      <p:sp>
        <p:nvSpPr>
          <p:cNvPr id="4" name="Limits circle"/>
          <p:cNvSpPr/>
          <p:nvPr/>
        </p:nvSpPr>
        <p:spPr>
          <a:xfrm>
            <a:off x="777240" y="1600200"/>
            <a:ext cx="502920" cy="502920"/>
          </a:xfrm>
          <a:prstGeom prst="ellipse">
            <a:avLst/>
          </a:prstGeom>
          <a:solidFill>
            <a:schemeClr val="accent5"/>
          </a:solidFill>
          <a:ln/>
        </p:spPr>
      </p:sp>
      <p:pic>
        <p:nvPicPr>
          <p:cNvPr id="5" name="Limits icon" descr="preencoded.png">    </p:cNvPr>
          <p:cNvPicPr>
            <a:picLocks noChangeAspect="1"/>
          </p:cNvPicPr>
          <p:nvPr/>
        </p:nvPicPr>
        <p:blipFill>
          <a:blip r:embed="rId1"/>
          <a:stretch>
            <a:fillRect/>
          </a:stretch>
        </p:blipFill>
        <p:spPr>
          <a:xfrm>
            <a:off x="902970" y="1725930"/>
            <a:ext cx="251460" cy="251460"/>
          </a:xfrm>
          <a:prstGeom prst="rect">
            <a:avLst/>
          </a:prstGeom>
        </p:spPr>
      </p:pic>
      <p:sp>
        <p:nvSpPr>
          <p:cNvPr id="6" name="Limits title"/>
          <p:cNvSpPr txBox="1"/>
          <p:nvPr/>
        </p:nvSpPr>
        <p:spPr>
          <a:xfrm>
            <a:off x="1417320" y="1600200"/>
            <a:ext cx="4389120" cy="502920"/>
          </a:xfrm>
          <a:prstGeom prst="rect">
            <a:avLst/>
          </a:prstGeom>
          <a:noFill/>
          <a:ln/>
        </p:spPr>
        <p:txBody>
          <a:bodyPr wrap="square" lIns="0" tIns="0" rIns="0" bIns="0" rtlCol="0" anchor="ctr"/>
          <a:lstStyle/>
          <a:p>
            <a:pPr indent="0" marL="0">
              <a:buNone/>
            </a:pPr>
            <a:r>
              <a:rPr lang="en-US" sz="1800" b="1" dirty="0">
                <a:solidFill>
                  <a:schemeClr val="bg1"/>
                </a:solidFill>
              </a:rPr>
              <a:t>What we can't claim yet</a:t>
            </a:r>
            <a:endParaRPr lang="en-US" sz="1800" dirty="0"/>
          </a:p>
        </p:txBody>
      </p:sp>
      <p:sp>
        <p:nvSpPr>
          <p:cNvPr id="7" name="Limits list"/>
          <p:cNvSpPr txBox="1"/>
          <p:nvPr/>
        </p:nvSpPr>
        <p:spPr>
          <a:xfrm>
            <a:off x="777240" y="2286000"/>
            <a:ext cx="4983480" cy="3383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2"/>
                </a:solidFill>
              </a:rPr>
              <a:t>Risk is modelled and calibrated, not observed street-by-street</a:t>
            </a:r>
            <a:endParaRPr lang="en-US" sz="1400" dirty="0"/>
          </a:p>
          <a:p>
            <a:pPr marL="342900" indent="-342900">
              <a:spcAft>
                <a:spcPts val="800"/>
              </a:spcAft>
              <a:buSzPct val="100000"/>
              <a:buChar char="•"/>
            </a:pPr>
            <a:r>
              <a:rPr lang="en-US" sz="1400" dirty="0">
                <a:solidFill>
                  <a:schemeClr val="bg2"/>
                </a:solidFill>
              </a:rPr>
              <a:t>Blackspot data is uneven: 15 in Ahmedabad, 1 in Rajkot</a:t>
            </a:r>
            <a:endParaRPr lang="en-US" sz="1400" dirty="0"/>
          </a:p>
          <a:p>
            <a:pPr marL="342900" indent="-342900">
              <a:spcAft>
                <a:spcPts val="800"/>
              </a:spcAft>
              <a:buSzPct val="100000"/>
              <a:buChar char="•"/>
            </a:pPr>
            <a:r>
              <a:rPr lang="en-US" sz="1400" dirty="0">
                <a:solidFill>
                  <a:schemeClr val="bg2"/>
                </a:solidFill>
              </a:rPr>
              <a:t>Satellite lighting (~500 m) can't separate neighbouring streets</a:t>
            </a:r>
            <a:endParaRPr lang="en-US" sz="1400" dirty="0"/>
          </a:p>
          <a:p>
            <a:pPr marL="342900" indent="-342900">
              <a:spcAft>
                <a:spcPts val="800"/>
              </a:spcAft>
              <a:buSzPct val="100000"/>
              <a:buChar char="•"/>
            </a:pPr>
            <a:r>
              <a:rPr lang="en-US" sz="1400" dirty="0">
                <a:solidFill>
                  <a:schemeClr val="bg2"/>
                </a:solidFill>
              </a:rPr>
              <a:t>Survey represents SVNIT commuters, not all of Surat</a:t>
            </a:r>
            <a:endParaRPr lang="en-US" sz="1400" dirty="0"/>
          </a:p>
          <a:p>
            <a:pPr marL="342900" indent="-342900">
              <a:spcAft>
                <a:spcPts val="800"/>
              </a:spcAft>
              <a:buSzPct val="100000"/>
              <a:buChar char="•"/>
            </a:pPr>
            <a:r>
              <a:rPr lang="en-US" sz="1400" dirty="0">
                <a:solidFill>
                  <a:schemeClr val="bg2"/>
                </a:solidFill>
              </a:rPr>
              <a:t>No inter-city routing; AQI belongs to the other team</a:t>
            </a:r>
            <a:endParaRPr lang="en-US" sz="1400" dirty="0"/>
          </a:p>
        </p:txBody>
      </p:sp>
      <p:sp>
        <p:nvSpPr>
          <p:cNvPr id="8" name="Next card"/>
          <p:cNvSpPr/>
          <p:nvPr/>
        </p:nvSpPr>
        <p:spPr>
          <a:xfrm>
            <a:off x="6245352" y="1417320"/>
            <a:ext cx="5394960" cy="4434840"/>
          </a:xfrm>
          <a:prstGeom prst="roundRect">
            <a:avLst>
              <a:gd name="adj" fmla="val 2474"/>
            </a:avLst>
          </a:prstGeom>
          <a:solidFill>
            <a:schemeClr val="tx2"/>
          </a:solidFill>
          <a:ln/>
        </p:spPr>
      </p:sp>
      <p:sp>
        <p:nvSpPr>
          <p:cNvPr id="9" name="Next circle"/>
          <p:cNvSpPr/>
          <p:nvPr/>
        </p:nvSpPr>
        <p:spPr>
          <a:xfrm>
            <a:off x="6473952" y="1600200"/>
            <a:ext cx="502920" cy="502920"/>
          </a:xfrm>
          <a:prstGeom prst="ellipse">
            <a:avLst/>
          </a:prstGeom>
          <a:solidFill>
            <a:schemeClr val="accent3"/>
          </a:solidFill>
          <a:ln/>
        </p:spPr>
      </p:sp>
      <p:pic>
        <p:nvPicPr>
          <p:cNvPr id="10" name="Next icon" descr="preencoded.png">    </p:cNvPr>
          <p:cNvPicPr>
            <a:picLocks noChangeAspect="1"/>
          </p:cNvPicPr>
          <p:nvPr/>
        </p:nvPicPr>
        <p:blipFill>
          <a:blip r:embed="rId2"/>
          <a:stretch>
            <a:fillRect/>
          </a:stretch>
        </p:blipFill>
        <p:spPr>
          <a:xfrm>
            <a:off x="6599682" y="1725930"/>
            <a:ext cx="251460" cy="251460"/>
          </a:xfrm>
          <a:prstGeom prst="rect">
            <a:avLst/>
          </a:prstGeom>
        </p:spPr>
      </p:pic>
      <p:sp>
        <p:nvSpPr>
          <p:cNvPr id="11" name="Next title"/>
          <p:cNvSpPr txBox="1"/>
          <p:nvPr/>
        </p:nvSpPr>
        <p:spPr>
          <a:xfrm>
            <a:off x="7114032" y="1600200"/>
            <a:ext cx="4389120" cy="502920"/>
          </a:xfrm>
          <a:prstGeom prst="rect">
            <a:avLst/>
          </a:prstGeom>
          <a:noFill/>
          <a:ln/>
        </p:spPr>
        <p:txBody>
          <a:bodyPr wrap="square" lIns="0" tIns="0" rIns="0" bIns="0" rtlCol="0" anchor="ctr"/>
          <a:lstStyle/>
          <a:p>
            <a:pPr indent="0" marL="0">
              <a:buNone/>
            </a:pPr>
            <a:r>
              <a:rPr lang="en-US" sz="1800" b="1" dirty="0">
                <a:solidFill>
                  <a:schemeClr val="bg1"/>
                </a:solidFill>
              </a:rPr>
              <a:t>Next steps</a:t>
            </a:r>
            <a:endParaRPr lang="en-US" sz="1800" dirty="0"/>
          </a:p>
        </p:txBody>
      </p:sp>
      <p:sp>
        <p:nvSpPr>
          <p:cNvPr id="12" name="Next item 1"/>
          <p:cNvSpPr txBox="1"/>
          <p:nvPr/>
        </p:nvSpPr>
        <p:spPr>
          <a:xfrm>
            <a:off x="6473952" y="2286000"/>
            <a:ext cx="4983480" cy="804672"/>
          </a:xfrm>
          <a:prstGeom prst="rect">
            <a:avLst/>
          </a:prstGeom>
          <a:noFill/>
          <a:ln/>
        </p:spPr>
        <p:txBody>
          <a:bodyPr wrap="square" lIns="0" tIns="0" rIns="0" bIns="0" rtlCol="0" anchor="t"/>
          <a:lstStyle/>
          <a:p>
            <a:pPr indent="0" marL="0">
              <a:buNone/>
            </a:pPr>
            <a:r>
              <a:rPr lang="en-US" sz="1400" b="1" dirty="0">
                <a:solidFill>
                  <a:schemeClr val="accent1"/>
                </a:solidFill>
              </a:rPr>
              <a:t>Field validation</a:t>
            </a:r>
            <a:endParaRPr lang="en-US" sz="1400" dirty="0"/>
          </a:p>
          <a:p>
            <a:pPr indent="0" marL="0">
              <a:buNone/>
            </a:pPr>
            <a:r>
              <a:rPr lang="en-US" sz="1300" dirty="0">
                <a:solidFill>
                  <a:schemeClr val="bg2"/>
                </a:solidFill>
              </a:rPr>
              <a:t>Time Routes A, B, C in the field; road-safety audit of the corridor</a:t>
            </a:r>
            <a:endParaRPr lang="en-US" sz="1400" dirty="0"/>
          </a:p>
        </p:txBody>
      </p:sp>
      <p:sp>
        <p:nvSpPr>
          <p:cNvPr id="13" name="Next item 2"/>
          <p:cNvSpPr txBox="1"/>
          <p:nvPr/>
        </p:nvSpPr>
        <p:spPr>
          <a:xfrm>
            <a:off x="6473952" y="3154680"/>
            <a:ext cx="4983480" cy="804672"/>
          </a:xfrm>
          <a:prstGeom prst="rect">
            <a:avLst/>
          </a:prstGeom>
          <a:noFill/>
          <a:ln/>
        </p:spPr>
        <p:txBody>
          <a:bodyPr wrap="square" lIns="0" tIns="0" rIns="0" bIns="0" rtlCol="0" anchor="t"/>
          <a:lstStyle/>
          <a:p>
            <a:pPr indent="0" marL="0">
              <a:buNone/>
            </a:pPr>
            <a:r>
              <a:rPr lang="en-US" sz="1400" b="1" dirty="0">
                <a:solidFill>
                  <a:schemeClr val="accent1"/>
                </a:solidFill>
              </a:rPr>
              <a:t>Data-driven crash model</a:t>
            </a:r>
            <a:endParaRPr lang="en-US" sz="1400" dirty="0"/>
          </a:p>
          <a:p>
            <a:pPr indent="0" marL="0">
              <a:buNone/>
            </a:pPr>
            <a:r>
              <a:rPr lang="en-US" sz="1300" dirty="0">
                <a:solidFill>
                  <a:schemeClr val="bg2"/>
                </a:solidFill>
              </a:rPr>
              <a:t>Train a crash-frequency model once geo-coded (iRAD) crash data is available</a:t>
            </a:r>
            <a:endParaRPr lang="en-US" sz="1400" dirty="0"/>
          </a:p>
        </p:txBody>
      </p:sp>
      <p:sp>
        <p:nvSpPr>
          <p:cNvPr id="14" name="Next item 3"/>
          <p:cNvSpPr txBox="1"/>
          <p:nvPr/>
        </p:nvSpPr>
        <p:spPr>
          <a:xfrm>
            <a:off x="6473952" y="4023360"/>
            <a:ext cx="4983480" cy="804672"/>
          </a:xfrm>
          <a:prstGeom prst="rect">
            <a:avLst/>
          </a:prstGeom>
          <a:noFill/>
          <a:ln/>
        </p:spPr>
        <p:txBody>
          <a:bodyPr wrap="square" lIns="0" tIns="0" rIns="0" bIns="0" rtlCol="0" anchor="t"/>
          <a:lstStyle/>
          <a:p>
            <a:pPr indent="0" marL="0">
              <a:buNone/>
            </a:pPr>
            <a:r>
              <a:rPr lang="en-US" sz="1400" b="1" dirty="0">
                <a:solidFill>
                  <a:schemeClr val="accent1"/>
                </a:solidFill>
              </a:rPr>
              <a:t>Deployment</a:t>
            </a:r>
            <a:endParaRPr lang="en-US" sz="1400" dirty="0"/>
          </a:p>
          <a:p>
            <a:pPr indent="0" marL="0">
              <a:buNone/>
            </a:pPr>
            <a:r>
              <a:rPr lang="en-US" sz="1300" dirty="0">
                <a:solidFill>
                  <a:schemeClr val="bg2"/>
                </a:solidFill>
              </a:rPr>
              <a:t>Hosted demo and phone-friendly version for a pilot with students</a:t>
            </a:r>
            <a:endParaRPr lang="en-US" sz="1400" dirty="0"/>
          </a:p>
        </p:txBody>
      </p:sp>
      <p:sp>
        <p:nvSpPr>
          <p:cNvPr id="15" name="Next item 4"/>
          <p:cNvSpPr txBox="1"/>
          <p:nvPr/>
        </p:nvSpPr>
        <p:spPr>
          <a:xfrm>
            <a:off x="6473952" y="4892040"/>
            <a:ext cx="4983480" cy="804672"/>
          </a:xfrm>
          <a:prstGeom prst="rect">
            <a:avLst/>
          </a:prstGeom>
          <a:noFill/>
          <a:ln/>
        </p:spPr>
        <p:txBody>
          <a:bodyPr wrap="square" lIns="0" tIns="0" rIns="0" bIns="0" rtlCol="0" anchor="t"/>
          <a:lstStyle/>
          <a:p>
            <a:pPr indent="0" marL="0">
              <a:buNone/>
            </a:pPr>
            <a:r>
              <a:rPr lang="en-US" sz="1400" b="1" dirty="0">
                <a:solidFill>
                  <a:schemeClr val="accent1"/>
                </a:solidFill>
              </a:rPr>
              <a:t>Integration</a:t>
            </a:r>
            <a:endParaRPr lang="en-US" sz="1400" dirty="0"/>
          </a:p>
          <a:p>
            <a:pPr indent="0" marL="0">
              <a:buNone/>
            </a:pPr>
            <a:r>
              <a:rPr lang="en-US" sz="1300" dirty="0">
                <a:solidFill>
                  <a:schemeClr val="bg2"/>
                </a:solidFill>
              </a:rPr>
              <a:t>Combine safety with the AQI and efficiency objectives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Brand circle"/>
          <p:cNvSpPr/>
          <p:nvPr/>
        </p:nvSpPr>
        <p:spPr>
          <a:xfrm>
            <a:off x="548640" y="502920"/>
            <a:ext cx="566928" cy="566928"/>
          </a:xfrm>
          <a:prstGeom prst="ellipse">
            <a:avLst/>
          </a:prstGeom>
          <a:solidFill>
            <a:schemeClr val="accent1"/>
          </a:solidFill>
          <a:ln/>
        </p:spPr>
      </p:sp>
      <p:pic>
        <p:nvPicPr>
          <p:cNvPr id="3" name="Brand icon" descr="preencoded.png">    </p:cNvPr>
          <p:cNvPicPr>
            <a:picLocks noChangeAspect="1"/>
          </p:cNvPicPr>
          <p:nvPr/>
        </p:nvPicPr>
        <p:blipFill>
          <a:blip r:embed="rId1"/>
          <a:stretch>
            <a:fillRect/>
          </a:stretch>
        </p:blipFill>
        <p:spPr>
          <a:xfrm>
            <a:off x="690372" y="644652"/>
            <a:ext cx="283464" cy="283464"/>
          </a:xfrm>
          <a:prstGeom prst="rect">
            <a:avLst/>
          </a:prstGeom>
        </p:spPr>
      </p:pic>
      <p:sp>
        <p:nvSpPr>
          <p:cNvPr id="4" name="Text 0"/>
          <p:cNvSpPr/>
          <p:nvPr>
            <p:ph idx="100" type="title" hasCustomPrompt="1"/>
          </p:nvPr>
        </p:nvSpPr>
        <p:spPr>
          <a:xfrm>
            <a:off x="548640" y="1234440"/>
            <a:ext cx="6035040" cy="1737360"/>
          </a:xfrm>
          <a:prstGeom prst="rect">
            <a:avLst/>
          </a:prstGeom>
          <a:noFill/>
          <a:ln/>
        </p:spPr>
        <p:txBody>
          <a:bodyPr wrap="square" lIns="0" tIns="0" rIns="0" bIns="0" rtlCol="0" anchor="t"/>
          <a:lstStyle/>
          <a:p>
            <a:pPr indent="0" marL="0">
              <a:buNone/>
            </a:pPr>
            <a:r>
              <a:rPr lang="en-US" sz="4800" b="1" dirty="0">
                <a:solidFill>
                  <a:schemeClr val="bg1"/>
                </a:solidFill>
              </a:rPr>
              <a:t>Thank you</a:t>
            </a:r>
            <a:endParaRPr lang="en-US" sz="4800" dirty="0"/>
          </a:p>
        </p:txBody>
      </p:sp>
      <p:sp>
        <p:nvSpPr>
          <p:cNvPr id="5" name="Text 0"/>
          <p:cNvSpPr/>
          <p:nvPr>
            <p:ph idx="101" type="body" hasCustomPrompt="1"/>
          </p:nvPr>
        </p:nvSpPr>
        <p:spPr>
          <a:xfrm>
            <a:off x="548640" y="3063240"/>
            <a:ext cx="5669280" cy="822960"/>
          </a:xfrm>
          <a:prstGeom prst="rect">
            <a:avLst/>
          </a:prstGeom>
          <a:noFill/>
          <a:ln/>
        </p:spPr>
        <p:txBody>
          <a:bodyPr wrap="square" lIns="0" tIns="0" rIns="0" bIns="0" rtlCol="0" anchor="t"/>
          <a:lstStyle/>
          <a:p>
            <a:pPr indent="0" marL="0">
              <a:buNone/>
            </a:pPr>
            <a:r>
              <a:rPr lang="en-US" sz="1800" dirty="0">
                <a:solidFill>
                  <a:schemeClr val="bg2"/>
                </a:solidFill>
              </a:rPr>
              <a:t>Questions and live demo</a:t>
            </a:r>
            <a:endParaRPr lang="en-US" sz="1800" dirty="0"/>
          </a:p>
        </p:txBody>
      </p:sp>
      <p:sp>
        <p:nvSpPr>
          <p:cNvPr id="6" name="Summary card 1"/>
          <p:cNvSpPr/>
          <p:nvPr/>
        </p:nvSpPr>
        <p:spPr>
          <a:xfrm>
            <a:off x="548640" y="4160520"/>
            <a:ext cx="2606040" cy="1234440"/>
          </a:xfrm>
          <a:prstGeom prst="roundRect">
            <a:avLst>
              <a:gd name="adj" fmla="val 8889"/>
            </a:avLst>
          </a:prstGeom>
          <a:solidFill>
            <a:schemeClr val="tx2"/>
          </a:solidFill>
          <a:ln/>
        </p:spPr>
      </p:sp>
      <p:sp>
        <p:nvSpPr>
          <p:cNvPr id="7" name="Summary value 1"/>
          <p:cNvSpPr txBox="1"/>
          <p:nvPr/>
        </p:nvSpPr>
        <p:spPr>
          <a:xfrm>
            <a:off x="731520" y="4224528"/>
            <a:ext cx="2286000" cy="594360"/>
          </a:xfrm>
          <a:prstGeom prst="rect">
            <a:avLst/>
          </a:prstGeom>
          <a:noFill/>
          <a:ln/>
        </p:spPr>
        <p:txBody>
          <a:bodyPr wrap="square" lIns="0" tIns="0" rIns="0" bIns="0" rtlCol="0" anchor="ctr"/>
          <a:lstStyle/>
          <a:p>
            <a:pPr indent="0" marL="0">
              <a:buNone/>
            </a:pPr>
            <a:r>
              <a:rPr lang="en-US" sz="2800" b="1" dirty="0">
                <a:solidFill>
                  <a:schemeClr val="accent1"/>
                </a:solidFill>
              </a:rPr>
              <a:t>5 cities</a:t>
            </a:r>
            <a:endParaRPr lang="en-US" sz="2800" dirty="0"/>
          </a:p>
        </p:txBody>
      </p:sp>
      <p:sp>
        <p:nvSpPr>
          <p:cNvPr id="8" name="Summary label 1"/>
          <p:cNvSpPr txBox="1"/>
          <p:nvPr/>
        </p:nvSpPr>
        <p:spPr>
          <a:xfrm>
            <a:off x="731520" y="4818888"/>
            <a:ext cx="2286000" cy="411480"/>
          </a:xfrm>
          <a:prstGeom prst="rect">
            <a:avLst/>
          </a:prstGeom>
          <a:noFill/>
          <a:ln/>
        </p:spPr>
        <p:txBody>
          <a:bodyPr wrap="square" lIns="0" tIns="0" rIns="0" bIns="0" rtlCol="0" anchor="ctr"/>
          <a:lstStyle/>
          <a:p>
            <a:pPr indent="0" marL="0">
              <a:buNone/>
            </a:pPr>
            <a:r>
              <a:rPr lang="en-US" sz="1400" dirty="0">
                <a:solidFill>
                  <a:schemeClr val="bg2"/>
                </a:solidFill>
              </a:rPr>
              <a:t>one safety router</a:t>
            </a:r>
            <a:endParaRPr lang="en-US" sz="1400" dirty="0"/>
          </a:p>
        </p:txBody>
      </p:sp>
      <p:sp>
        <p:nvSpPr>
          <p:cNvPr id="9" name="Summary card 2"/>
          <p:cNvSpPr/>
          <p:nvPr/>
        </p:nvSpPr>
        <p:spPr>
          <a:xfrm>
            <a:off x="3383280" y="4160520"/>
            <a:ext cx="2606040" cy="1234440"/>
          </a:xfrm>
          <a:prstGeom prst="roundRect">
            <a:avLst>
              <a:gd name="adj" fmla="val 8889"/>
            </a:avLst>
          </a:prstGeom>
          <a:solidFill>
            <a:schemeClr val="tx2"/>
          </a:solidFill>
          <a:ln/>
        </p:spPr>
      </p:sp>
      <p:sp>
        <p:nvSpPr>
          <p:cNvPr id="10" name="Summary value 2"/>
          <p:cNvSpPr txBox="1"/>
          <p:nvPr/>
        </p:nvSpPr>
        <p:spPr>
          <a:xfrm>
            <a:off x="3566160" y="4224528"/>
            <a:ext cx="2286000" cy="594360"/>
          </a:xfrm>
          <a:prstGeom prst="rect">
            <a:avLst/>
          </a:prstGeom>
          <a:noFill/>
          <a:ln/>
        </p:spPr>
        <p:txBody>
          <a:bodyPr wrap="square" lIns="0" tIns="0" rIns="0" bIns="0" rtlCol="0" anchor="ctr"/>
          <a:lstStyle/>
          <a:p>
            <a:pPr indent="0" marL="0">
              <a:buNone/>
            </a:pPr>
            <a:r>
              <a:rPr lang="en-US" sz="2800" b="1" dirty="0">
                <a:solidFill>
                  <a:schemeClr val="accent1"/>
                </a:solidFill>
              </a:rPr>
              <a:t>−27%</a:t>
            </a:r>
            <a:endParaRPr lang="en-US" sz="2800" dirty="0"/>
          </a:p>
        </p:txBody>
      </p:sp>
      <p:sp>
        <p:nvSpPr>
          <p:cNvPr id="11" name="Summary label 2"/>
          <p:cNvSpPr txBox="1"/>
          <p:nvPr/>
        </p:nvSpPr>
        <p:spPr>
          <a:xfrm>
            <a:off x="3566160" y="4818888"/>
            <a:ext cx="2286000" cy="411480"/>
          </a:xfrm>
          <a:prstGeom prst="rect">
            <a:avLst/>
          </a:prstGeom>
          <a:noFill/>
          <a:ln/>
        </p:spPr>
        <p:txBody>
          <a:bodyPr wrap="square" lIns="0" tIns="0" rIns="0" bIns="0" rtlCol="0" anchor="ctr"/>
          <a:lstStyle/>
          <a:p>
            <a:pPr indent="0" marL="0">
              <a:buNone/>
            </a:pPr>
            <a:r>
              <a:rPr lang="en-US" sz="1400" dirty="0">
                <a:solidFill>
                  <a:schemeClr val="bg2"/>
                </a:solidFill>
              </a:rPr>
              <a:t>modelled risk</a:t>
            </a:r>
            <a:endParaRPr lang="en-US" sz="1400" dirty="0"/>
          </a:p>
        </p:txBody>
      </p:sp>
      <p:sp>
        <p:nvSpPr>
          <p:cNvPr id="12" name="Summary card 3"/>
          <p:cNvSpPr/>
          <p:nvPr/>
        </p:nvSpPr>
        <p:spPr>
          <a:xfrm>
            <a:off x="6217920" y="4160520"/>
            <a:ext cx="2606040" cy="1234440"/>
          </a:xfrm>
          <a:prstGeom prst="roundRect">
            <a:avLst>
              <a:gd name="adj" fmla="val 8889"/>
            </a:avLst>
          </a:prstGeom>
          <a:solidFill>
            <a:schemeClr val="tx2"/>
          </a:solidFill>
          <a:ln/>
        </p:spPr>
      </p:sp>
      <p:sp>
        <p:nvSpPr>
          <p:cNvPr id="13" name="Summary value 3"/>
          <p:cNvSpPr txBox="1"/>
          <p:nvPr/>
        </p:nvSpPr>
        <p:spPr>
          <a:xfrm>
            <a:off x="6400800" y="4224528"/>
            <a:ext cx="2286000" cy="594360"/>
          </a:xfrm>
          <a:prstGeom prst="rect">
            <a:avLst/>
          </a:prstGeom>
          <a:noFill/>
          <a:ln/>
        </p:spPr>
        <p:txBody>
          <a:bodyPr wrap="square" lIns="0" tIns="0" rIns="0" bIns="0" rtlCol="0" anchor="ctr"/>
          <a:lstStyle/>
          <a:p>
            <a:pPr indent="0" marL="0">
              <a:buNone/>
            </a:pPr>
            <a:r>
              <a:rPr lang="en-US" sz="2800" b="1" dirty="0">
                <a:solidFill>
                  <a:schemeClr val="accent1"/>
                </a:solidFill>
              </a:rPr>
              <a:t>+3.5 min</a:t>
            </a:r>
            <a:endParaRPr lang="en-US" sz="2800" dirty="0"/>
          </a:p>
        </p:txBody>
      </p:sp>
      <p:sp>
        <p:nvSpPr>
          <p:cNvPr id="14" name="Summary label 3"/>
          <p:cNvSpPr txBox="1"/>
          <p:nvPr/>
        </p:nvSpPr>
        <p:spPr>
          <a:xfrm>
            <a:off x="6400800" y="4818888"/>
            <a:ext cx="2286000" cy="411480"/>
          </a:xfrm>
          <a:prstGeom prst="rect">
            <a:avLst/>
          </a:prstGeom>
          <a:noFill/>
          <a:ln/>
        </p:spPr>
        <p:txBody>
          <a:bodyPr wrap="square" lIns="0" tIns="0" rIns="0" bIns="0" rtlCol="0" anchor="ctr"/>
          <a:lstStyle/>
          <a:p>
            <a:pPr indent="0" marL="0">
              <a:buNone/>
            </a:pPr>
            <a:r>
              <a:rPr lang="en-US" sz="1400" dirty="0">
                <a:solidFill>
                  <a:schemeClr val="bg2"/>
                </a:solidFill>
              </a:rPr>
              <a:t>average cost</a:t>
            </a:r>
            <a:endParaRPr lang="en-US" sz="1400" dirty="0"/>
          </a:p>
        </p:txBody>
      </p:sp>
      <p:sp>
        <p:nvSpPr>
          <p:cNvPr id="15" name="Summary card 4"/>
          <p:cNvSpPr/>
          <p:nvPr/>
        </p:nvSpPr>
        <p:spPr>
          <a:xfrm>
            <a:off x="9052560" y="4160520"/>
            <a:ext cx="2606040" cy="1234440"/>
          </a:xfrm>
          <a:prstGeom prst="roundRect">
            <a:avLst>
              <a:gd name="adj" fmla="val 8889"/>
            </a:avLst>
          </a:prstGeom>
          <a:solidFill>
            <a:schemeClr val="tx2"/>
          </a:solidFill>
          <a:ln/>
        </p:spPr>
      </p:sp>
      <p:sp>
        <p:nvSpPr>
          <p:cNvPr id="16" name="Summary value 4"/>
          <p:cNvSpPr txBox="1"/>
          <p:nvPr/>
        </p:nvSpPr>
        <p:spPr>
          <a:xfrm>
            <a:off x="9235440" y="4224528"/>
            <a:ext cx="2286000" cy="594360"/>
          </a:xfrm>
          <a:prstGeom prst="rect">
            <a:avLst/>
          </a:prstGeom>
          <a:noFill/>
          <a:ln/>
        </p:spPr>
        <p:txBody>
          <a:bodyPr wrap="square" lIns="0" tIns="0" rIns="0" bIns="0" rtlCol="0" anchor="ctr"/>
          <a:lstStyle/>
          <a:p>
            <a:pPr indent="0" marL="0">
              <a:buNone/>
            </a:pPr>
            <a:r>
              <a:rPr lang="en-US" sz="2800" b="1" dirty="0">
                <a:solidFill>
                  <a:schemeClr val="accent1"/>
                </a:solidFill>
              </a:rPr>
              <a:t>22</a:t>
            </a:r>
            <a:endParaRPr lang="en-US" sz="2800" dirty="0"/>
          </a:p>
        </p:txBody>
      </p:sp>
      <p:sp>
        <p:nvSpPr>
          <p:cNvPr id="17" name="Summary label 4"/>
          <p:cNvSpPr txBox="1"/>
          <p:nvPr/>
        </p:nvSpPr>
        <p:spPr>
          <a:xfrm>
            <a:off x="9235440" y="4818888"/>
            <a:ext cx="2286000" cy="411480"/>
          </a:xfrm>
          <a:prstGeom prst="rect">
            <a:avLst/>
          </a:prstGeom>
          <a:noFill/>
          <a:ln/>
        </p:spPr>
        <p:txBody>
          <a:bodyPr wrap="square" lIns="0" tIns="0" rIns="0" bIns="0" rtlCol="0" anchor="ctr"/>
          <a:lstStyle/>
          <a:p>
            <a:pPr indent="0" marL="0">
              <a:buNone/>
            </a:pPr>
            <a:r>
              <a:rPr lang="en-US" sz="1400" dirty="0">
                <a:solidFill>
                  <a:schemeClr val="bg2"/>
                </a:solidFill>
              </a:rPr>
              <a:t>blackspots mapped</a:t>
            </a:r>
            <a:endParaRPr lang="en-US" sz="1400" dirty="0"/>
          </a:p>
        </p:txBody>
      </p:sp>
      <p:sp>
        <p:nvSpPr>
          <p:cNvPr id="18" name="Team footer"/>
          <p:cNvSpPr txBox="1"/>
          <p:nvPr/>
        </p:nvSpPr>
        <p:spPr>
          <a:xfrm>
            <a:off x="548640" y="5806440"/>
            <a:ext cx="11064240" cy="365760"/>
          </a:xfrm>
          <a:prstGeom prst="rect">
            <a:avLst/>
          </a:prstGeom>
          <a:noFill/>
          <a:ln/>
        </p:spPr>
        <p:txBody>
          <a:bodyPr wrap="square" lIns="0" tIns="0" rIns="0" bIns="0" rtlCol="0" anchor="ctr"/>
          <a:lstStyle/>
          <a:p>
            <a:pPr indent="0" marL="0">
              <a:buNone/>
            </a:pPr>
            <a:r>
              <a:rPr lang="en-US" sz="1300" dirty="0">
                <a:solidFill>
                  <a:schemeClr val="bg2"/>
                </a:solidFill>
              </a:rPr>
              <a:t>Chinta Lakshya  ·  Arnav Balodi  ·  Damerla Akshara  ·  Veer Kishan Whabi</a:t>
            </a:r>
            <a:endParaRPr lang="en-US" sz="1300" dirty="0"/>
          </a:p>
        </p:txBody>
      </p:sp>
      <p:pic>
        <p:nvPicPr>
          <p:cNvPr id="19" name="Shield mark" descr="preencoded.png">    </p:cNvPr>
          <p:cNvPicPr>
            <a:picLocks noChangeAspect="1"/>
          </p:cNvPicPr>
          <p:nvPr/>
        </p:nvPicPr>
        <p:blipFill>
          <a:blip r:embed="rId2">
            <a:alphaModFix amt="30000"/>
          </a:blip>
          <a:stretch>
            <a:fillRect/>
          </a:stretch>
        </p:blipFill>
        <p:spPr>
          <a:xfrm>
            <a:off x="8595360" y="822960"/>
            <a:ext cx="2377440" cy="2377440"/>
          </a:xfrm>
          <a:prstGeom prst="rect">
            <a:avLst/>
          </a:prstGeom>
        </p:spPr>
      </p:pic>
    </p:spTree>
  </p:cSld>
  <p:clrMapOvr>
    <a:masterClrMapping/>
  </p:clrMapOvr>
</p:sld>
</file>

<file path=ppt/theme/theme1.xml><?xml version="1.0" encoding="utf-8"?>
<a:theme xmlns:a="http://schemas.openxmlformats.org/drawingml/2006/main" name="SafeRoute Night">
  <a:themeElements>
    <a:clrScheme name="SafeRoute Night">
      <a:dk1>
        <a:srgbClr val="0E1627"/>
      </a:dk1>
      <a:lt1>
        <a:srgbClr val="FFFFFF"/>
      </a:lt1>
      <a:dk2>
        <a:srgbClr val="1B2539"/>
      </a:dk2>
      <a:lt2>
        <a:srgbClr val="CBD5E1"/>
      </a:lt2>
      <a:accent1>
        <a:srgbClr val="22B8D6"/>
      </a:accent1>
      <a:accent2>
        <a:srgbClr val="3987E5"/>
      </a:accent2>
      <a:accent3>
        <a:srgbClr val="1BAF7A"/>
      </a:accent3>
      <a:accent4>
        <a:srgbClr val="EB6834"/>
      </a:accent4>
      <a:accent5>
        <a:srgbClr val="F5B024"/>
      </a:accent5>
      <a:accent6>
        <a:srgbClr val="E5484D"/>
      </a:accent6>
      <a:hlink>
        <a:srgbClr val="22B8D6"/>
      </a:hlink>
      <a:folHlink>
        <a:srgbClr val="94A3B8"/>
      </a:folHlink>
    </a:clrScheme>
    <a:fontScheme name="SafeRoute N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SafeRoute Gujarat</dc:title>
  <dc:subject>Safety-oriented route optimisation</dc:subject>
  <dc:creator>Chinta Lakshya, Arnav Balodi, Damerla Akshara, Veer Kishan Whabi</dc:creator>
  <cp:lastModifiedBy>Chinta Lakshya, Arnav Balodi, Damerla Akshara, Veer Kishan Whabi</cp:lastModifiedBy>
  <cp:revision>1</cp:revision>
  <dcterms:created xsi:type="dcterms:W3CDTF">2026-10-13T18:06:54Z</dcterms:created>
  <dcterms:modified xsi:type="dcterms:W3CDTF">2026-10-13T18:06:54Z</dcterms:modified>
</cp:coreProperties>
</file>